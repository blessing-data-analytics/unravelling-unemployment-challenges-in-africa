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7.xml" ContentType="application/vnd.openxmlformats-officedocument.presentationml.notesSlide+xml"/>
  <Override PartName="/ppt/charts/chart4.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8.xml" ContentType="application/vnd.openxmlformats-officedocument.presentationml.notesSlide+xml"/>
  <Override PartName="/ppt/charts/chart5.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9.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66" r:id="rId3"/>
    <p:sldId id="258" r:id="rId4"/>
    <p:sldId id="259" r:id="rId5"/>
    <p:sldId id="260" r:id="rId6"/>
    <p:sldId id="261" r:id="rId7"/>
    <p:sldId id="268" r:id="rId8"/>
    <p:sldId id="267" r:id="rId9"/>
    <p:sldId id="262" r:id="rId10"/>
    <p:sldId id="269" r:id="rId11"/>
    <p:sldId id="270" r:id="rId12"/>
    <p:sldId id="263" r:id="rId13"/>
    <p:sldId id="264" r:id="rId14"/>
    <p:sldId id="265"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366E"/>
    <a:srgbClr val="B52B2B"/>
    <a:srgbClr val="1A7A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4" autoAdjust="0"/>
    <p:restoredTop sz="94610"/>
  </p:normalViewPr>
  <p:slideViewPr>
    <p:cSldViewPr snapToGrid="0" snapToObjects="1">
      <p:cViewPr varScale="1">
        <p:scale>
          <a:sx n="80" d="100"/>
          <a:sy n="80" d="100"/>
        </p:scale>
        <p:origin x="691"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lessing Chiagorom" userId="b4defd9bc5d4e5d3" providerId="LiveId" clId="{68AB29D3-6E99-4357-BE11-1569ABADDA98}"/>
    <pc:docChg chg="undo redo custSel addSld delSld modSld sldOrd">
      <pc:chgData name="Blessing Chiagorom" userId="b4defd9bc5d4e5d3" providerId="LiveId" clId="{68AB29D3-6E99-4357-BE11-1569ABADDA98}" dt="2026-08-30T06:32:18.162" v="2302" actId="478"/>
      <pc:docMkLst>
        <pc:docMk/>
      </pc:docMkLst>
      <pc:sldChg chg="modSp mod setBg">
        <pc:chgData name="Blessing Chiagorom" userId="b4defd9bc5d4e5d3" providerId="LiveId" clId="{68AB29D3-6E99-4357-BE11-1569ABADDA98}" dt="2026-08-30T06:11:50.008" v="2077" actId="20577"/>
        <pc:sldMkLst>
          <pc:docMk/>
          <pc:sldMk cId="0" sldId="256"/>
        </pc:sldMkLst>
        <pc:spChg chg="mod">
          <ac:chgData name="Blessing Chiagorom" userId="b4defd9bc5d4e5d3" providerId="LiveId" clId="{68AB29D3-6E99-4357-BE11-1569ABADDA98}" dt="2026-08-28T11:13:51.697" v="761" actId="403"/>
          <ac:spMkLst>
            <pc:docMk/>
            <pc:sldMk cId="0" sldId="256"/>
            <ac:spMk id="5" creationId="{00000000-0000-0000-0000-000000000000}"/>
          </ac:spMkLst>
        </pc:spChg>
        <pc:spChg chg="mod">
          <ac:chgData name="Blessing Chiagorom" userId="b4defd9bc5d4e5d3" providerId="LiveId" clId="{68AB29D3-6E99-4357-BE11-1569ABADDA98}" dt="2026-08-28T11:12:59.063" v="751" actId="207"/>
          <ac:spMkLst>
            <pc:docMk/>
            <pc:sldMk cId="0" sldId="256"/>
            <ac:spMk id="6" creationId="{00000000-0000-0000-0000-000000000000}"/>
          </ac:spMkLst>
        </pc:spChg>
        <pc:spChg chg="mod">
          <ac:chgData name="Blessing Chiagorom" userId="b4defd9bc5d4e5d3" providerId="LiveId" clId="{68AB29D3-6E99-4357-BE11-1569ABADDA98}" dt="2026-08-30T06:11:50.008" v="2077" actId="20577"/>
          <ac:spMkLst>
            <pc:docMk/>
            <pc:sldMk cId="0" sldId="256"/>
            <ac:spMk id="7" creationId="{00000000-0000-0000-0000-000000000000}"/>
          </ac:spMkLst>
        </pc:spChg>
        <pc:spChg chg="mod">
          <ac:chgData name="Blessing Chiagorom" userId="b4defd9bc5d4e5d3" providerId="LiveId" clId="{68AB29D3-6E99-4357-BE11-1569ABADDA98}" dt="2026-08-28T11:13:20.746" v="754" actId="207"/>
          <ac:spMkLst>
            <pc:docMk/>
            <pc:sldMk cId="0" sldId="256"/>
            <ac:spMk id="8" creationId="{00000000-0000-0000-0000-000000000000}"/>
          </ac:spMkLst>
        </pc:spChg>
        <pc:spChg chg="mod">
          <ac:chgData name="Blessing Chiagorom" userId="b4defd9bc5d4e5d3" providerId="LiveId" clId="{68AB29D3-6E99-4357-BE11-1569ABADDA98}" dt="2026-08-28T11:13:39.948" v="758" actId="113"/>
          <ac:spMkLst>
            <pc:docMk/>
            <pc:sldMk cId="0" sldId="256"/>
            <ac:spMk id="9" creationId="{00000000-0000-0000-0000-000000000000}"/>
          </ac:spMkLst>
        </pc:spChg>
      </pc:sldChg>
      <pc:sldChg chg="delSp modSp del mod">
        <pc:chgData name="Blessing Chiagorom" userId="b4defd9bc5d4e5d3" providerId="LiveId" clId="{68AB29D3-6E99-4357-BE11-1569ABADDA98}" dt="2026-08-28T06:31:15.474" v="578" actId="47"/>
        <pc:sldMkLst>
          <pc:docMk/>
          <pc:sldMk cId="0" sldId="257"/>
        </pc:sldMkLst>
        <pc:spChg chg="del mod">
          <ac:chgData name="Blessing Chiagorom" userId="b4defd9bc5d4e5d3" providerId="LiveId" clId="{68AB29D3-6E99-4357-BE11-1569ABADDA98}" dt="2026-08-27T11:24:18.318" v="64" actId="21"/>
          <ac:spMkLst>
            <pc:docMk/>
            <pc:sldMk cId="0" sldId="257"/>
            <ac:spMk id="3" creationId="{00000000-0000-0000-0000-000000000000}"/>
          </ac:spMkLst>
        </pc:spChg>
        <pc:spChg chg="del">
          <ac:chgData name="Blessing Chiagorom" userId="b4defd9bc5d4e5d3" providerId="LiveId" clId="{68AB29D3-6E99-4357-BE11-1569ABADDA98}" dt="2026-08-27T12:05:07.376" v="125" actId="21"/>
          <ac:spMkLst>
            <pc:docMk/>
            <pc:sldMk cId="0" sldId="257"/>
            <ac:spMk id="33" creationId="{00000000-0000-0000-0000-000000000000}"/>
          </ac:spMkLst>
        </pc:spChg>
      </pc:sldChg>
      <pc:sldChg chg="delSp modSp mod setBg">
        <pc:chgData name="Blessing Chiagorom" userId="b4defd9bc5d4e5d3" providerId="LiveId" clId="{68AB29D3-6E99-4357-BE11-1569ABADDA98}" dt="2026-08-29T10:16:42.379" v="806" actId="478"/>
        <pc:sldMkLst>
          <pc:docMk/>
          <pc:sldMk cId="0" sldId="258"/>
        </pc:sldMkLst>
        <pc:spChg chg="mod">
          <ac:chgData name="Blessing Chiagorom" userId="b4defd9bc5d4e5d3" providerId="LiveId" clId="{68AB29D3-6E99-4357-BE11-1569ABADDA98}" dt="2026-08-28T11:17:31.493" v="790" actId="404"/>
          <ac:spMkLst>
            <pc:docMk/>
            <pc:sldMk cId="0" sldId="258"/>
            <ac:spMk id="2" creationId="{00000000-0000-0000-0000-000000000000}"/>
          </ac:spMkLst>
        </pc:spChg>
        <pc:spChg chg="del">
          <ac:chgData name="Blessing Chiagorom" userId="b4defd9bc5d4e5d3" providerId="LiveId" clId="{68AB29D3-6E99-4357-BE11-1569ABADDA98}" dt="2026-08-29T10:16:35.436" v="805" actId="478"/>
          <ac:spMkLst>
            <pc:docMk/>
            <pc:sldMk cId="0" sldId="258"/>
            <ac:spMk id="50" creationId="{00000000-0000-0000-0000-000000000000}"/>
          </ac:spMkLst>
        </pc:spChg>
        <pc:spChg chg="del">
          <ac:chgData name="Blessing Chiagorom" userId="b4defd9bc5d4e5d3" providerId="LiveId" clId="{68AB29D3-6E99-4357-BE11-1569ABADDA98}" dt="2026-08-29T10:16:42.379" v="806" actId="478"/>
          <ac:spMkLst>
            <pc:docMk/>
            <pc:sldMk cId="0" sldId="258"/>
            <ac:spMk id="51" creationId="{00000000-0000-0000-0000-000000000000}"/>
          </ac:spMkLst>
        </pc:spChg>
      </pc:sldChg>
      <pc:sldChg chg="delSp modSp mod setBg">
        <pc:chgData name="Blessing Chiagorom" userId="b4defd9bc5d4e5d3" providerId="LiveId" clId="{68AB29D3-6E99-4357-BE11-1569ABADDA98}" dt="2026-08-29T10:17:04.816" v="808" actId="478"/>
        <pc:sldMkLst>
          <pc:docMk/>
          <pc:sldMk cId="0" sldId="259"/>
        </pc:sldMkLst>
        <pc:spChg chg="mod">
          <ac:chgData name="Blessing Chiagorom" userId="b4defd9bc5d4e5d3" providerId="LiveId" clId="{68AB29D3-6E99-4357-BE11-1569ABADDA98}" dt="2026-08-28T11:17:14.297" v="781" actId="404"/>
          <ac:spMkLst>
            <pc:docMk/>
            <pc:sldMk cId="0" sldId="259"/>
            <ac:spMk id="2" creationId="{00000000-0000-0000-0000-000000000000}"/>
          </ac:spMkLst>
        </pc:spChg>
        <pc:spChg chg="mod">
          <ac:chgData name="Blessing Chiagorom" userId="b4defd9bc5d4e5d3" providerId="LiveId" clId="{68AB29D3-6E99-4357-BE11-1569ABADDA98}" dt="2026-08-27T12:21:01.035" v="180" actId="20577"/>
          <ac:spMkLst>
            <pc:docMk/>
            <pc:sldMk cId="0" sldId="259"/>
            <ac:spMk id="13" creationId="{00000000-0000-0000-0000-000000000000}"/>
          </ac:spMkLst>
        </pc:spChg>
        <pc:spChg chg="mod">
          <ac:chgData name="Blessing Chiagorom" userId="b4defd9bc5d4e5d3" providerId="LiveId" clId="{68AB29D3-6E99-4357-BE11-1569ABADDA98}" dt="2026-08-27T12:23:23.313" v="184" actId="20577"/>
          <ac:spMkLst>
            <pc:docMk/>
            <pc:sldMk cId="0" sldId="259"/>
            <ac:spMk id="23" creationId="{00000000-0000-0000-0000-000000000000}"/>
          </ac:spMkLst>
        </pc:spChg>
        <pc:spChg chg="mod">
          <ac:chgData name="Blessing Chiagorom" userId="b4defd9bc5d4e5d3" providerId="LiveId" clId="{68AB29D3-6E99-4357-BE11-1569ABADDA98}" dt="2026-08-27T12:24:16.880" v="193" actId="20577"/>
          <ac:spMkLst>
            <pc:docMk/>
            <pc:sldMk cId="0" sldId="259"/>
            <ac:spMk id="28" creationId="{00000000-0000-0000-0000-000000000000}"/>
          </ac:spMkLst>
        </pc:spChg>
        <pc:spChg chg="del">
          <ac:chgData name="Blessing Chiagorom" userId="b4defd9bc5d4e5d3" providerId="LiveId" clId="{68AB29D3-6E99-4357-BE11-1569ABADDA98}" dt="2026-08-29T10:17:04.816" v="808" actId="478"/>
          <ac:spMkLst>
            <pc:docMk/>
            <pc:sldMk cId="0" sldId="259"/>
            <ac:spMk id="35" creationId="{00000000-0000-0000-0000-000000000000}"/>
          </ac:spMkLst>
        </pc:spChg>
      </pc:sldChg>
      <pc:sldChg chg="delSp modSp mod">
        <pc:chgData name="Blessing Chiagorom" userId="b4defd9bc5d4e5d3" providerId="LiveId" clId="{68AB29D3-6E99-4357-BE11-1569ABADDA98}" dt="2026-08-30T05:10:29.844" v="1454" actId="20577"/>
        <pc:sldMkLst>
          <pc:docMk/>
          <pc:sldMk cId="0" sldId="260"/>
        </pc:sldMkLst>
        <pc:spChg chg="mod">
          <ac:chgData name="Blessing Chiagorom" userId="b4defd9bc5d4e5d3" providerId="LiveId" clId="{68AB29D3-6E99-4357-BE11-1569ABADDA98}" dt="2026-08-27T12:25:45.713" v="289" actId="20577"/>
          <ac:spMkLst>
            <pc:docMk/>
            <pc:sldMk cId="0" sldId="260"/>
            <ac:spMk id="2" creationId="{00000000-0000-0000-0000-000000000000}"/>
          </ac:spMkLst>
        </pc:spChg>
        <pc:spChg chg="mod">
          <ac:chgData name="Blessing Chiagorom" userId="b4defd9bc5d4e5d3" providerId="LiveId" clId="{68AB29D3-6E99-4357-BE11-1569ABADDA98}" dt="2026-08-27T12:25:02.815" v="247" actId="207"/>
          <ac:spMkLst>
            <pc:docMk/>
            <pc:sldMk cId="0" sldId="260"/>
            <ac:spMk id="3" creationId="{00000000-0000-0000-0000-000000000000}"/>
          </ac:spMkLst>
        </pc:spChg>
        <pc:spChg chg="mod">
          <ac:chgData name="Blessing Chiagorom" userId="b4defd9bc5d4e5d3" providerId="LiveId" clId="{68AB29D3-6E99-4357-BE11-1569ABADDA98}" dt="2026-08-30T05:06:20.287" v="1446" actId="20577"/>
          <ac:spMkLst>
            <pc:docMk/>
            <pc:sldMk cId="0" sldId="260"/>
            <ac:spMk id="7" creationId="{00000000-0000-0000-0000-000000000000}"/>
          </ac:spMkLst>
        </pc:spChg>
        <pc:spChg chg="mod">
          <ac:chgData name="Blessing Chiagorom" userId="b4defd9bc5d4e5d3" providerId="LiveId" clId="{68AB29D3-6E99-4357-BE11-1569ABADDA98}" dt="2026-08-30T05:10:29.844" v="1454" actId="20577"/>
          <ac:spMkLst>
            <pc:docMk/>
            <pc:sldMk cId="0" sldId="260"/>
            <ac:spMk id="10" creationId="{00000000-0000-0000-0000-000000000000}"/>
          </ac:spMkLst>
        </pc:spChg>
        <pc:spChg chg="mod">
          <ac:chgData name="Blessing Chiagorom" userId="b4defd9bc5d4e5d3" providerId="LiveId" clId="{68AB29D3-6E99-4357-BE11-1569ABADDA98}" dt="2026-08-30T05:06:14.848" v="1444" actId="20577"/>
          <ac:spMkLst>
            <pc:docMk/>
            <pc:sldMk cId="0" sldId="260"/>
            <ac:spMk id="13" creationId="{00000000-0000-0000-0000-000000000000}"/>
          </ac:spMkLst>
        </pc:spChg>
        <pc:spChg chg="del">
          <ac:chgData name="Blessing Chiagorom" userId="b4defd9bc5d4e5d3" providerId="LiveId" clId="{68AB29D3-6E99-4357-BE11-1569ABADDA98}" dt="2026-08-29T10:17:17.054" v="809" actId="478"/>
          <ac:spMkLst>
            <pc:docMk/>
            <pc:sldMk cId="0" sldId="260"/>
            <ac:spMk id="14" creationId="{00000000-0000-0000-0000-000000000000}"/>
          </ac:spMkLst>
        </pc:spChg>
        <pc:spChg chg="del">
          <ac:chgData name="Blessing Chiagorom" userId="b4defd9bc5d4e5d3" providerId="LiveId" clId="{68AB29D3-6E99-4357-BE11-1569ABADDA98}" dt="2026-08-29T10:17:25.015" v="810" actId="478"/>
          <ac:spMkLst>
            <pc:docMk/>
            <pc:sldMk cId="0" sldId="260"/>
            <ac:spMk id="15" creationId="{00000000-0000-0000-0000-000000000000}"/>
          </ac:spMkLst>
        </pc:spChg>
        <pc:graphicFrameChg chg="mod">
          <ac:chgData name="Blessing Chiagorom" userId="b4defd9bc5d4e5d3" providerId="LiveId" clId="{68AB29D3-6E99-4357-BE11-1569ABADDA98}" dt="2026-08-27T12:31:26.385" v="360" actId="20577"/>
          <ac:graphicFrameMkLst>
            <pc:docMk/>
            <pc:sldMk cId="0" sldId="260"/>
            <ac:graphicFrameMk id="4" creationId="{00000000-0000-0000-0000-000000000000}"/>
          </ac:graphicFrameMkLst>
        </pc:graphicFrameChg>
      </pc:sldChg>
      <pc:sldChg chg="addSp delSp modSp mod setBg">
        <pc:chgData name="Blessing Chiagorom" userId="b4defd9bc5d4e5d3" providerId="LiveId" clId="{68AB29D3-6E99-4357-BE11-1569ABADDA98}" dt="2026-08-30T01:35:42.079" v="1227" actId="113"/>
        <pc:sldMkLst>
          <pc:docMk/>
          <pc:sldMk cId="0" sldId="261"/>
        </pc:sldMkLst>
        <pc:spChg chg="mod">
          <ac:chgData name="Blessing Chiagorom" userId="b4defd9bc5d4e5d3" providerId="LiveId" clId="{68AB29D3-6E99-4357-BE11-1569ABADDA98}" dt="2026-08-27T12:34:08.195" v="366" actId="404"/>
          <ac:spMkLst>
            <pc:docMk/>
            <pc:sldMk cId="0" sldId="261"/>
            <ac:spMk id="2" creationId="{00000000-0000-0000-0000-000000000000}"/>
          </ac:spMkLst>
        </pc:spChg>
        <pc:spChg chg="mod">
          <ac:chgData name="Blessing Chiagorom" userId="b4defd9bc5d4e5d3" providerId="LiveId" clId="{68AB29D3-6E99-4357-BE11-1569ABADDA98}" dt="2026-08-27T12:34:15.151" v="367" actId="207"/>
          <ac:spMkLst>
            <pc:docMk/>
            <pc:sldMk cId="0" sldId="261"/>
            <ac:spMk id="3" creationId="{00000000-0000-0000-0000-000000000000}"/>
          </ac:spMkLst>
        </pc:spChg>
        <pc:spChg chg="del">
          <ac:chgData name="Blessing Chiagorom" userId="b4defd9bc5d4e5d3" providerId="LiveId" clId="{68AB29D3-6E99-4357-BE11-1569ABADDA98}" dt="2026-08-30T01:31:01.519" v="1205" actId="21"/>
          <ac:spMkLst>
            <pc:docMk/>
            <pc:sldMk cId="0" sldId="261"/>
            <ac:spMk id="6" creationId="{00000000-0000-0000-0000-000000000000}"/>
          </ac:spMkLst>
        </pc:spChg>
        <pc:spChg chg="del">
          <ac:chgData name="Blessing Chiagorom" userId="b4defd9bc5d4e5d3" providerId="LiveId" clId="{68AB29D3-6E99-4357-BE11-1569ABADDA98}" dt="2026-08-30T01:31:53.931" v="1209" actId="21"/>
          <ac:spMkLst>
            <pc:docMk/>
            <pc:sldMk cId="0" sldId="261"/>
            <ac:spMk id="7" creationId="{00000000-0000-0000-0000-000000000000}"/>
          </ac:spMkLst>
        </pc:spChg>
        <pc:spChg chg="del">
          <ac:chgData name="Blessing Chiagorom" userId="b4defd9bc5d4e5d3" providerId="LiveId" clId="{68AB29D3-6E99-4357-BE11-1569ABADDA98}" dt="2026-08-30T01:31:23.622" v="1207" actId="21"/>
          <ac:spMkLst>
            <pc:docMk/>
            <pc:sldMk cId="0" sldId="261"/>
            <ac:spMk id="8" creationId="{00000000-0000-0000-0000-000000000000}"/>
          </ac:spMkLst>
        </pc:spChg>
        <pc:spChg chg="del">
          <ac:chgData name="Blessing Chiagorom" userId="b4defd9bc5d4e5d3" providerId="LiveId" clId="{68AB29D3-6E99-4357-BE11-1569ABADDA98}" dt="2026-08-30T01:32:26.699" v="1214" actId="21"/>
          <ac:spMkLst>
            <pc:docMk/>
            <pc:sldMk cId="0" sldId="261"/>
            <ac:spMk id="9" creationId="{00000000-0000-0000-0000-000000000000}"/>
          </ac:spMkLst>
        </pc:spChg>
        <pc:spChg chg="del">
          <ac:chgData name="Blessing Chiagorom" userId="b4defd9bc5d4e5d3" providerId="LiveId" clId="{68AB29D3-6E99-4357-BE11-1569ABADDA98}" dt="2026-08-29T10:17:37.633" v="811" actId="478"/>
          <ac:spMkLst>
            <pc:docMk/>
            <pc:sldMk cId="0" sldId="261"/>
            <ac:spMk id="10" creationId="{00000000-0000-0000-0000-000000000000}"/>
          </ac:spMkLst>
        </pc:spChg>
        <pc:spChg chg="del">
          <ac:chgData name="Blessing Chiagorom" userId="b4defd9bc5d4e5d3" providerId="LiveId" clId="{68AB29D3-6E99-4357-BE11-1569ABADDA98}" dt="2026-08-29T10:17:44.661" v="812" actId="478"/>
          <ac:spMkLst>
            <pc:docMk/>
            <pc:sldMk cId="0" sldId="261"/>
            <ac:spMk id="11" creationId="{00000000-0000-0000-0000-000000000000}"/>
          </ac:spMkLst>
        </pc:spChg>
        <pc:spChg chg="add del mod">
          <ac:chgData name="Blessing Chiagorom" userId="b4defd9bc5d4e5d3" providerId="LiveId" clId="{68AB29D3-6E99-4357-BE11-1569ABADDA98}" dt="2026-08-30T01:32:25.139" v="1213"/>
          <ac:spMkLst>
            <pc:docMk/>
            <pc:sldMk cId="0" sldId="261"/>
            <ac:spMk id="14" creationId="{B3F3F56F-8716-47B2-8AF7-FC89AA51F7B2}"/>
          </ac:spMkLst>
        </pc:spChg>
        <pc:graphicFrameChg chg="mod">
          <ac:chgData name="Blessing Chiagorom" userId="b4defd9bc5d4e5d3" providerId="LiveId" clId="{68AB29D3-6E99-4357-BE11-1569ABADDA98}" dt="2026-08-30T01:35:42.079" v="1227" actId="113"/>
          <ac:graphicFrameMkLst>
            <pc:docMk/>
            <pc:sldMk cId="0" sldId="261"/>
            <ac:graphicFrameMk id="4" creationId="{00000000-0000-0000-0000-000000000000}"/>
          </ac:graphicFrameMkLst>
        </pc:graphicFrameChg>
        <pc:graphicFrameChg chg="mod">
          <ac:chgData name="Blessing Chiagorom" userId="b4defd9bc5d4e5d3" providerId="LiveId" clId="{68AB29D3-6E99-4357-BE11-1569ABADDA98}" dt="2026-08-30T01:34:32.750" v="1223"/>
          <ac:graphicFrameMkLst>
            <pc:docMk/>
            <pc:sldMk cId="0" sldId="261"/>
            <ac:graphicFrameMk id="5" creationId="{00000000-0000-0000-0000-000000000000}"/>
          </ac:graphicFrameMkLst>
        </pc:graphicFrameChg>
        <pc:graphicFrameChg chg="add del mod">
          <ac:chgData name="Blessing Chiagorom" userId="b4defd9bc5d4e5d3" providerId="LiveId" clId="{68AB29D3-6E99-4357-BE11-1569ABADDA98}" dt="2026-08-28T06:02:53.939" v="432" actId="478"/>
          <ac:graphicFrameMkLst>
            <pc:docMk/>
            <pc:sldMk cId="0" sldId="261"/>
            <ac:graphicFrameMk id="12" creationId="{E91F8251-78CD-453F-89BE-02508714EE64}"/>
          </ac:graphicFrameMkLst>
        </pc:graphicFrameChg>
        <pc:graphicFrameChg chg="add del mod">
          <ac:chgData name="Blessing Chiagorom" userId="b4defd9bc5d4e5d3" providerId="LiveId" clId="{68AB29D3-6E99-4357-BE11-1569ABADDA98}" dt="2026-08-28T06:02:44.167" v="431" actId="478"/>
          <ac:graphicFrameMkLst>
            <pc:docMk/>
            <pc:sldMk cId="0" sldId="261"/>
            <ac:graphicFrameMk id="13" creationId="{05152C57-2374-4949-B64E-38C044CA5BD5}"/>
          </ac:graphicFrameMkLst>
        </pc:graphicFrameChg>
      </pc:sldChg>
      <pc:sldChg chg="delSp modSp mod setBg">
        <pc:chgData name="Blessing Chiagorom" userId="b4defd9bc5d4e5d3" providerId="LiveId" clId="{68AB29D3-6E99-4357-BE11-1569ABADDA98}" dt="2026-08-30T01:28:14.110" v="1199" actId="20577"/>
        <pc:sldMkLst>
          <pc:docMk/>
          <pc:sldMk cId="0" sldId="262"/>
        </pc:sldMkLst>
        <pc:spChg chg="mod">
          <ac:chgData name="Blessing Chiagorom" userId="b4defd9bc5d4e5d3" providerId="LiveId" clId="{68AB29D3-6E99-4357-BE11-1569ABADDA98}" dt="2026-08-30T01:28:04.120" v="1195" actId="20577"/>
          <ac:spMkLst>
            <pc:docMk/>
            <pc:sldMk cId="0" sldId="262"/>
            <ac:spMk id="2" creationId="{00000000-0000-0000-0000-000000000000}"/>
          </ac:spMkLst>
        </pc:spChg>
        <pc:spChg chg="mod">
          <ac:chgData name="Blessing Chiagorom" userId="b4defd9bc5d4e5d3" providerId="LiveId" clId="{68AB29D3-6E99-4357-BE11-1569ABADDA98}" dt="2026-08-28T06:14:21.044" v="544" actId="207"/>
          <ac:spMkLst>
            <pc:docMk/>
            <pc:sldMk cId="0" sldId="262"/>
            <ac:spMk id="3" creationId="{00000000-0000-0000-0000-000000000000}"/>
          </ac:spMkLst>
        </pc:spChg>
        <pc:spChg chg="mod">
          <ac:chgData name="Blessing Chiagorom" userId="b4defd9bc5d4e5d3" providerId="LiveId" clId="{68AB29D3-6E99-4357-BE11-1569ABADDA98}" dt="2026-08-30T01:28:14.110" v="1199" actId="20577"/>
          <ac:spMkLst>
            <pc:docMk/>
            <pc:sldMk cId="0" sldId="262"/>
            <ac:spMk id="4" creationId="{00000000-0000-0000-0000-000000000000}"/>
          </ac:spMkLst>
        </pc:spChg>
        <pc:spChg chg="del">
          <ac:chgData name="Blessing Chiagorom" userId="b4defd9bc5d4e5d3" providerId="LiveId" clId="{68AB29D3-6E99-4357-BE11-1569ABADDA98}" dt="2026-08-29T10:18:27.932" v="817" actId="478"/>
          <ac:spMkLst>
            <pc:docMk/>
            <pc:sldMk cId="0" sldId="262"/>
            <ac:spMk id="15" creationId="{00000000-0000-0000-0000-000000000000}"/>
          </ac:spMkLst>
        </pc:spChg>
        <pc:spChg chg="del">
          <ac:chgData name="Blessing Chiagorom" userId="b4defd9bc5d4e5d3" providerId="LiveId" clId="{68AB29D3-6E99-4357-BE11-1569ABADDA98}" dt="2026-08-29T10:18:32.323" v="818" actId="478"/>
          <ac:spMkLst>
            <pc:docMk/>
            <pc:sldMk cId="0" sldId="262"/>
            <ac:spMk id="16" creationId="{00000000-0000-0000-0000-000000000000}"/>
          </ac:spMkLst>
        </pc:spChg>
        <pc:graphicFrameChg chg="mod">
          <ac:chgData name="Blessing Chiagorom" userId="b4defd9bc5d4e5d3" providerId="LiveId" clId="{68AB29D3-6E99-4357-BE11-1569ABADDA98}" dt="2026-08-30T00:22:35.454" v="1160" actId="207"/>
          <ac:graphicFrameMkLst>
            <pc:docMk/>
            <pc:sldMk cId="0" sldId="262"/>
            <ac:graphicFrameMk id="14" creationId="{00000000-0000-0000-0000-000000000000}"/>
          </ac:graphicFrameMkLst>
        </pc:graphicFrameChg>
      </pc:sldChg>
      <pc:sldChg chg="delSp modSp mod">
        <pc:chgData name="Blessing Chiagorom" userId="b4defd9bc5d4e5d3" providerId="LiveId" clId="{68AB29D3-6E99-4357-BE11-1569ABADDA98}" dt="2026-08-30T02:14:36.881" v="1341" actId="20577"/>
        <pc:sldMkLst>
          <pc:docMk/>
          <pc:sldMk cId="0" sldId="263"/>
        </pc:sldMkLst>
        <pc:spChg chg="mod">
          <ac:chgData name="Blessing Chiagorom" userId="b4defd9bc5d4e5d3" providerId="LiveId" clId="{68AB29D3-6E99-4357-BE11-1569ABADDA98}" dt="2026-08-28T11:12:05.601" v="747" actId="1076"/>
          <ac:spMkLst>
            <pc:docMk/>
            <pc:sldMk cId="0" sldId="263"/>
            <ac:spMk id="2" creationId="{00000000-0000-0000-0000-000000000000}"/>
          </ac:spMkLst>
        </pc:spChg>
        <pc:spChg chg="mod">
          <ac:chgData name="Blessing Chiagorom" userId="b4defd9bc5d4e5d3" providerId="LiveId" clId="{68AB29D3-6E99-4357-BE11-1569ABADDA98}" dt="2026-08-30T00:57:29.525" v="1161" actId="403"/>
          <ac:spMkLst>
            <pc:docMk/>
            <pc:sldMk cId="0" sldId="263"/>
            <ac:spMk id="3" creationId="{00000000-0000-0000-0000-000000000000}"/>
          </ac:spMkLst>
        </pc:spChg>
        <pc:spChg chg="mod">
          <ac:chgData name="Blessing Chiagorom" userId="b4defd9bc5d4e5d3" providerId="LiveId" clId="{68AB29D3-6E99-4357-BE11-1569ABADDA98}" dt="2026-08-28T11:09:31.411" v="722" actId="207"/>
          <ac:spMkLst>
            <pc:docMk/>
            <pc:sldMk cId="0" sldId="263"/>
            <ac:spMk id="4" creationId="{00000000-0000-0000-0000-000000000000}"/>
          </ac:spMkLst>
        </pc:spChg>
        <pc:spChg chg="mod">
          <ac:chgData name="Blessing Chiagorom" userId="b4defd9bc5d4e5d3" providerId="LiveId" clId="{68AB29D3-6E99-4357-BE11-1569ABADDA98}" dt="2026-08-30T00:58:28.792" v="1163" actId="403"/>
          <ac:spMkLst>
            <pc:docMk/>
            <pc:sldMk cId="0" sldId="263"/>
            <ac:spMk id="7" creationId="{00000000-0000-0000-0000-000000000000}"/>
          </ac:spMkLst>
        </pc:spChg>
        <pc:spChg chg="mod">
          <ac:chgData name="Blessing Chiagorom" userId="b4defd9bc5d4e5d3" providerId="LiveId" clId="{68AB29D3-6E99-4357-BE11-1569ABADDA98}" dt="2026-08-28T11:09:59.994" v="725" actId="207"/>
          <ac:spMkLst>
            <pc:docMk/>
            <pc:sldMk cId="0" sldId="263"/>
            <ac:spMk id="8" creationId="{00000000-0000-0000-0000-000000000000}"/>
          </ac:spMkLst>
        </pc:spChg>
        <pc:spChg chg="mod">
          <ac:chgData name="Blessing Chiagorom" userId="b4defd9bc5d4e5d3" providerId="LiveId" clId="{68AB29D3-6E99-4357-BE11-1569ABADDA98}" dt="2026-08-30T02:14:19.879" v="1337" actId="20577"/>
          <ac:spMkLst>
            <pc:docMk/>
            <pc:sldMk cId="0" sldId="263"/>
            <ac:spMk id="11" creationId="{00000000-0000-0000-0000-000000000000}"/>
          </ac:spMkLst>
        </pc:spChg>
        <pc:spChg chg="mod">
          <ac:chgData name="Blessing Chiagorom" userId="b4defd9bc5d4e5d3" providerId="LiveId" clId="{68AB29D3-6E99-4357-BE11-1569ABADDA98}" dt="2026-08-28T11:10:18.858" v="728" actId="207"/>
          <ac:spMkLst>
            <pc:docMk/>
            <pc:sldMk cId="0" sldId="263"/>
            <ac:spMk id="12" creationId="{00000000-0000-0000-0000-000000000000}"/>
          </ac:spMkLst>
        </pc:spChg>
        <pc:spChg chg="mod">
          <ac:chgData name="Blessing Chiagorom" userId="b4defd9bc5d4e5d3" providerId="LiveId" clId="{68AB29D3-6E99-4357-BE11-1569ABADDA98}" dt="2026-08-30T01:24:30.912" v="1170" actId="255"/>
          <ac:spMkLst>
            <pc:docMk/>
            <pc:sldMk cId="0" sldId="263"/>
            <ac:spMk id="15" creationId="{00000000-0000-0000-0000-000000000000}"/>
          </ac:spMkLst>
        </pc:spChg>
        <pc:spChg chg="mod">
          <ac:chgData name="Blessing Chiagorom" userId="b4defd9bc5d4e5d3" providerId="LiveId" clId="{68AB29D3-6E99-4357-BE11-1569ABADDA98}" dt="2026-08-28T11:11:34.923" v="742" actId="207"/>
          <ac:spMkLst>
            <pc:docMk/>
            <pc:sldMk cId="0" sldId="263"/>
            <ac:spMk id="16" creationId="{00000000-0000-0000-0000-000000000000}"/>
          </ac:spMkLst>
        </pc:spChg>
        <pc:spChg chg="mod">
          <ac:chgData name="Blessing Chiagorom" userId="b4defd9bc5d4e5d3" providerId="LiveId" clId="{68AB29D3-6E99-4357-BE11-1569ABADDA98}" dt="2026-08-30T02:14:28.868" v="1339" actId="20577"/>
          <ac:spMkLst>
            <pc:docMk/>
            <pc:sldMk cId="0" sldId="263"/>
            <ac:spMk id="19" creationId="{00000000-0000-0000-0000-000000000000}"/>
          </ac:spMkLst>
        </pc:spChg>
        <pc:spChg chg="mod">
          <ac:chgData name="Blessing Chiagorom" userId="b4defd9bc5d4e5d3" providerId="LiveId" clId="{68AB29D3-6E99-4357-BE11-1569ABADDA98}" dt="2026-08-28T11:11:29.014" v="741" actId="207"/>
          <ac:spMkLst>
            <pc:docMk/>
            <pc:sldMk cId="0" sldId="263"/>
            <ac:spMk id="20" creationId="{00000000-0000-0000-0000-000000000000}"/>
          </ac:spMkLst>
        </pc:spChg>
        <pc:spChg chg="mod">
          <ac:chgData name="Blessing Chiagorom" userId="b4defd9bc5d4e5d3" providerId="LiveId" clId="{68AB29D3-6E99-4357-BE11-1569ABADDA98}" dt="2026-08-30T02:14:36.881" v="1341" actId="20577"/>
          <ac:spMkLst>
            <pc:docMk/>
            <pc:sldMk cId="0" sldId="263"/>
            <ac:spMk id="23" creationId="{00000000-0000-0000-0000-000000000000}"/>
          </ac:spMkLst>
        </pc:spChg>
        <pc:spChg chg="mod">
          <ac:chgData name="Blessing Chiagorom" userId="b4defd9bc5d4e5d3" providerId="LiveId" clId="{68AB29D3-6E99-4357-BE11-1569ABADDA98}" dt="2026-08-28T11:10:54.235" v="735" actId="207"/>
          <ac:spMkLst>
            <pc:docMk/>
            <pc:sldMk cId="0" sldId="263"/>
            <ac:spMk id="24" creationId="{00000000-0000-0000-0000-000000000000}"/>
          </ac:spMkLst>
        </pc:spChg>
        <pc:spChg chg="mod">
          <ac:chgData name="Blessing Chiagorom" userId="b4defd9bc5d4e5d3" providerId="LiveId" clId="{68AB29D3-6E99-4357-BE11-1569ABADDA98}" dt="2026-08-30T01:53:15.051" v="1239" actId="20577"/>
          <ac:spMkLst>
            <pc:docMk/>
            <pc:sldMk cId="0" sldId="263"/>
            <ac:spMk id="27" creationId="{00000000-0000-0000-0000-000000000000}"/>
          </ac:spMkLst>
        </pc:spChg>
        <pc:spChg chg="del">
          <ac:chgData name="Blessing Chiagorom" userId="b4defd9bc5d4e5d3" providerId="LiveId" clId="{68AB29D3-6E99-4357-BE11-1569ABADDA98}" dt="2026-08-28T11:11:53.483" v="745" actId="478"/>
          <ac:spMkLst>
            <pc:docMk/>
            <pc:sldMk cId="0" sldId="263"/>
            <ac:spMk id="28" creationId="{00000000-0000-0000-0000-000000000000}"/>
          </ac:spMkLst>
        </pc:spChg>
        <pc:spChg chg="del">
          <ac:chgData name="Blessing Chiagorom" userId="b4defd9bc5d4e5d3" providerId="LiveId" clId="{68AB29D3-6E99-4357-BE11-1569ABADDA98}" dt="2026-08-28T11:11:57.172" v="746" actId="478"/>
          <ac:spMkLst>
            <pc:docMk/>
            <pc:sldMk cId="0" sldId="263"/>
            <ac:spMk id="29" creationId="{00000000-0000-0000-0000-000000000000}"/>
          </ac:spMkLst>
        </pc:spChg>
      </pc:sldChg>
      <pc:sldChg chg="addSp delSp modSp mod">
        <pc:chgData name="Blessing Chiagorom" userId="b4defd9bc5d4e5d3" providerId="LiveId" clId="{68AB29D3-6E99-4357-BE11-1569ABADDA98}" dt="2026-08-30T04:34:59.617" v="1358" actId="403"/>
        <pc:sldMkLst>
          <pc:docMk/>
          <pc:sldMk cId="0" sldId="264"/>
        </pc:sldMkLst>
        <pc:spChg chg="mod">
          <ac:chgData name="Blessing Chiagorom" userId="b4defd9bc5d4e5d3" providerId="LiveId" clId="{68AB29D3-6E99-4357-BE11-1569ABADDA98}" dt="2026-08-29T20:51:28.567" v="1009" actId="1076"/>
          <ac:spMkLst>
            <pc:docMk/>
            <pc:sldMk cId="0" sldId="264"/>
            <ac:spMk id="2" creationId="{00000000-0000-0000-0000-000000000000}"/>
          </ac:spMkLst>
        </pc:spChg>
        <pc:spChg chg="mod">
          <ac:chgData name="Blessing Chiagorom" userId="b4defd9bc5d4e5d3" providerId="LiveId" clId="{68AB29D3-6E99-4357-BE11-1569ABADDA98}" dt="2026-08-29T20:51:22.433" v="1008" actId="1076"/>
          <ac:spMkLst>
            <pc:docMk/>
            <pc:sldMk cId="0" sldId="264"/>
            <ac:spMk id="3" creationId="{00000000-0000-0000-0000-000000000000}"/>
          </ac:spMkLst>
        </pc:spChg>
        <pc:spChg chg="mod">
          <ac:chgData name="Blessing Chiagorom" userId="b4defd9bc5d4e5d3" providerId="LiveId" clId="{68AB29D3-6E99-4357-BE11-1569ABADDA98}" dt="2026-08-29T20:38:10.528" v="938" actId="1076"/>
          <ac:spMkLst>
            <pc:docMk/>
            <pc:sldMk cId="0" sldId="264"/>
            <ac:spMk id="4" creationId="{00000000-0000-0000-0000-000000000000}"/>
          </ac:spMkLst>
        </pc:spChg>
        <pc:spChg chg="mod">
          <ac:chgData name="Blessing Chiagorom" userId="b4defd9bc5d4e5d3" providerId="LiveId" clId="{68AB29D3-6E99-4357-BE11-1569ABADDA98}" dt="2026-08-30T04:34:32.408" v="1354" actId="403"/>
          <ac:spMkLst>
            <pc:docMk/>
            <pc:sldMk cId="0" sldId="264"/>
            <ac:spMk id="8" creationId="{00000000-0000-0000-0000-000000000000}"/>
          </ac:spMkLst>
        </pc:spChg>
        <pc:spChg chg="mod">
          <ac:chgData name="Blessing Chiagorom" userId="b4defd9bc5d4e5d3" providerId="LiveId" clId="{68AB29D3-6E99-4357-BE11-1569ABADDA98}" dt="2026-08-30T02:14:56.676" v="1343" actId="403"/>
          <ac:spMkLst>
            <pc:docMk/>
            <pc:sldMk cId="0" sldId="264"/>
            <ac:spMk id="9" creationId="{00000000-0000-0000-0000-000000000000}"/>
          </ac:spMkLst>
        </pc:spChg>
        <pc:spChg chg="del">
          <ac:chgData name="Blessing Chiagorom" userId="b4defd9bc5d4e5d3" providerId="LiveId" clId="{68AB29D3-6E99-4357-BE11-1569ABADDA98}" dt="2026-08-29T20:58:43.172" v="1032" actId="478"/>
          <ac:spMkLst>
            <pc:docMk/>
            <pc:sldMk cId="0" sldId="264"/>
            <ac:spMk id="10" creationId="{00000000-0000-0000-0000-000000000000}"/>
          </ac:spMkLst>
        </pc:spChg>
        <pc:spChg chg="del">
          <ac:chgData name="Blessing Chiagorom" userId="b4defd9bc5d4e5d3" providerId="LiveId" clId="{68AB29D3-6E99-4357-BE11-1569ABADDA98}" dt="2026-08-29T20:58:56.781" v="1033" actId="478"/>
          <ac:spMkLst>
            <pc:docMk/>
            <pc:sldMk cId="0" sldId="264"/>
            <ac:spMk id="11" creationId="{00000000-0000-0000-0000-000000000000}"/>
          </ac:spMkLst>
        </pc:spChg>
        <pc:spChg chg="mod">
          <ac:chgData name="Blessing Chiagorom" userId="b4defd9bc5d4e5d3" providerId="LiveId" clId="{68AB29D3-6E99-4357-BE11-1569ABADDA98}" dt="2026-08-29T20:50:37.793" v="1002" actId="20577"/>
          <ac:spMkLst>
            <pc:docMk/>
            <pc:sldMk cId="0" sldId="264"/>
            <ac:spMk id="12" creationId="{00000000-0000-0000-0000-000000000000}"/>
          </ac:spMkLst>
        </pc:spChg>
        <pc:spChg chg="mod">
          <ac:chgData name="Blessing Chiagorom" userId="b4defd9bc5d4e5d3" providerId="LiveId" clId="{68AB29D3-6E99-4357-BE11-1569ABADDA98}" dt="2026-08-29T20:50:27.309" v="1001" actId="20577"/>
          <ac:spMkLst>
            <pc:docMk/>
            <pc:sldMk cId="0" sldId="264"/>
            <ac:spMk id="15" creationId="{00000000-0000-0000-0000-000000000000}"/>
          </ac:spMkLst>
        </pc:spChg>
        <pc:spChg chg="mod">
          <ac:chgData name="Blessing Chiagorom" userId="b4defd9bc5d4e5d3" providerId="LiveId" clId="{68AB29D3-6E99-4357-BE11-1569ABADDA98}" dt="2026-08-30T04:34:39.567" v="1355" actId="403"/>
          <ac:spMkLst>
            <pc:docMk/>
            <pc:sldMk cId="0" sldId="264"/>
            <ac:spMk id="16" creationId="{00000000-0000-0000-0000-000000000000}"/>
          </ac:spMkLst>
        </pc:spChg>
        <pc:spChg chg="mod">
          <ac:chgData name="Blessing Chiagorom" userId="b4defd9bc5d4e5d3" providerId="LiveId" clId="{68AB29D3-6E99-4357-BE11-1569ABADDA98}" dt="2026-08-30T02:15:14.271" v="1346" actId="255"/>
          <ac:spMkLst>
            <pc:docMk/>
            <pc:sldMk cId="0" sldId="264"/>
            <ac:spMk id="17" creationId="{00000000-0000-0000-0000-000000000000}"/>
          </ac:spMkLst>
        </pc:spChg>
        <pc:spChg chg="del">
          <ac:chgData name="Blessing Chiagorom" userId="b4defd9bc5d4e5d3" providerId="LiveId" clId="{68AB29D3-6E99-4357-BE11-1569ABADDA98}" dt="2026-08-29T20:58:20.584" v="1028" actId="478"/>
          <ac:spMkLst>
            <pc:docMk/>
            <pc:sldMk cId="0" sldId="264"/>
            <ac:spMk id="18" creationId="{00000000-0000-0000-0000-000000000000}"/>
          </ac:spMkLst>
        </pc:spChg>
        <pc:spChg chg="del mod">
          <ac:chgData name="Blessing Chiagorom" userId="b4defd9bc5d4e5d3" providerId="LiveId" clId="{68AB29D3-6E99-4357-BE11-1569ABADDA98}" dt="2026-08-29T20:58:27.850" v="1031" actId="478"/>
          <ac:spMkLst>
            <pc:docMk/>
            <pc:sldMk cId="0" sldId="264"/>
            <ac:spMk id="19" creationId="{00000000-0000-0000-0000-000000000000}"/>
          </ac:spMkLst>
        </pc:spChg>
        <pc:spChg chg="mod">
          <ac:chgData name="Blessing Chiagorom" userId="b4defd9bc5d4e5d3" providerId="LiveId" clId="{68AB29D3-6E99-4357-BE11-1569ABADDA98}" dt="2026-08-29T21:01:37.622" v="1148" actId="20577"/>
          <ac:spMkLst>
            <pc:docMk/>
            <pc:sldMk cId="0" sldId="264"/>
            <ac:spMk id="23" creationId="{00000000-0000-0000-0000-000000000000}"/>
          </ac:spMkLst>
        </pc:spChg>
        <pc:spChg chg="mod">
          <ac:chgData name="Blessing Chiagorom" userId="b4defd9bc5d4e5d3" providerId="LiveId" clId="{68AB29D3-6E99-4357-BE11-1569ABADDA98}" dt="2026-08-30T04:34:46.614" v="1356" actId="403"/>
          <ac:spMkLst>
            <pc:docMk/>
            <pc:sldMk cId="0" sldId="264"/>
            <ac:spMk id="24" creationId="{00000000-0000-0000-0000-000000000000}"/>
          </ac:spMkLst>
        </pc:spChg>
        <pc:spChg chg="mod">
          <ac:chgData name="Blessing Chiagorom" userId="b4defd9bc5d4e5d3" providerId="LiveId" clId="{68AB29D3-6E99-4357-BE11-1569ABADDA98}" dt="2026-08-30T02:15:29.228" v="1349" actId="403"/>
          <ac:spMkLst>
            <pc:docMk/>
            <pc:sldMk cId="0" sldId="264"/>
            <ac:spMk id="25" creationId="{00000000-0000-0000-0000-000000000000}"/>
          </ac:spMkLst>
        </pc:spChg>
        <pc:spChg chg="del mod">
          <ac:chgData name="Blessing Chiagorom" userId="b4defd9bc5d4e5d3" providerId="LiveId" clId="{68AB29D3-6E99-4357-BE11-1569ABADDA98}" dt="2026-08-29T20:59:00.080" v="1034" actId="478"/>
          <ac:spMkLst>
            <pc:docMk/>
            <pc:sldMk cId="0" sldId="264"/>
            <ac:spMk id="26" creationId="{00000000-0000-0000-0000-000000000000}"/>
          </ac:spMkLst>
        </pc:spChg>
        <pc:spChg chg="del">
          <ac:chgData name="Blessing Chiagorom" userId="b4defd9bc5d4e5d3" providerId="LiveId" clId="{68AB29D3-6E99-4357-BE11-1569ABADDA98}" dt="2026-08-29T20:59:06.128" v="1035" actId="478"/>
          <ac:spMkLst>
            <pc:docMk/>
            <pc:sldMk cId="0" sldId="264"/>
            <ac:spMk id="27" creationId="{00000000-0000-0000-0000-000000000000}"/>
          </ac:spMkLst>
        </pc:spChg>
        <pc:spChg chg="mod">
          <ac:chgData name="Blessing Chiagorom" userId="b4defd9bc5d4e5d3" providerId="LiveId" clId="{68AB29D3-6E99-4357-BE11-1569ABADDA98}" dt="2026-08-30T04:34:54.079" v="1357" actId="20577"/>
          <ac:spMkLst>
            <pc:docMk/>
            <pc:sldMk cId="0" sldId="264"/>
            <ac:spMk id="28" creationId="{00000000-0000-0000-0000-000000000000}"/>
          </ac:spMkLst>
        </pc:spChg>
        <pc:spChg chg="mod">
          <ac:chgData name="Blessing Chiagorom" userId="b4defd9bc5d4e5d3" providerId="LiveId" clId="{68AB29D3-6E99-4357-BE11-1569ABADDA98}" dt="2026-08-29T21:01:08.423" v="1098" actId="20577"/>
          <ac:spMkLst>
            <pc:docMk/>
            <pc:sldMk cId="0" sldId="264"/>
            <ac:spMk id="31" creationId="{00000000-0000-0000-0000-000000000000}"/>
          </ac:spMkLst>
        </pc:spChg>
        <pc:spChg chg="mod">
          <ac:chgData name="Blessing Chiagorom" userId="b4defd9bc5d4e5d3" providerId="LiveId" clId="{68AB29D3-6E99-4357-BE11-1569ABADDA98}" dt="2026-08-30T04:34:59.617" v="1358" actId="403"/>
          <ac:spMkLst>
            <pc:docMk/>
            <pc:sldMk cId="0" sldId="264"/>
            <ac:spMk id="32" creationId="{00000000-0000-0000-0000-000000000000}"/>
          </ac:spMkLst>
        </pc:spChg>
        <pc:spChg chg="mod">
          <ac:chgData name="Blessing Chiagorom" userId="b4defd9bc5d4e5d3" providerId="LiveId" clId="{68AB29D3-6E99-4357-BE11-1569ABADDA98}" dt="2026-08-30T02:15:41.874" v="1352" actId="2711"/>
          <ac:spMkLst>
            <pc:docMk/>
            <pc:sldMk cId="0" sldId="264"/>
            <ac:spMk id="33" creationId="{00000000-0000-0000-0000-000000000000}"/>
          </ac:spMkLst>
        </pc:spChg>
        <pc:spChg chg="del mod">
          <ac:chgData name="Blessing Chiagorom" userId="b4defd9bc5d4e5d3" providerId="LiveId" clId="{68AB29D3-6E99-4357-BE11-1569ABADDA98}" dt="2026-08-29T20:59:13.128" v="1039" actId="478"/>
          <ac:spMkLst>
            <pc:docMk/>
            <pc:sldMk cId="0" sldId="264"/>
            <ac:spMk id="34" creationId="{00000000-0000-0000-0000-000000000000}"/>
          </ac:spMkLst>
        </pc:spChg>
        <pc:spChg chg="del">
          <ac:chgData name="Blessing Chiagorom" userId="b4defd9bc5d4e5d3" providerId="LiveId" clId="{68AB29D3-6E99-4357-BE11-1569ABADDA98}" dt="2026-08-29T20:59:19.003" v="1040" actId="478"/>
          <ac:spMkLst>
            <pc:docMk/>
            <pc:sldMk cId="0" sldId="264"/>
            <ac:spMk id="35" creationId="{00000000-0000-0000-0000-000000000000}"/>
          </ac:spMkLst>
        </pc:spChg>
        <pc:spChg chg="del mod">
          <ac:chgData name="Blessing Chiagorom" userId="b4defd9bc5d4e5d3" providerId="LiveId" clId="{68AB29D3-6E99-4357-BE11-1569ABADDA98}" dt="2026-08-28T06:34:40.792" v="591" actId="478"/>
          <ac:spMkLst>
            <pc:docMk/>
            <pc:sldMk cId="0" sldId="264"/>
            <ac:spMk id="36" creationId="{00000000-0000-0000-0000-000000000000}"/>
          </ac:spMkLst>
        </pc:spChg>
        <pc:spChg chg="del mod">
          <ac:chgData name="Blessing Chiagorom" userId="b4defd9bc5d4e5d3" providerId="LiveId" clId="{68AB29D3-6E99-4357-BE11-1569ABADDA98}" dt="2026-08-28T06:34:52.360" v="593" actId="478"/>
          <ac:spMkLst>
            <pc:docMk/>
            <pc:sldMk cId="0" sldId="264"/>
            <ac:spMk id="37" creationId="{00000000-0000-0000-0000-000000000000}"/>
          </ac:spMkLst>
        </pc:spChg>
        <pc:spChg chg="add mod">
          <ac:chgData name="Blessing Chiagorom" userId="b4defd9bc5d4e5d3" providerId="LiveId" clId="{68AB29D3-6E99-4357-BE11-1569ABADDA98}" dt="2026-08-29T20:50:52.130" v="1004" actId="1076"/>
          <ac:spMkLst>
            <pc:docMk/>
            <pc:sldMk cId="0" sldId="264"/>
            <ac:spMk id="38" creationId="{BE5A618B-5F0A-4B53-BE4E-E859A4314DFC}"/>
          </ac:spMkLst>
        </pc:spChg>
      </pc:sldChg>
      <pc:sldChg chg="delSp modSp mod setBg">
        <pc:chgData name="Blessing Chiagorom" userId="b4defd9bc5d4e5d3" providerId="LiveId" clId="{68AB29D3-6E99-4357-BE11-1569ABADDA98}" dt="2026-08-30T06:23:03.521" v="2088" actId="207"/>
        <pc:sldMkLst>
          <pc:docMk/>
          <pc:sldMk cId="0" sldId="265"/>
        </pc:sldMkLst>
        <pc:spChg chg="mod">
          <ac:chgData name="Blessing Chiagorom" userId="b4defd9bc5d4e5d3" providerId="LiveId" clId="{68AB29D3-6E99-4357-BE11-1569ABADDA98}" dt="2026-08-28T11:02:40.568" v="678" actId="1076"/>
          <ac:spMkLst>
            <pc:docMk/>
            <pc:sldMk cId="0" sldId="265"/>
            <ac:spMk id="2" creationId="{00000000-0000-0000-0000-000000000000}"/>
          </ac:spMkLst>
        </pc:spChg>
        <pc:spChg chg="del">
          <ac:chgData name="Blessing Chiagorom" userId="b4defd9bc5d4e5d3" providerId="LiveId" clId="{68AB29D3-6E99-4357-BE11-1569ABADDA98}" dt="2026-08-28T11:02:33.876" v="677" actId="478"/>
          <ac:spMkLst>
            <pc:docMk/>
            <pc:sldMk cId="0" sldId="265"/>
            <ac:spMk id="3" creationId="{00000000-0000-0000-0000-000000000000}"/>
          </ac:spMkLst>
        </pc:spChg>
        <pc:spChg chg="mod">
          <ac:chgData name="Blessing Chiagorom" userId="b4defd9bc5d4e5d3" providerId="LiveId" clId="{68AB29D3-6E99-4357-BE11-1569ABADDA98}" dt="2026-08-28T11:02:57.622" v="680" actId="207"/>
          <ac:spMkLst>
            <pc:docMk/>
            <pc:sldMk cId="0" sldId="265"/>
            <ac:spMk id="4" creationId="{00000000-0000-0000-0000-000000000000}"/>
          </ac:spMkLst>
        </pc:spChg>
        <pc:spChg chg="mod">
          <ac:chgData name="Blessing Chiagorom" userId="b4defd9bc5d4e5d3" providerId="LiveId" clId="{68AB29D3-6E99-4357-BE11-1569ABADDA98}" dt="2026-08-28T11:04:38.847" v="692" actId="207"/>
          <ac:spMkLst>
            <pc:docMk/>
            <pc:sldMk cId="0" sldId="265"/>
            <ac:spMk id="5" creationId="{00000000-0000-0000-0000-000000000000}"/>
          </ac:spMkLst>
        </pc:spChg>
        <pc:spChg chg="mod">
          <ac:chgData name="Blessing Chiagorom" userId="b4defd9bc5d4e5d3" providerId="LiveId" clId="{68AB29D3-6E99-4357-BE11-1569ABADDA98}" dt="2026-08-30T06:23:03.521" v="2088" actId="207"/>
          <ac:spMkLst>
            <pc:docMk/>
            <pc:sldMk cId="0" sldId="265"/>
            <ac:spMk id="7" creationId="{00000000-0000-0000-0000-000000000000}"/>
          </ac:spMkLst>
        </pc:spChg>
        <pc:spChg chg="mod">
          <ac:chgData name="Blessing Chiagorom" userId="b4defd9bc5d4e5d3" providerId="LiveId" clId="{68AB29D3-6E99-4357-BE11-1569ABADDA98}" dt="2026-08-28T11:04:46.096" v="693" actId="207"/>
          <ac:spMkLst>
            <pc:docMk/>
            <pc:sldMk cId="0" sldId="265"/>
            <ac:spMk id="8" creationId="{00000000-0000-0000-0000-000000000000}"/>
          </ac:spMkLst>
        </pc:spChg>
        <pc:spChg chg="mod">
          <ac:chgData name="Blessing Chiagorom" userId="b4defd9bc5d4e5d3" providerId="LiveId" clId="{68AB29D3-6E99-4357-BE11-1569ABADDA98}" dt="2026-08-30T06:22:59.442" v="2087" actId="207"/>
          <ac:spMkLst>
            <pc:docMk/>
            <pc:sldMk cId="0" sldId="265"/>
            <ac:spMk id="10" creationId="{00000000-0000-0000-0000-000000000000}"/>
          </ac:spMkLst>
        </pc:spChg>
        <pc:spChg chg="mod">
          <ac:chgData name="Blessing Chiagorom" userId="b4defd9bc5d4e5d3" providerId="LiveId" clId="{68AB29D3-6E99-4357-BE11-1569ABADDA98}" dt="2026-08-28T11:05:03.961" v="695" actId="207"/>
          <ac:spMkLst>
            <pc:docMk/>
            <pc:sldMk cId="0" sldId="265"/>
            <ac:spMk id="11" creationId="{00000000-0000-0000-0000-000000000000}"/>
          </ac:spMkLst>
        </pc:spChg>
        <pc:spChg chg="mod">
          <ac:chgData name="Blessing Chiagorom" userId="b4defd9bc5d4e5d3" providerId="LiveId" clId="{68AB29D3-6E99-4357-BE11-1569ABADDA98}" dt="2026-08-30T06:22:25.266" v="2083" actId="207"/>
          <ac:spMkLst>
            <pc:docMk/>
            <pc:sldMk cId="0" sldId="265"/>
            <ac:spMk id="13" creationId="{00000000-0000-0000-0000-000000000000}"/>
          </ac:spMkLst>
        </pc:spChg>
        <pc:spChg chg="mod">
          <ac:chgData name="Blessing Chiagorom" userId="b4defd9bc5d4e5d3" providerId="LiveId" clId="{68AB29D3-6E99-4357-BE11-1569ABADDA98}" dt="2026-08-28T11:05:24.511" v="697" actId="207"/>
          <ac:spMkLst>
            <pc:docMk/>
            <pc:sldMk cId="0" sldId="265"/>
            <ac:spMk id="14" creationId="{00000000-0000-0000-0000-000000000000}"/>
          </ac:spMkLst>
        </pc:spChg>
        <pc:spChg chg="mod">
          <ac:chgData name="Blessing Chiagorom" userId="b4defd9bc5d4e5d3" providerId="LiveId" clId="{68AB29D3-6E99-4357-BE11-1569ABADDA98}" dt="2026-08-28T11:08:37.144" v="721" actId="2085"/>
          <ac:spMkLst>
            <pc:docMk/>
            <pc:sldMk cId="0" sldId="265"/>
            <ac:spMk id="15" creationId="{00000000-0000-0000-0000-000000000000}"/>
          </ac:spMkLst>
        </pc:spChg>
        <pc:spChg chg="mod">
          <ac:chgData name="Blessing Chiagorom" userId="b4defd9bc5d4e5d3" providerId="LiveId" clId="{68AB29D3-6E99-4357-BE11-1569ABADDA98}" dt="2026-08-30T06:22:52.873" v="2086" actId="207"/>
          <ac:spMkLst>
            <pc:docMk/>
            <pc:sldMk cId="0" sldId="265"/>
            <ac:spMk id="16" creationId="{00000000-0000-0000-0000-000000000000}"/>
          </ac:spMkLst>
        </pc:spChg>
        <pc:spChg chg="mod">
          <ac:chgData name="Blessing Chiagorom" userId="b4defd9bc5d4e5d3" providerId="LiveId" clId="{68AB29D3-6E99-4357-BE11-1569ABADDA98}" dt="2026-08-28T11:05:42.379" v="699" actId="207"/>
          <ac:spMkLst>
            <pc:docMk/>
            <pc:sldMk cId="0" sldId="265"/>
            <ac:spMk id="17" creationId="{00000000-0000-0000-0000-000000000000}"/>
          </ac:spMkLst>
        </pc:spChg>
        <pc:spChg chg="mod">
          <ac:chgData name="Blessing Chiagorom" userId="b4defd9bc5d4e5d3" providerId="LiveId" clId="{68AB29D3-6E99-4357-BE11-1569ABADDA98}" dt="2026-08-30T06:22:39.503" v="2085" actId="207"/>
          <ac:spMkLst>
            <pc:docMk/>
            <pc:sldMk cId="0" sldId="265"/>
            <ac:spMk id="19" creationId="{00000000-0000-0000-0000-000000000000}"/>
          </ac:spMkLst>
        </pc:spChg>
        <pc:spChg chg="mod">
          <ac:chgData name="Blessing Chiagorom" userId="b4defd9bc5d4e5d3" providerId="LiveId" clId="{68AB29D3-6E99-4357-BE11-1569ABADDA98}" dt="2026-08-28T11:05:52.764" v="700" actId="207"/>
          <ac:spMkLst>
            <pc:docMk/>
            <pc:sldMk cId="0" sldId="265"/>
            <ac:spMk id="20" creationId="{00000000-0000-0000-0000-000000000000}"/>
          </ac:spMkLst>
        </pc:spChg>
        <pc:spChg chg="mod">
          <ac:chgData name="Blessing Chiagorom" userId="b4defd9bc5d4e5d3" providerId="LiveId" clId="{68AB29D3-6E99-4357-BE11-1569ABADDA98}" dt="2026-08-29T19:39:57.304" v="856" actId="20577"/>
          <ac:spMkLst>
            <pc:docMk/>
            <pc:sldMk cId="0" sldId="265"/>
            <ac:spMk id="21" creationId="{00000000-0000-0000-0000-000000000000}"/>
          </ac:spMkLst>
        </pc:spChg>
        <pc:spChg chg="mod">
          <ac:chgData name="Blessing Chiagorom" userId="b4defd9bc5d4e5d3" providerId="LiveId" clId="{68AB29D3-6E99-4357-BE11-1569ABADDA98}" dt="2026-08-30T06:22:33.750" v="2084" actId="207"/>
          <ac:spMkLst>
            <pc:docMk/>
            <pc:sldMk cId="0" sldId="265"/>
            <ac:spMk id="22" creationId="{00000000-0000-0000-0000-000000000000}"/>
          </ac:spMkLst>
        </pc:spChg>
        <pc:spChg chg="mod">
          <ac:chgData name="Blessing Chiagorom" userId="b4defd9bc5d4e5d3" providerId="LiveId" clId="{68AB29D3-6E99-4357-BE11-1569ABADDA98}" dt="2026-08-28T11:02:51.924" v="679" actId="207"/>
          <ac:spMkLst>
            <pc:docMk/>
            <pc:sldMk cId="0" sldId="265"/>
            <ac:spMk id="23" creationId="{00000000-0000-0000-0000-000000000000}"/>
          </ac:spMkLst>
        </pc:spChg>
        <pc:spChg chg="mod">
          <ac:chgData name="Blessing Chiagorom" userId="b4defd9bc5d4e5d3" providerId="LiveId" clId="{68AB29D3-6E99-4357-BE11-1569ABADDA98}" dt="2026-08-29T10:27:53.914" v="837" actId="14100"/>
          <ac:spMkLst>
            <pc:docMk/>
            <pc:sldMk cId="0" sldId="265"/>
            <ac:spMk id="24" creationId="{00000000-0000-0000-0000-000000000000}"/>
          </ac:spMkLst>
        </pc:spChg>
        <pc:spChg chg="mod">
          <ac:chgData name="Blessing Chiagorom" userId="b4defd9bc5d4e5d3" providerId="LiveId" clId="{68AB29D3-6E99-4357-BE11-1569ABADDA98}" dt="2026-08-30T06:22:12.898" v="2082" actId="20577"/>
          <ac:spMkLst>
            <pc:docMk/>
            <pc:sldMk cId="0" sldId="265"/>
            <ac:spMk id="25" creationId="{00000000-0000-0000-0000-000000000000}"/>
          </ac:spMkLst>
        </pc:spChg>
        <pc:spChg chg="mod">
          <ac:chgData name="Blessing Chiagorom" userId="b4defd9bc5d4e5d3" providerId="LiveId" clId="{68AB29D3-6E99-4357-BE11-1569ABADDA98}" dt="2026-08-29T10:27:39.404" v="836" actId="14100"/>
          <ac:spMkLst>
            <pc:docMk/>
            <pc:sldMk cId="0" sldId="265"/>
            <ac:spMk id="26" creationId="{00000000-0000-0000-0000-000000000000}"/>
          </ac:spMkLst>
        </pc:spChg>
        <pc:spChg chg="del">
          <ac:chgData name="Blessing Chiagorom" userId="b4defd9bc5d4e5d3" providerId="LiveId" clId="{68AB29D3-6E99-4357-BE11-1569ABADDA98}" dt="2026-08-28T11:00:06.344" v="661" actId="478"/>
          <ac:spMkLst>
            <pc:docMk/>
            <pc:sldMk cId="0" sldId="265"/>
            <ac:spMk id="27" creationId="{00000000-0000-0000-0000-000000000000}"/>
          </ac:spMkLst>
        </pc:spChg>
        <pc:spChg chg="del mod">
          <ac:chgData name="Blessing Chiagorom" userId="b4defd9bc5d4e5d3" providerId="LiveId" clId="{68AB29D3-6E99-4357-BE11-1569ABADDA98}" dt="2026-08-28T10:59:47.504" v="660" actId="478"/>
          <ac:spMkLst>
            <pc:docMk/>
            <pc:sldMk cId="0" sldId="265"/>
            <ac:spMk id="28" creationId="{00000000-0000-0000-0000-000000000000}"/>
          </ac:spMkLst>
        </pc:spChg>
        <pc:spChg chg="mod">
          <ac:chgData name="Blessing Chiagorom" userId="b4defd9bc5d4e5d3" providerId="LiveId" clId="{68AB29D3-6E99-4357-BE11-1569ABADDA98}" dt="2026-08-28T11:00:28.407" v="670" actId="113"/>
          <ac:spMkLst>
            <pc:docMk/>
            <pc:sldMk cId="0" sldId="265"/>
            <ac:spMk id="29" creationId="{00000000-0000-0000-0000-000000000000}"/>
          </ac:spMkLst>
        </pc:spChg>
      </pc:sldChg>
      <pc:sldChg chg="addSp delSp modSp mod ord setBg">
        <pc:chgData name="Blessing Chiagorom" userId="b4defd9bc5d4e5d3" providerId="LiveId" clId="{68AB29D3-6E99-4357-BE11-1569ABADDA98}" dt="2026-08-30T06:09:56.699" v="2038" actId="20577"/>
        <pc:sldMkLst>
          <pc:docMk/>
          <pc:sldMk cId="2020161319" sldId="266"/>
        </pc:sldMkLst>
        <pc:spChg chg="mod">
          <ac:chgData name="Blessing Chiagorom" userId="b4defd9bc5d4e5d3" providerId="LiveId" clId="{68AB29D3-6E99-4357-BE11-1569ABADDA98}" dt="2026-08-28T11:17:46.090" v="801" actId="255"/>
          <ac:spMkLst>
            <pc:docMk/>
            <pc:sldMk cId="2020161319" sldId="266"/>
            <ac:spMk id="2" creationId="{00000000-0000-0000-0000-000000000000}"/>
          </ac:spMkLst>
        </pc:spChg>
        <pc:spChg chg="del mod">
          <ac:chgData name="Blessing Chiagorom" userId="b4defd9bc5d4e5d3" providerId="LiveId" clId="{68AB29D3-6E99-4357-BE11-1569ABADDA98}" dt="2026-08-27T11:24:34.435" v="67" actId="478"/>
          <ac:spMkLst>
            <pc:docMk/>
            <pc:sldMk cId="2020161319" sldId="266"/>
            <ac:spMk id="3" creationId="{00000000-0000-0000-0000-000000000000}"/>
          </ac:spMkLst>
        </pc:spChg>
        <pc:spChg chg="mod">
          <ac:chgData name="Blessing Chiagorom" userId="b4defd9bc5d4e5d3" providerId="LiveId" clId="{68AB29D3-6E99-4357-BE11-1569ABADDA98}" dt="2026-08-27T11:23:49.497" v="63" actId="1076"/>
          <ac:spMkLst>
            <pc:docMk/>
            <pc:sldMk cId="2020161319" sldId="266"/>
            <ac:spMk id="4" creationId="{00000000-0000-0000-0000-000000000000}"/>
          </ac:spMkLst>
        </pc:spChg>
        <pc:spChg chg="mod">
          <ac:chgData name="Blessing Chiagorom" userId="b4defd9bc5d4e5d3" providerId="LiveId" clId="{68AB29D3-6E99-4357-BE11-1569ABADDA98}" dt="2026-08-27T12:01:54.049" v="79" actId="20577"/>
          <ac:spMkLst>
            <pc:docMk/>
            <pc:sldMk cId="2020161319" sldId="266"/>
            <ac:spMk id="24" creationId="{00000000-0000-0000-0000-000000000000}"/>
          </ac:spMkLst>
        </pc:spChg>
        <pc:spChg chg="mod">
          <ac:chgData name="Blessing Chiagorom" userId="b4defd9bc5d4e5d3" providerId="LiveId" clId="{68AB29D3-6E99-4357-BE11-1569ABADDA98}" dt="2026-08-27T12:04:15.489" v="124" actId="20577"/>
          <ac:spMkLst>
            <pc:docMk/>
            <pc:sldMk cId="2020161319" sldId="266"/>
            <ac:spMk id="27" creationId="{00000000-0000-0000-0000-000000000000}"/>
          </ac:spMkLst>
        </pc:spChg>
        <pc:spChg chg="mod">
          <ac:chgData name="Blessing Chiagorom" userId="b4defd9bc5d4e5d3" providerId="LiveId" clId="{68AB29D3-6E99-4357-BE11-1569ABADDA98}" dt="2026-08-30T05:13:49.359" v="1771" actId="20577"/>
          <ac:spMkLst>
            <pc:docMk/>
            <pc:sldMk cId="2020161319" sldId="266"/>
            <ac:spMk id="28" creationId="{00000000-0000-0000-0000-000000000000}"/>
          </ac:spMkLst>
        </pc:spChg>
        <pc:spChg chg="mod">
          <ac:chgData name="Blessing Chiagorom" userId="b4defd9bc5d4e5d3" providerId="LiveId" clId="{68AB29D3-6E99-4357-BE11-1569ABADDA98}" dt="2026-08-30T06:06:02.916" v="1834" actId="20577"/>
          <ac:spMkLst>
            <pc:docMk/>
            <pc:sldMk cId="2020161319" sldId="266"/>
            <ac:spMk id="30" creationId="{00000000-0000-0000-0000-000000000000}"/>
          </ac:spMkLst>
        </pc:spChg>
        <pc:spChg chg="del">
          <ac:chgData name="Blessing Chiagorom" userId="b4defd9bc5d4e5d3" providerId="LiveId" clId="{68AB29D3-6E99-4357-BE11-1569ABADDA98}" dt="2026-08-27T12:05:14.744" v="126" actId="478"/>
          <ac:spMkLst>
            <pc:docMk/>
            <pc:sldMk cId="2020161319" sldId="266"/>
            <ac:spMk id="33" creationId="{00000000-0000-0000-0000-000000000000}"/>
          </ac:spMkLst>
        </pc:spChg>
        <pc:spChg chg="mod">
          <ac:chgData name="Blessing Chiagorom" userId="b4defd9bc5d4e5d3" providerId="LiveId" clId="{68AB29D3-6E99-4357-BE11-1569ABADDA98}" dt="2026-08-27T11:23:33.761" v="62" actId="1076"/>
          <ac:spMkLst>
            <pc:docMk/>
            <pc:sldMk cId="2020161319" sldId="266"/>
            <ac:spMk id="37" creationId="{00000000-0000-0000-0000-000000000000}"/>
          </ac:spMkLst>
        </pc:spChg>
        <pc:spChg chg="mod">
          <ac:chgData name="Blessing Chiagorom" userId="b4defd9bc5d4e5d3" providerId="LiveId" clId="{68AB29D3-6E99-4357-BE11-1569ABADDA98}" dt="2026-08-30T06:09:56.699" v="2038" actId="20577"/>
          <ac:spMkLst>
            <pc:docMk/>
            <pc:sldMk cId="2020161319" sldId="266"/>
            <ac:spMk id="39" creationId="{00000000-0000-0000-0000-000000000000}"/>
          </ac:spMkLst>
        </pc:spChg>
        <pc:spChg chg="del">
          <ac:chgData name="Blessing Chiagorom" userId="b4defd9bc5d4e5d3" providerId="LiveId" clId="{68AB29D3-6E99-4357-BE11-1569ABADDA98}" dt="2026-08-27T11:23:21.901" v="60" actId="478"/>
          <ac:spMkLst>
            <pc:docMk/>
            <pc:sldMk cId="2020161319" sldId="266"/>
            <ac:spMk id="40" creationId="{00000000-0000-0000-0000-000000000000}"/>
          </ac:spMkLst>
        </pc:spChg>
        <pc:spChg chg="del">
          <ac:chgData name="Blessing Chiagorom" userId="b4defd9bc5d4e5d3" providerId="LiveId" clId="{68AB29D3-6E99-4357-BE11-1569ABADDA98}" dt="2026-08-29T10:16:54.560" v="807" actId="478"/>
          <ac:spMkLst>
            <pc:docMk/>
            <pc:sldMk cId="2020161319" sldId="266"/>
            <ac:spMk id="41" creationId="{00000000-0000-0000-0000-000000000000}"/>
          </ac:spMkLst>
        </pc:spChg>
        <pc:spChg chg="add del mod">
          <ac:chgData name="Blessing Chiagorom" userId="b4defd9bc5d4e5d3" providerId="LiveId" clId="{68AB29D3-6E99-4357-BE11-1569ABADDA98}" dt="2026-08-27T11:24:31.303" v="66"/>
          <ac:spMkLst>
            <pc:docMk/>
            <pc:sldMk cId="2020161319" sldId="266"/>
            <ac:spMk id="42" creationId="{EE601460-08DB-4D82-B859-D770C2F344C3}"/>
          </ac:spMkLst>
        </pc:spChg>
        <pc:spChg chg="add mod">
          <ac:chgData name="Blessing Chiagorom" userId="b4defd9bc5d4e5d3" providerId="LiveId" clId="{68AB29D3-6E99-4357-BE11-1569ABADDA98}" dt="2026-08-28T11:18:06.932" v="804" actId="255"/>
          <ac:spMkLst>
            <pc:docMk/>
            <pc:sldMk cId="2020161319" sldId="266"/>
            <ac:spMk id="43" creationId="{E1BFD3B5-0F1A-4095-98AD-2097228F1BAA}"/>
          </ac:spMkLst>
        </pc:spChg>
        <pc:spChg chg="add mod">
          <ac:chgData name="Blessing Chiagorom" userId="b4defd9bc5d4e5d3" providerId="LiveId" clId="{68AB29D3-6E99-4357-BE11-1569ABADDA98}" dt="2026-08-30T05:59:45.099" v="1780" actId="20577"/>
          <ac:spMkLst>
            <pc:docMk/>
            <pc:sldMk cId="2020161319" sldId="266"/>
            <ac:spMk id="44" creationId="{B015A78B-4FD3-4D80-8B88-EF2AAA0BF95E}"/>
          </ac:spMkLst>
        </pc:spChg>
      </pc:sldChg>
      <pc:sldChg chg="delSp modSp mod setBg">
        <pc:chgData name="Blessing Chiagorom" userId="b4defd9bc5d4e5d3" providerId="LiveId" clId="{68AB29D3-6E99-4357-BE11-1569ABADDA98}" dt="2026-08-30T06:31:44.738" v="2301" actId="20577"/>
        <pc:sldMkLst>
          <pc:docMk/>
          <pc:sldMk cId="3444676383" sldId="267"/>
        </pc:sldMkLst>
        <pc:spChg chg="mod">
          <ac:chgData name="Blessing Chiagorom" userId="b4defd9bc5d4e5d3" providerId="LiveId" clId="{68AB29D3-6E99-4357-BE11-1569ABADDA98}" dt="2026-08-30T01:27:57.018" v="1193" actId="20577"/>
          <ac:spMkLst>
            <pc:docMk/>
            <pc:sldMk cId="3444676383" sldId="267"/>
            <ac:spMk id="2" creationId="{00000000-0000-0000-0000-000000000000}"/>
          </ac:spMkLst>
        </pc:spChg>
        <pc:spChg chg="mod">
          <ac:chgData name="Blessing Chiagorom" userId="b4defd9bc5d4e5d3" providerId="LiveId" clId="{68AB29D3-6E99-4357-BE11-1569ABADDA98}" dt="2026-08-28T11:16:04.145" v="770" actId="1076"/>
          <ac:spMkLst>
            <pc:docMk/>
            <pc:sldMk cId="3444676383" sldId="267"/>
            <ac:spMk id="3" creationId="{00000000-0000-0000-0000-000000000000}"/>
          </ac:spMkLst>
        </pc:spChg>
        <pc:spChg chg="del">
          <ac:chgData name="Blessing Chiagorom" userId="b4defd9bc5d4e5d3" providerId="LiveId" clId="{68AB29D3-6E99-4357-BE11-1569ABADDA98}" dt="2026-08-28T11:15:40.306" v="766" actId="478"/>
          <ac:spMkLst>
            <pc:docMk/>
            <pc:sldMk cId="3444676383" sldId="267"/>
            <ac:spMk id="11" creationId="{00000000-0000-0000-0000-000000000000}"/>
          </ac:spMkLst>
        </pc:spChg>
        <pc:spChg chg="mod">
          <ac:chgData name="Blessing Chiagorom" userId="b4defd9bc5d4e5d3" providerId="LiveId" clId="{68AB29D3-6E99-4357-BE11-1569ABADDA98}" dt="2026-08-30T06:31:44.738" v="2301" actId="20577"/>
          <ac:spMkLst>
            <pc:docMk/>
            <pc:sldMk cId="3444676383" sldId="267"/>
            <ac:spMk id="15" creationId="{41EB7550-442C-4D55-90CE-304B5937AAEB}"/>
          </ac:spMkLst>
        </pc:spChg>
        <pc:graphicFrameChg chg="mod">
          <ac:chgData name="Blessing Chiagorom" userId="b4defd9bc5d4e5d3" providerId="LiveId" clId="{68AB29D3-6E99-4357-BE11-1569ABADDA98}" dt="2026-08-28T11:15:37.377" v="765" actId="1076"/>
          <ac:graphicFrameMkLst>
            <pc:docMk/>
            <pc:sldMk cId="3444676383" sldId="267"/>
            <ac:graphicFrameMk id="12" creationId="{098845B1-A377-4EA4-946C-2DB791EFC17F}"/>
          </ac:graphicFrameMkLst>
        </pc:graphicFrameChg>
      </pc:sldChg>
      <pc:sldChg chg="delSp modSp mod setBg">
        <pc:chgData name="Blessing Chiagorom" userId="b4defd9bc5d4e5d3" providerId="LiveId" clId="{68AB29D3-6E99-4357-BE11-1569ABADDA98}" dt="2026-08-30T01:27:49.609" v="1191" actId="20577"/>
        <pc:sldMkLst>
          <pc:docMk/>
          <pc:sldMk cId="968465688" sldId="268"/>
        </pc:sldMkLst>
        <pc:spChg chg="mod">
          <ac:chgData name="Blessing Chiagorom" userId="b4defd9bc5d4e5d3" providerId="LiveId" clId="{68AB29D3-6E99-4357-BE11-1569ABADDA98}" dt="2026-08-30T01:27:49.609" v="1191" actId="20577"/>
          <ac:spMkLst>
            <pc:docMk/>
            <pc:sldMk cId="968465688" sldId="268"/>
            <ac:spMk id="2" creationId="{00000000-0000-0000-0000-000000000000}"/>
          </ac:spMkLst>
        </pc:spChg>
        <pc:spChg chg="mod">
          <ac:chgData name="Blessing Chiagorom" userId="b4defd9bc5d4e5d3" providerId="LiveId" clId="{68AB29D3-6E99-4357-BE11-1569ABADDA98}" dt="2026-08-28T06:13:05.046" v="526" actId="1076"/>
          <ac:spMkLst>
            <pc:docMk/>
            <pc:sldMk cId="968465688" sldId="268"/>
            <ac:spMk id="3" creationId="{00000000-0000-0000-0000-000000000000}"/>
          </ac:spMkLst>
        </pc:spChg>
        <pc:spChg chg="del">
          <ac:chgData name="Blessing Chiagorom" userId="b4defd9bc5d4e5d3" providerId="LiveId" clId="{68AB29D3-6E99-4357-BE11-1569ABADDA98}" dt="2026-08-29T10:18:09.713" v="815" actId="478"/>
          <ac:spMkLst>
            <pc:docMk/>
            <pc:sldMk cId="968465688" sldId="268"/>
            <ac:spMk id="10" creationId="{00000000-0000-0000-0000-000000000000}"/>
          </ac:spMkLst>
        </pc:spChg>
        <pc:spChg chg="del">
          <ac:chgData name="Blessing Chiagorom" userId="b4defd9bc5d4e5d3" providerId="LiveId" clId="{68AB29D3-6E99-4357-BE11-1569ABADDA98}" dt="2026-08-29T10:18:16.356" v="816" actId="478"/>
          <ac:spMkLst>
            <pc:docMk/>
            <pc:sldMk cId="968465688" sldId="268"/>
            <ac:spMk id="11" creationId="{00000000-0000-0000-0000-000000000000}"/>
          </ac:spMkLst>
        </pc:spChg>
        <pc:graphicFrameChg chg="mod">
          <ac:chgData name="Blessing Chiagorom" userId="b4defd9bc5d4e5d3" providerId="LiveId" clId="{68AB29D3-6E99-4357-BE11-1569ABADDA98}" dt="2026-08-28T06:13:45.834" v="535" actId="403"/>
          <ac:graphicFrameMkLst>
            <pc:docMk/>
            <pc:sldMk cId="968465688" sldId="268"/>
            <ac:graphicFrameMk id="13" creationId="{13904836-0170-458E-9960-0A4DCAFBBD1D}"/>
          </ac:graphicFrameMkLst>
        </pc:graphicFrameChg>
      </pc:sldChg>
      <pc:sldChg chg="addSp delSp modSp mod">
        <pc:chgData name="Blessing Chiagorom" userId="b4defd9bc5d4e5d3" providerId="LiveId" clId="{68AB29D3-6E99-4357-BE11-1569ABADDA98}" dt="2026-08-30T06:32:18.162" v="2302" actId="478"/>
        <pc:sldMkLst>
          <pc:docMk/>
          <pc:sldMk cId="3083535261" sldId="269"/>
        </pc:sldMkLst>
        <pc:spChg chg="mod">
          <ac:chgData name="Blessing Chiagorom" userId="b4defd9bc5d4e5d3" providerId="LiveId" clId="{68AB29D3-6E99-4357-BE11-1569ABADDA98}" dt="2026-08-30T01:55:57.830" v="1259" actId="20577"/>
          <ac:spMkLst>
            <pc:docMk/>
            <pc:sldMk cId="3083535261" sldId="269"/>
            <ac:spMk id="2" creationId="{00000000-0000-0000-0000-000000000000}"/>
          </ac:spMkLst>
        </pc:spChg>
        <pc:spChg chg="mod">
          <ac:chgData name="Blessing Chiagorom" userId="b4defd9bc5d4e5d3" providerId="LiveId" clId="{68AB29D3-6E99-4357-BE11-1569ABADDA98}" dt="2026-08-28T06:15:47.231" v="553" actId="113"/>
          <ac:spMkLst>
            <pc:docMk/>
            <pc:sldMk cId="3083535261" sldId="269"/>
            <ac:spMk id="3" creationId="{00000000-0000-0000-0000-000000000000}"/>
          </ac:spMkLst>
        </pc:spChg>
        <pc:spChg chg="del mod">
          <ac:chgData name="Blessing Chiagorom" userId="b4defd9bc5d4e5d3" providerId="LiveId" clId="{68AB29D3-6E99-4357-BE11-1569ABADDA98}" dt="2026-08-28T06:16:19.736" v="558" actId="478"/>
          <ac:spMkLst>
            <pc:docMk/>
            <pc:sldMk cId="3083535261" sldId="269"/>
            <ac:spMk id="4" creationId="{00000000-0000-0000-0000-000000000000}"/>
          </ac:spMkLst>
        </pc:spChg>
        <pc:spChg chg="del">
          <ac:chgData name="Blessing Chiagorom" userId="b4defd9bc5d4e5d3" providerId="LiveId" clId="{68AB29D3-6E99-4357-BE11-1569ABADDA98}" dt="2026-08-28T06:16:03.737" v="554" actId="478"/>
          <ac:spMkLst>
            <pc:docMk/>
            <pc:sldMk cId="3083535261" sldId="269"/>
            <ac:spMk id="5" creationId="{00000000-0000-0000-0000-000000000000}"/>
          </ac:spMkLst>
        </pc:spChg>
        <pc:spChg chg="del">
          <ac:chgData name="Blessing Chiagorom" userId="b4defd9bc5d4e5d3" providerId="LiveId" clId="{68AB29D3-6E99-4357-BE11-1569ABADDA98}" dt="2026-08-28T06:16:07.526" v="555" actId="478"/>
          <ac:spMkLst>
            <pc:docMk/>
            <pc:sldMk cId="3083535261" sldId="269"/>
            <ac:spMk id="6" creationId="{00000000-0000-0000-0000-000000000000}"/>
          </ac:spMkLst>
        </pc:spChg>
        <pc:spChg chg="del">
          <ac:chgData name="Blessing Chiagorom" userId="b4defd9bc5d4e5d3" providerId="LiveId" clId="{68AB29D3-6E99-4357-BE11-1569ABADDA98}" dt="2026-08-28T06:16:10.869" v="556" actId="478"/>
          <ac:spMkLst>
            <pc:docMk/>
            <pc:sldMk cId="3083535261" sldId="269"/>
            <ac:spMk id="7" creationId="{00000000-0000-0000-0000-000000000000}"/>
          </ac:spMkLst>
        </pc:spChg>
        <pc:spChg chg="del">
          <ac:chgData name="Blessing Chiagorom" userId="b4defd9bc5d4e5d3" providerId="LiveId" clId="{68AB29D3-6E99-4357-BE11-1569ABADDA98}" dt="2026-08-28T06:16:39.963" v="559" actId="478"/>
          <ac:spMkLst>
            <pc:docMk/>
            <pc:sldMk cId="3083535261" sldId="269"/>
            <ac:spMk id="9" creationId="{00000000-0000-0000-0000-000000000000}"/>
          </ac:spMkLst>
        </pc:spChg>
        <pc:spChg chg="del">
          <ac:chgData name="Blessing Chiagorom" userId="b4defd9bc5d4e5d3" providerId="LiveId" clId="{68AB29D3-6E99-4357-BE11-1569ABADDA98}" dt="2026-08-28T06:16:46.137" v="560" actId="478"/>
          <ac:spMkLst>
            <pc:docMk/>
            <pc:sldMk cId="3083535261" sldId="269"/>
            <ac:spMk id="10" creationId="{00000000-0000-0000-0000-000000000000}"/>
          </ac:spMkLst>
        </pc:spChg>
        <pc:spChg chg="add del mod">
          <ac:chgData name="Blessing Chiagorom" userId="b4defd9bc5d4e5d3" providerId="LiveId" clId="{68AB29D3-6E99-4357-BE11-1569ABADDA98}" dt="2026-08-30T06:32:18.162" v="2302" actId="478"/>
          <ac:spMkLst>
            <pc:docMk/>
            <pc:sldMk cId="3083535261" sldId="269"/>
            <ac:spMk id="10" creationId="{23C58815-7073-4689-B49C-59638F04C961}"/>
          </ac:spMkLst>
        </pc:spChg>
        <pc:spChg chg="del">
          <ac:chgData name="Blessing Chiagorom" userId="b4defd9bc5d4e5d3" providerId="LiveId" clId="{68AB29D3-6E99-4357-BE11-1569ABADDA98}" dt="2026-08-28T06:16:49.476" v="561" actId="478"/>
          <ac:spMkLst>
            <pc:docMk/>
            <pc:sldMk cId="3083535261" sldId="269"/>
            <ac:spMk id="11" creationId="{00000000-0000-0000-0000-000000000000}"/>
          </ac:spMkLst>
        </pc:spChg>
        <pc:spChg chg="del">
          <ac:chgData name="Blessing Chiagorom" userId="b4defd9bc5d4e5d3" providerId="LiveId" clId="{68AB29D3-6E99-4357-BE11-1569ABADDA98}" dt="2026-08-28T06:16:54.361" v="562" actId="478"/>
          <ac:spMkLst>
            <pc:docMk/>
            <pc:sldMk cId="3083535261" sldId="269"/>
            <ac:spMk id="12" creationId="{00000000-0000-0000-0000-000000000000}"/>
          </ac:spMkLst>
        </pc:spChg>
        <pc:spChg chg="del">
          <ac:chgData name="Blessing Chiagorom" userId="b4defd9bc5d4e5d3" providerId="LiveId" clId="{68AB29D3-6E99-4357-BE11-1569ABADDA98}" dt="2026-08-28T06:16:58.300" v="563" actId="478"/>
          <ac:spMkLst>
            <pc:docMk/>
            <pc:sldMk cId="3083535261" sldId="269"/>
            <ac:spMk id="15" creationId="{00000000-0000-0000-0000-000000000000}"/>
          </ac:spMkLst>
        </pc:spChg>
        <pc:spChg chg="del">
          <ac:chgData name="Blessing Chiagorom" userId="b4defd9bc5d4e5d3" providerId="LiveId" clId="{68AB29D3-6E99-4357-BE11-1569ABADDA98}" dt="2026-08-29T10:18:46.752" v="819" actId="478"/>
          <ac:spMkLst>
            <pc:docMk/>
            <pc:sldMk cId="3083535261" sldId="269"/>
            <ac:spMk id="16" creationId="{00000000-0000-0000-0000-000000000000}"/>
          </ac:spMkLst>
        </pc:spChg>
        <pc:spChg chg="add mod">
          <ac:chgData name="Blessing Chiagorom" userId="b4defd9bc5d4e5d3" providerId="LiveId" clId="{68AB29D3-6E99-4357-BE11-1569ABADDA98}" dt="2026-08-30T01:31:07.351" v="1206"/>
          <ac:spMkLst>
            <pc:docMk/>
            <pc:sldMk cId="3083535261" sldId="269"/>
            <ac:spMk id="17" creationId="{A78901CF-3144-48F6-8B51-8919F025373E}"/>
          </ac:spMkLst>
        </pc:spChg>
        <pc:spChg chg="add mod">
          <ac:chgData name="Blessing Chiagorom" userId="b4defd9bc5d4e5d3" providerId="LiveId" clId="{68AB29D3-6E99-4357-BE11-1569ABADDA98}" dt="2026-08-30T01:31:30.591" v="1208"/>
          <ac:spMkLst>
            <pc:docMk/>
            <pc:sldMk cId="3083535261" sldId="269"/>
            <ac:spMk id="19" creationId="{389BF741-CDD2-4C32-9CF0-1FE2A5C88905}"/>
          </ac:spMkLst>
        </pc:spChg>
        <pc:spChg chg="add mod">
          <ac:chgData name="Blessing Chiagorom" userId="b4defd9bc5d4e5d3" providerId="LiveId" clId="{68AB29D3-6E99-4357-BE11-1569ABADDA98}" dt="2026-08-30T01:32:41.925" v="1216" actId="1076"/>
          <ac:spMkLst>
            <pc:docMk/>
            <pc:sldMk cId="3083535261" sldId="269"/>
            <ac:spMk id="20" creationId="{4C69642B-2324-4D2A-9B01-752E393C2F85}"/>
          </ac:spMkLst>
        </pc:spChg>
        <pc:spChg chg="add mod">
          <ac:chgData name="Blessing Chiagorom" userId="b4defd9bc5d4e5d3" providerId="LiveId" clId="{68AB29D3-6E99-4357-BE11-1569ABADDA98}" dt="2026-08-30T01:32:33.069" v="1215"/>
          <ac:spMkLst>
            <pc:docMk/>
            <pc:sldMk cId="3083535261" sldId="269"/>
            <ac:spMk id="21" creationId="{BF17AFB8-656C-45B6-8ABE-94AC0074C758}"/>
          </ac:spMkLst>
        </pc:spChg>
        <pc:graphicFrameChg chg="mod modGraphic">
          <ac:chgData name="Blessing Chiagorom" userId="b4defd9bc5d4e5d3" providerId="LiveId" clId="{68AB29D3-6E99-4357-BE11-1569ABADDA98}" dt="2026-08-30T01:29:55.371" v="1204" actId="1076"/>
          <ac:graphicFrameMkLst>
            <pc:docMk/>
            <pc:sldMk cId="3083535261" sldId="269"/>
            <ac:graphicFrameMk id="8" creationId="{00000000-0000-0000-0000-000000000000}"/>
          </ac:graphicFrameMkLst>
        </pc:graphicFrameChg>
        <pc:graphicFrameChg chg="del mod">
          <ac:chgData name="Blessing Chiagorom" userId="b4defd9bc5d4e5d3" providerId="LiveId" clId="{68AB29D3-6E99-4357-BE11-1569ABADDA98}" dt="2026-08-28T06:15:00.676" v="545" actId="478"/>
          <ac:graphicFrameMkLst>
            <pc:docMk/>
            <pc:sldMk cId="3083535261" sldId="269"/>
            <ac:graphicFrameMk id="18" creationId="{BA115190-D2B7-4F86-94AB-11BC163CA787}"/>
          </ac:graphicFrameMkLst>
        </pc:graphicFrameChg>
      </pc:sldChg>
      <pc:sldChg chg="addSp delSp modSp add mod">
        <pc:chgData name="Blessing Chiagorom" userId="b4defd9bc5d4e5d3" providerId="LiveId" clId="{68AB29D3-6E99-4357-BE11-1569ABADDA98}" dt="2026-08-30T04:34:02.248" v="1353" actId="14100"/>
        <pc:sldMkLst>
          <pc:docMk/>
          <pc:sldMk cId="1907861785" sldId="270"/>
        </pc:sldMkLst>
        <pc:spChg chg="del">
          <ac:chgData name="Blessing Chiagorom" userId="b4defd9bc5d4e5d3" providerId="LiveId" clId="{68AB29D3-6E99-4357-BE11-1569ABADDA98}" dt="2026-08-30T01:56:37.079" v="1261" actId="478"/>
          <ac:spMkLst>
            <pc:docMk/>
            <pc:sldMk cId="1907861785" sldId="270"/>
            <ac:spMk id="2" creationId="{00000000-0000-0000-0000-000000000000}"/>
          </ac:spMkLst>
        </pc:spChg>
        <pc:spChg chg="del">
          <ac:chgData name="Blessing Chiagorom" userId="b4defd9bc5d4e5d3" providerId="LiveId" clId="{68AB29D3-6E99-4357-BE11-1569ABADDA98}" dt="2026-08-30T01:56:46.530" v="1262" actId="478"/>
          <ac:spMkLst>
            <pc:docMk/>
            <pc:sldMk cId="1907861785" sldId="270"/>
            <ac:spMk id="3" creationId="{00000000-0000-0000-0000-000000000000}"/>
          </ac:spMkLst>
        </pc:spChg>
        <pc:spChg chg="add mod">
          <ac:chgData name="Blessing Chiagorom" userId="b4defd9bc5d4e5d3" providerId="LiveId" clId="{68AB29D3-6E99-4357-BE11-1569ABADDA98}" dt="2026-08-30T02:05:43.284" v="1328" actId="20577"/>
          <ac:spMkLst>
            <pc:docMk/>
            <pc:sldMk cId="1907861785" sldId="270"/>
            <ac:spMk id="11" creationId="{F3BE0242-062C-4686-98A2-4B1D1F4BACEA}"/>
          </ac:spMkLst>
        </pc:spChg>
        <pc:spChg chg="del">
          <ac:chgData name="Blessing Chiagorom" userId="b4defd9bc5d4e5d3" providerId="LiveId" clId="{68AB29D3-6E99-4357-BE11-1569ABADDA98}" dt="2026-08-30T01:57:00.283" v="1264" actId="478"/>
          <ac:spMkLst>
            <pc:docMk/>
            <pc:sldMk cId="1907861785" sldId="270"/>
            <ac:spMk id="17" creationId="{A78901CF-3144-48F6-8B51-8919F025373E}"/>
          </ac:spMkLst>
        </pc:spChg>
        <pc:spChg chg="del">
          <ac:chgData name="Blessing Chiagorom" userId="b4defd9bc5d4e5d3" providerId="LiveId" clId="{68AB29D3-6E99-4357-BE11-1569ABADDA98}" dt="2026-08-30T01:57:09.088" v="1266" actId="478"/>
          <ac:spMkLst>
            <pc:docMk/>
            <pc:sldMk cId="1907861785" sldId="270"/>
            <ac:spMk id="19" creationId="{389BF741-CDD2-4C32-9CF0-1FE2A5C88905}"/>
          </ac:spMkLst>
        </pc:spChg>
        <pc:spChg chg="del">
          <ac:chgData name="Blessing Chiagorom" userId="b4defd9bc5d4e5d3" providerId="LiveId" clId="{68AB29D3-6E99-4357-BE11-1569ABADDA98}" dt="2026-08-30T01:57:04.758" v="1265" actId="478"/>
          <ac:spMkLst>
            <pc:docMk/>
            <pc:sldMk cId="1907861785" sldId="270"/>
            <ac:spMk id="20" creationId="{4C69642B-2324-4D2A-9B01-752E393C2F85}"/>
          </ac:spMkLst>
        </pc:spChg>
        <pc:spChg chg="del">
          <ac:chgData name="Blessing Chiagorom" userId="b4defd9bc5d4e5d3" providerId="LiveId" clId="{68AB29D3-6E99-4357-BE11-1569ABADDA98}" dt="2026-08-30T01:57:13.703" v="1267" actId="478"/>
          <ac:spMkLst>
            <pc:docMk/>
            <pc:sldMk cId="1907861785" sldId="270"/>
            <ac:spMk id="21" creationId="{BF17AFB8-656C-45B6-8ABE-94AC0074C758}"/>
          </ac:spMkLst>
        </pc:spChg>
        <pc:graphicFrameChg chg="del">
          <ac:chgData name="Blessing Chiagorom" userId="b4defd9bc5d4e5d3" providerId="LiveId" clId="{68AB29D3-6E99-4357-BE11-1569ABADDA98}" dt="2026-08-30T01:56:51.064" v="1263" actId="478"/>
          <ac:graphicFrameMkLst>
            <pc:docMk/>
            <pc:sldMk cId="1907861785" sldId="270"/>
            <ac:graphicFrameMk id="8" creationId="{00000000-0000-0000-0000-000000000000}"/>
          </ac:graphicFrameMkLst>
        </pc:graphicFrameChg>
        <pc:picChg chg="add mod">
          <ac:chgData name="Blessing Chiagorom" userId="b4defd9bc5d4e5d3" providerId="LiveId" clId="{68AB29D3-6E99-4357-BE11-1569ABADDA98}" dt="2026-08-30T04:34:02.248" v="1353" actId="14100"/>
          <ac:picMkLst>
            <pc:docMk/>
            <pc:sldMk cId="1907861785" sldId="270"/>
            <ac:picMk id="5" creationId="{6ACBD9CF-165D-4154-8FE1-87DE7B1A1450}"/>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2.xml"/><Relationship Id="rId1" Type="http://schemas.microsoft.com/office/2011/relationships/chartStyle" Target="style2.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b4defd9bc5d4e5d3/Documents/BEE'S%20BACKUP/From%20Documents/MINE/DATA%20PORTFOLIO/Africa%20Unemployment%20Project/UNEMPLOYMENT%20Analyses%202015.xlsx" TargetMode="External"/><Relationship Id="rId2" Type="http://schemas.microsoft.com/office/2011/relationships/chartColorStyle" Target="colors3.xml"/><Relationship Id="rId1" Type="http://schemas.microsoft.com/office/2011/relationships/chartStyle" Target="style3.xml"/></Relationships>
</file>

<file path=ppt/charts/_rels/chart5.xml.rels><?xml version="1.0" encoding="UTF-8" standalone="yes"?>
<Relationships xmlns="http://schemas.openxmlformats.org/package/2006/relationships"><Relationship Id="rId3" Type="http://schemas.openxmlformats.org/officeDocument/2006/relationships/oleObject" Target="https://d.docs.live.net/b4defd9bc5d4e5d3/Documents/BEE'S%20BACKUP/From%20Documents/MINE/DATA%20PORTFOLIO/Africa%20Unemployment%20Project/UNEMPLOYMENT%20Analyses%202015.xlsx" TargetMode="External"/><Relationship Id="rId2" Type="http://schemas.microsoft.com/office/2011/relationships/chartColorStyle" Target="colors4.xml"/><Relationship Id="rId1" Type="http://schemas.microsoft.com/office/2011/relationships/chartStyle" Target="style4.xml"/></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a:pPr>
            <a:r>
              <a:rPr lang="en-US" dirty="0"/>
              <a:t>TOP 10</a:t>
            </a:r>
            <a:r>
              <a:rPr lang="en-US" baseline="0" dirty="0"/>
              <a:t> – AVERAGE UNEMPLOYMENT</a:t>
            </a:r>
            <a:endParaRPr lang="en-US" dirty="0"/>
          </a:p>
        </c:rich>
      </c:tx>
      <c:overlay val="0"/>
    </c:title>
    <c:autoTitleDeleted val="0"/>
    <c:plotArea>
      <c:layout>
        <c:manualLayout>
          <c:layoutTarget val="inner"/>
          <c:xMode val="edge"/>
          <c:yMode val="edge"/>
          <c:x val="6.3676716508343195E-2"/>
          <c:y val="5.2732677769502662E-2"/>
          <c:w val="0.91857017921028583"/>
          <c:h val="0.83228609129230624"/>
        </c:manualLayout>
      </c:layout>
      <c:barChart>
        <c:barDir val="bar"/>
        <c:grouping val="clustered"/>
        <c:varyColors val="0"/>
        <c:ser>
          <c:idx val="0"/>
          <c:order val="0"/>
          <c:tx>
            <c:strRef>
              <c:f>Sheet1!$B$1</c:f>
              <c:strCache>
                <c:ptCount val="1"/>
                <c:pt idx="0">
                  <c:v>Female (%)</c:v>
                </c:pt>
              </c:strCache>
            </c:strRef>
          </c:tx>
          <c:spPr>
            <a:solidFill>
              <a:srgbClr val="C0392B"/>
            </a:solidFill>
            <a:effectLst/>
          </c:spPr>
          <c:invertIfNegative val="0"/>
          <c:dLbls>
            <c:numFmt formatCode="#,##0" sourceLinked="0"/>
            <c:spPr>
              <a:noFill/>
              <a:ln>
                <a:noFill/>
              </a:ln>
              <a:effectLst/>
            </c:spPr>
            <c:txPr>
              <a:bodyPr/>
              <a:lstStyle/>
              <a:p>
                <a:pPr>
                  <a:defRPr sz="900" b="0" i="0" u="none" strike="noStrike">
                    <a:solidFill>
                      <a:srgbClr val="16253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Djibouti</c:v>
                </c:pt>
                <c:pt idx="1">
                  <c:v>Sudan</c:v>
                </c:pt>
                <c:pt idx="2">
                  <c:v>Gabon</c:v>
                </c:pt>
                <c:pt idx="3">
                  <c:v>S. Africa</c:v>
                </c:pt>
                <c:pt idx="4">
                  <c:v>Libya</c:v>
                </c:pt>
                <c:pt idx="5">
                  <c:v>Lesotho</c:v>
                </c:pt>
                <c:pt idx="6">
                  <c:v>Eswatini</c:v>
                </c:pt>
                <c:pt idx="7">
                  <c:v>Egypt</c:v>
                </c:pt>
                <c:pt idx="8">
                  <c:v>Somalia</c:v>
                </c:pt>
                <c:pt idx="9">
                  <c:v>Namibia</c:v>
                </c:pt>
              </c:strCache>
            </c:strRef>
          </c:cat>
          <c:val>
            <c:numRef>
              <c:f>Sheet1!$B$2:$B$11</c:f>
              <c:numCache>
                <c:formatCode>General</c:formatCode>
                <c:ptCount val="10"/>
                <c:pt idx="0">
                  <c:v>36.56</c:v>
                </c:pt>
                <c:pt idx="1">
                  <c:v>29.22</c:v>
                </c:pt>
                <c:pt idx="2">
                  <c:v>28.56</c:v>
                </c:pt>
                <c:pt idx="3">
                  <c:v>27.55</c:v>
                </c:pt>
                <c:pt idx="4">
                  <c:v>25.51</c:v>
                </c:pt>
                <c:pt idx="5">
                  <c:v>25.42</c:v>
                </c:pt>
                <c:pt idx="6">
                  <c:v>25.2</c:v>
                </c:pt>
                <c:pt idx="7">
                  <c:v>24.65</c:v>
                </c:pt>
                <c:pt idx="8">
                  <c:v>24.21</c:v>
                </c:pt>
                <c:pt idx="9">
                  <c:v>22.67</c:v>
                </c:pt>
              </c:numCache>
            </c:numRef>
          </c:val>
          <c:extLst>
            <c:ext xmlns:c16="http://schemas.microsoft.com/office/drawing/2014/chart" uri="{C3380CC4-5D6E-409C-BE32-E72D297353CC}">
              <c16:uniqueId val="{00000000-7530-424D-89C2-5B9C6B8E2737}"/>
            </c:ext>
          </c:extLst>
        </c:ser>
        <c:ser>
          <c:idx val="1"/>
          <c:order val="1"/>
          <c:tx>
            <c:strRef>
              <c:f>Sheet1!$C$1</c:f>
              <c:strCache>
                <c:ptCount val="1"/>
                <c:pt idx="0">
                  <c:v>Male (%)</c:v>
                </c:pt>
              </c:strCache>
            </c:strRef>
          </c:tx>
          <c:spPr>
            <a:solidFill>
              <a:srgbClr val="0E6BA8"/>
            </a:solidFill>
            <a:effectLst/>
          </c:spPr>
          <c:invertIfNegative val="0"/>
          <c:dLbls>
            <c:numFmt formatCode="#,##0" sourceLinked="0"/>
            <c:spPr>
              <a:noFill/>
              <a:ln>
                <a:noFill/>
              </a:ln>
              <a:effectLst/>
            </c:spPr>
            <c:txPr>
              <a:bodyPr/>
              <a:lstStyle/>
              <a:p>
                <a:pPr>
                  <a:defRPr sz="900" b="0" i="0" u="none" strike="noStrike">
                    <a:solidFill>
                      <a:srgbClr val="16253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Djibouti</c:v>
                </c:pt>
                <c:pt idx="1">
                  <c:v>Sudan</c:v>
                </c:pt>
                <c:pt idx="2">
                  <c:v>Gabon</c:v>
                </c:pt>
                <c:pt idx="3">
                  <c:v>S. Africa</c:v>
                </c:pt>
                <c:pt idx="4">
                  <c:v>Libya</c:v>
                </c:pt>
                <c:pt idx="5">
                  <c:v>Lesotho</c:v>
                </c:pt>
                <c:pt idx="6">
                  <c:v>Eswatini</c:v>
                </c:pt>
                <c:pt idx="7">
                  <c:v>Egypt</c:v>
                </c:pt>
                <c:pt idx="8">
                  <c:v>Somalia</c:v>
                </c:pt>
                <c:pt idx="9">
                  <c:v>Namibia</c:v>
                </c:pt>
              </c:strCache>
            </c:strRef>
          </c:cat>
          <c:val>
            <c:numRef>
              <c:f>Sheet1!$C$2:$C$11</c:f>
              <c:numCache>
                <c:formatCode>General</c:formatCode>
                <c:ptCount val="10"/>
                <c:pt idx="0">
                  <c:v>22.83</c:v>
                </c:pt>
                <c:pt idx="1">
                  <c:v>12.5</c:v>
                </c:pt>
                <c:pt idx="2">
                  <c:v>15.25</c:v>
                </c:pt>
                <c:pt idx="3">
                  <c:v>23.22</c:v>
                </c:pt>
                <c:pt idx="4">
                  <c:v>16.260000000000002</c:v>
                </c:pt>
                <c:pt idx="5">
                  <c:v>22.54</c:v>
                </c:pt>
                <c:pt idx="6">
                  <c:v>21.57</c:v>
                </c:pt>
                <c:pt idx="7">
                  <c:v>9.33</c:v>
                </c:pt>
                <c:pt idx="8">
                  <c:v>16.55</c:v>
                </c:pt>
                <c:pt idx="9">
                  <c:v>19.23</c:v>
                </c:pt>
              </c:numCache>
            </c:numRef>
          </c:val>
          <c:extLst>
            <c:ext xmlns:c16="http://schemas.microsoft.com/office/drawing/2014/chart" uri="{C3380CC4-5D6E-409C-BE32-E72D297353CC}">
              <c16:uniqueId val="{00000001-7530-424D-89C2-5B9C6B8E2737}"/>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minorGridlines/>
        <c:title>
          <c:tx>
            <c:rich>
              <a:bodyPr/>
              <a:lstStyle/>
              <a:p>
                <a:pPr>
                  <a:defRPr/>
                </a:pPr>
                <a:r>
                  <a:rPr lang="en-US" dirty="0"/>
                  <a:t>COUNTRIES</a:t>
                </a:r>
              </a:p>
            </c:rich>
          </c:tx>
          <c:overlay val="0"/>
        </c:title>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62537"/>
                </a:solidFill>
                <a:latin typeface="Arial"/>
              </a:defRPr>
            </a:pPr>
            <a:endParaRPr lang="en-US"/>
          </a:p>
        </c:txPr>
        <c:crossAx val="2094734552"/>
        <c:crosses val="autoZero"/>
        <c:auto val="1"/>
        <c:lblAlgn val="ctr"/>
        <c:lblOffset val="100"/>
        <c:noMultiLvlLbl val="1"/>
      </c:catAx>
      <c:valAx>
        <c:axId val="2094734552"/>
        <c:scaling>
          <c:orientation val="minMax"/>
          <c:max val="42"/>
        </c:scaling>
        <c:delete val="0"/>
        <c:axPos val="b"/>
        <c:title>
          <c:tx>
            <c:rich>
              <a:bodyPr/>
              <a:lstStyle/>
              <a:p>
                <a:pPr>
                  <a:defRPr/>
                </a:pPr>
                <a:r>
                  <a:rPr lang="en-US" dirty="0"/>
                  <a:t>AVERAGE UNEMPLOYMENT</a:t>
                </a:r>
              </a:p>
            </c:rich>
          </c:tx>
          <c:layout>
            <c:manualLayout>
              <c:xMode val="edge"/>
              <c:yMode val="edge"/>
              <c:x val="0.49139502286094994"/>
              <c:y val="0.94768918213312192"/>
            </c:manualLayout>
          </c:layout>
          <c:overlay val="0"/>
        </c:title>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F7A8A"/>
                </a:solidFill>
                <a:latin typeface="Arial"/>
              </a:defRPr>
            </a:pPr>
            <a:endParaRPr lang="en-US"/>
          </a:p>
        </c:txPr>
        <c:crossAx val="2094734554"/>
        <c:crosses val="autoZero"/>
        <c:crossBetween val="between"/>
      </c:valAx>
      <c:spPr>
        <a:noFill/>
        <a:ln>
          <a:noFill/>
        </a:ln>
        <a:effectLst/>
      </c:spPr>
    </c:plotArea>
    <c:legend>
      <c:legendPos val="b"/>
      <c:layout>
        <c:manualLayout>
          <c:xMode val="edge"/>
          <c:yMode val="edge"/>
          <c:x val="3.3975709407126867E-2"/>
          <c:y val="0.93708133348756595"/>
          <c:w val="0.40130871713837685"/>
          <c:h val="4.3620617837665042E-2"/>
        </c:manualLayout>
      </c:layout>
      <c:overlay val="0"/>
      <c:txPr>
        <a:bodyPr/>
        <a:lstStyle/>
        <a:p>
          <a:pPr>
            <a:defRPr sz="1000"/>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b="1" dirty="0">
                <a:solidFill>
                  <a:schemeClr val="tx1"/>
                </a:solidFill>
              </a:rPr>
              <a:t>Gender Unemployment Gap</a:t>
            </a:r>
          </a:p>
          <a:p>
            <a:pPr>
              <a:defRPr/>
            </a:pPr>
            <a:r>
              <a:rPr lang="en-US" sz="1100" dirty="0">
                <a:solidFill>
                  <a:schemeClr val="tx1"/>
                </a:solidFill>
              </a:rPr>
              <a:t>Female unemployment - Male unemployment pp</a:t>
            </a:r>
            <a:endParaRPr lang="en-US" dirty="0">
              <a:solidFill>
                <a:schemeClr val="tx1"/>
              </a:solidFill>
            </a:endParaRP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Gender Gap (pp)</c:v>
                </c:pt>
              </c:strCache>
            </c:strRef>
          </c:tx>
          <c:spPr>
            <a:solidFill>
              <a:schemeClr val="accent5">
                <a:lumMod val="50000"/>
              </a:schemeClr>
            </a:solidFill>
            <a:ln>
              <a:noFill/>
            </a:ln>
            <a:effectLst/>
          </c:spPr>
          <c:invertIfNegative val="0"/>
          <c:dLbls>
            <c:delete val="1"/>
          </c:dLbls>
          <c:cat>
            <c:strRef>
              <c:f>Sheet1!$A$2:$A$11</c:f>
              <c:strCache>
                <c:ptCount val="10"/>
                <c:pt idx="0">
                  <c:v>Sudan</c:v>
                </c:pt>
                <c:pt idx="1">
                  <c:v>Egypt</c:v>
                </c:pt>
                <c:pt idx="2">
                  <c:v>Djibouti</c:v>
                </c:pt>
                <c:pt idx="3">
                  <c:v>Gabon</c:v>
                </c:pt>
                <c:pt idx="4">
                  <c:v>Sao Tome</c:v>
                </c:pt>
                <c:pt idx="5">
                  <c:v>Tunisia</c:v>
                </c:pt>
                <c:pt idx="6">
                  <c:v>Libya</c:v>
                </c:pt>
                <c:pt idx="7">
                  <c:v>Somalia</c:v>
                </c:pt>
                <c:pt idx="8">
                  <c:v>Algeria</c:v>
                </c:pt>
                <c:pt idx="9">
                  <c:v>Gambia</c:v>
                </c:pt>
              </c:strCache>
            </c:strRef>
          </c:cat>
          <c:val>
            <c:numRef>
              <c:f>Sheet1!$B$2:$B$11</c:f>
              <c:numCache>
                <c:formatCode>General</c:formatCode>
                <c:ptCount val="10"/>
                <c:pt idx="0">
                  <c:v>16.72</c:v>
                </c:pt>
                <c:pt idx="1">
                  <c:v>15.32</c:v>
                </c:pt>
                <c:pt idx="2">
                  <c:v>13.73</c:v>
                </c:pt>
                <c:pt idx="3">
                  <c:v>13.31</c:v>
                </c:pt>
                <c:pt idx="4">
                  <c:v>10.130000000000001</c:v>
                </c:pt>
                <c:pt idx="5">
                  <c:v>9.8000000000000007</c:v>
                </c:pt>
                <c:pt idx="6">
                  <c:v>9.24</c:v>
                </c:pt>
                <c:pt idx="7">
                  <c:v>7.66</c:v>
                </c:pt>
                <c:pt idx="8">
                  <c:v>6.65</c:v>
                </c:pt>
                <c:pt idx="9">
                  <c:v>5.75</c:v>
                </c:pt>
              </c:numCache>
            </c:numRef>
          </c:val>
          <c:extLst>
            <c:ext xmlns:c16="http://schemas.microsoft.com/office/drawing/2014/chart" uri="{C3380CC4-5D6E-409C-BE32-E72D297353CC}">
              <c16:uniqueId val="{00000000-E076-48C8-A3F4-49928D464CB9}"/>
            </c:ext>
          </c:extLst>
        </c:ser>
        <c:dLbls>
          <c:showLegendKey val="0"/>
          <c:showVal val="1"/>
          <c:showCatName val="0"/>
          <c:showSerName val="0"/>
          <c:showPercent val="0"/>
          <c:showBubbleSize val="0"/>
        </c:dLbls>
        <c:gapWidth val="182"/>
        <c:axId val="2094734554"/>
        <c:axId val="2094734552"/>
      </c:barChart>
      <c:catAx>
        <c:axId val="2094734554"/>
        <c:scaling>
          <c:orientation val="minMax"/>
        </c:scaling>
        <c:delete val="0"/>
        <c:axPos val="l"/>
        <c:title>
          <c:tx>
            <c:rich>
              <a:bodyPr rot="-5400000" spcFirstLastPara="1" vertOverflow="ellipsis" vert="horz" wrap="square" anchor="ctr" anchorCtr="1"/>
              <a:lstStyle/>
              <a:p>
                <a:pPr>
                  <a:defRPr sz="1330" b="0" i="0" u="none" strike="noStrike" kern="1200" baseline="0">
                    <a:solidFill>
                      <a:schemeClr val="tx2">
                        <a:lumMod val="75000"/>
                      </a:schemeClr>
                    </a:solidFill>
                    <a:latin typeface="+mn-lt"/>
                    <a:ea typeface="+mn-ea"/>
                    <a:cs typeface="+mn-cs"/>
                  </a:defRPr>
                </a:pPr>
                <a:r>
                  <a:rPr lang="en-US" b="1" dirty="0">
                    <a:solidFill>
                      <a:schemeClr val="tx1">
                        <a:lumMod val="95000"/>
                        <a:lumOff val="5000"/>
                      </a:schemeClr>
                    </a:solidFill>
                  </a:rPr>
                  <a:t>COUNTRY</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2">
                      <a:lumMod val="7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95000"/>
                    <a:lumOff val="5000"/>
                  </a:schemeClr>
                </a:solidFill>
                <a:latin typeface="+mn-lt"/>
                <a:ea typeface="+mn-ea"/>
                <a:cs typeface="+mn-cs"/>
              </a:defRPr>
            </a:pPr>
            <a:endParaRPr lang="en-US"/>
          </a:p>
        </c:txPr>
        <c:crossAx val="2094734552"/>
        <c:crosses val="autoZero"/>
        <c:auto val="1"/>
        <c:lblAlgn val="ctr"/>
        <c:lblOffset val="100"/>
        <c:noMultiLvlLbl val="1"/>
      </c:catAx>
      <c:valAx>
        <c:axId val="2094734552"/>
        <c:scaling>
          <c:orientation val="minMax"/>
          <c:max val="2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330" b="0" i="0" u="none" strike="noStrike" kern="1200" baseline="0">
                    <a:solidFill>
                      <a:schemeClr val="tx2">
                        <a:lumMod val="75000"/>
                      </a:schemeClr>
                    </a:solidFill>
                    <a:latin typeface="+mn-lt"/>
                    <a:ea typeface="+mn-ea"/>
                    <a:cs typeface="+mn-cs"/>
                  </a:defRPr>
                </a:pPr>
                <a:r>
                  <a:rPr lang="en-US" b="1" dirty="0">
                    <a:solidFill>
                      <a:schemeClr val="tx1">
                        <a:lumMod val="95000"/>
                        <a:lumOff val="5000"/>
                      </a:schemeClr>
                    </a:solidFill>
                  </a:rPr>
                  <a:t>Gender Gap</a:t>
                </a:r>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2">
                      <a:lumMod val="75000"/>
                    </a:schemeClr>
                  </a:solidFill>
                  <a:latin typeface="+mn-lt"/>
                  <a:ea typeface="+mn-ea"/>
                  <a:cs typeface="+mn-cs"/>
                </a:defRPr>
              </a:pPr>
              <a:endParaRPr lang="en-US"/>
            </a:p>
          </c:txPr>
        </c:title>
        <c:numFmt formatCode="General" sourceLinked="0"/>
        <c:majorTickMark val="none"/>
        <c:minorTickMark val="none"/>
        <c:tickLblPos val="low"/>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1" i="0" u="none" strike="noStrike" kern="1200" spc="0" baseline="0">
                <a:solidFill>
                  <a:schemeClr val="tx1"/>
                </a:solidFill>
                <a:latin typeface="+mn-lt"/>
                <a:ea typeface="+mn-ea"/>
                <a:cs typeface="+mn-cs"/>
              </a:defRPr>
            </a:pPr>
            <a:r>
              <a:rPr lang="en-US" b="1">
                <a:solidFill>
                  <a:schemeClr val="tx1"/>
                </a:solidFill>
              </a:rPr>
              <a:t>Regional Avg Unemployment by Gender</a:t>
            </a:r>
          </a:p>
        </c:rich>
      </c:tx>
      <c:overlay val="0"/>
      <c:spPr>
        <a:noFill/>
        <a:ln>
          <a:noFill/>
        </a:ln>
        <a:effectLst/>
      </c:spPr>
      <c:txPr>
        <a:bodyPr rot="0" spcFirstLastPara="1" vertOverflow="ellipsis" vert="horz" wrap="square" anchor="ctr" anchorCtr="1"/>
        <a:lstStyle/>
        <a:p>
          <a:pPr>
            <a:defRPr sz="1862" b="1" i="0" u="none" strike="noStrike" kern="1200" spc="0" baseline="0">
              <a:solidFill>
                <a:schemeClr val="tx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Female (%)</c:v>
                </c:pt>
              </c:strCache>
            </c:strRef>
          </c:tx>
          <c:spPr>
            <a:solidFill>
              <a:schemeClr val="accent2">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2"/>
                <c:pt idx="0">
                  <c:v>N. Africa</c:v>
                </c:pt>
                <c:pt idx="1">
                  <c:v>Sub-Saharan</c:v>
                </c:pt>
              </c:strCache>
              <c:extLst/>
            </c:strRef>
          </c:cat>
          <c:val>
            <c:numRef>
              <c:f>Sheet1!$B$2:$B$4</c:f>
              <c:numCache>
                <c:formatCode>General</c:formatCode>
                <c:ptCount val="2"/>
                <c:pt idx="0">
                  <c:v>21.42</c:v>
                </c:pt>
                <c:pt idx="1">
                  <c:v>9.91</c:v>
                </c:pt>
              </c:numCache>
              <c:extLst/>
            </c:numRef>
          </c:val>
          <c:extLst>
            <c:ext xmlns:c16="http://schemas.microsoft.com/office/drawing/2014/chart" uri="{C3380CC4-5D6E-409C-BE32-E72D297353CC}">
              <c16:uniqueId val="{00000000-77A0-4A93-8423-9371B23A6D04}"/>
            </c:ext>
          </c:extLst>
        </c:ser>
        <c:ser>
          <c:idx val="1"/>
          <c:order val="1"/>
          <c:tx>
            <c:strRef>
              <c:f>Sheet1!$C$1</c:f>
              <c:strCache>
                <c:ptCount val="1"/>
                <c:pt idx="0">
                  <c:v>Male (%)</c:v>
                </c:pt>
              </c:strCache>
            </c:strRef>
          </c:tx>
          <c:spPr>
            <a:solidFill>
              <a:srgbClr val="0070C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2"/>
                <c:pt idx="0">
                  <c:v>N. Africa</c:v>
                </c:pt>
                <c:pt idx="1">
                  <c:v>Sub-Saharan</c:v>
                </c:pt>
              </c:strCache>
              <c:extLst/>
            </c:strRef>
          </c:cat>
          <c:val>
            <c:numRef>
              <c:f>Sheet1!$C$2:$C$4</c:f>
              <c:numCache>
                <c:formatCode>General</c:formatCode>
                <c:ptCount val="2"/>
                <c:pt idx="0">
                  <c:v>11.58</c:v>
                </c:pt>
                <c:pt idx="1">
                  <c:v>7.71</c:v>
                </c:pt>
              </c:numCache>
              <c:extLst/>
            </c:numRef>
          </c:val>
          <c:extLst>
            <c:ext xmlns:c16="http://schemas.microsoft.com/office/drawing/2014/chart" uri="{C3380CC4-5D6E-409C-BE32-E72D297353CC}">
              <c16:uniqueId val="{00000001-77A0-4A93-8423-9371B23A6D04}"/>
            </c:ext>
          </c:extLst>
        </c:ser>
        <c:dLbls>
          <c:showLegendKey val="0"/>
          <c:showVal val="1"/>
          <c:showCatName val="0"/>
          <c:showSerName val="0"/>
          <c:showPercent val="0"/>
          <c:showBubbleSize val="0"/>
        </c:dLbls>
        <c:gapWidth val="219"/>
        <c:overlap val="-27"/>
        <c:axId val="2094734554"/>
        <c:axId val="2094734552"/>
      </c:barChart>
      <c:catAx>
        <c:axId val="2094734554"/>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solidFill>
                    <a:latin typeface="+mn-lt"/>
                    <a:ea typeface="+mn-ea"/>
                    <a:cs typeface="+mn-cs"/>
                  </a:defRPr>
                </a:pPr>
                <a:r>
                  <a:rPr lang="en-US" b="1" dirty="0">
                    <a:solidFill>
                      <a:schemeClr val="tx1"/>
                    </a:solidFill>
                  </a:rPr>
                  <a:t>SUB-REGION</a:t>
                </a:r>
              </a:p>
            </c:rich>
          </c:tx>
          <c:layout>
            <c:manualLayout>
              <c:xMode val="edge"/>
              <c:yMode val="edge"/>
              <c:x val="0.43363071588528496"/>
              <c:y val="0.85584699401902653"/>
            </c:manualLayout>
          </c:layout>
          <c:overlay val="0"/>
          <c:spPr>
            <a:noFill/>
            <a:ln>
              <a:noFill/>
            </a:ln>
            <a:effectLst/>
          </c:spPr>
          <c:txPr>
            <a:bodyPr rot="0" spcFirstLastPara="1" vertOverflow="ellipsis" vert="horz" wrap="square" anchor="ctr" anchorCtr="1"/>
            <a:lstStyle/>
            <a:p>
              <a:pPr>
                <a:defRPr sz="1330" b="0"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94734552"/>
        <c:crosses val="autoZero"/>
        <c:auto val="1"/>
        <c:lblAlgn val="ctr"/>
        <c:lblOffset val="100"/>
        <c:noMultiLvlLbl val="1"/>
      </c:catAx>
      <c:valAx>
        <c:axId val="2094734552"/>
        <c:scaling>
          <c:orientation val="minMax"/>
          <c:max val="27"/>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1" i="0" u="none" strike="noStrike" kern="1200" baseline="0">
                    <a:solidFill>
                      <a:schemeClr val="tx1">
                        <a:lumMod val="65000"/>
                        <a:lumOff val="35000"/>
                      </a:schemeClr>
                    </a:solidFill>
                    <a:latin typeface="+mn-lt"/>
                    <a:ea typeface="+mn-ea"/>
                    <a:cs typeface="+mn-cs"/>
                  </a:defRPr>
                </a:pPr>
                <a:r>
                  <a:rPr lang="en-US" b="1" dirty="0">
                    <a:solidFill>
                      <a:schemeClr val="tx1"/>
                    </a:solidFill>
                  </a:rPr>
                  <a:t>AVG</a:t>
                </a:r>
                <a:r>
                  <a:rPr lang="en-US" b="1" baseline="0" dirty="0">
                    <a:solidFill>
                      <a:schemeClr val="tx1"/>
                    </a:solidFill>
                  </a:rPr>
                  <a:t> Unemployment</a:t>
                </a:r>
                <a:endParaRPr lang="en-US" b="1" dirty="0">
                  <a:solidFill>
                    <a:schemeClr val="tx1"/>
                  </a:solidFill>
                </a:endParaRPr>
              </a:p>
            </c:rich>
          </c:tx>
          <c:layout>
            <c:manualLayout>
              <c:xMode val="edge"/>
              <c:yMode val="edge"/>
              <c:x val="5.0968399592252805E-3"/>
              <c:y val="0.26915524448332845"/>
            </c:manualLayout>
          </c:layout>
          <c:overlay val="0"/>
          <c:spPr>
            <a:noFill/>
            <a:ln>
              <a:noFill/>
            </a:ln>
            <a:effectLst/>
          </c:spPr>
          <c:txPr>
            <a:bodyPr rot="-5400000" spcFirstLastPara="1" vertOverflow="ellipsis" vert="horz" wrap="square" anchor="ctr" anchorCtr="1"/>
            <a:lstStyle/>
            <a:p>
              <a:pPr>
                <a:defRPr sz="1330" b="1" i="0" u="none" strike="noStrike" kern="1200" baseline="0">
                  <a:solidFill>
                    <a:schemeClr val="tx1">
                      <a:lumMod val="65000"/>
                      <a:lumOff val="35000"/>
                    </a:schemeClr>
                  </a:solidFill>
                  <a:latin typeface="+mn-lt"/>
                  <a:ea typeface="+mn-ea"/>
                  <a:cs typeface="+mn-cs"/>
                </a:defRPr>
              </a:pPr>
              <a:endParaRPr lang="en-US"/>
            </a:p>
          </c:txPr>
        </c:title>
        <c:numFmt formatCode="General"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94734554"/>
        <c:crosses val="autoZero"/>
        <c:crossBetween val="between"/>
      </c:valAx>
      <c:spPr>
        <a:noFill/>
        <a:ln>
          <a:noFill/>
        </a:ln>
        <a:effectLst/>
      </c:spPr>
    </c:plotArea>
    <c:legend>
      <c:legendPos val="b"/>
      <c:layout>
        <c:manualLayout>
          <c:xMode val="edge"/>
          <c:yMode val="edge"/>
          <c:x val="0.37748440848563658"/>
          <c:y val="0.9179917139616065"/>
          <c:w val="0.3775490219685842"/>
          <c:h val="5.6958185837992698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span"/>
    <c:showDLblsOverMax val="1"/>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Aptos"/>
                <a:ea typeface="+mn-ea"/>
                <a:cs typeface="+mn-cs"/>
              </a:defRPr>
            </a:pPr>
            <a:r>
              <a:rPr lang="en-US" sz="1600" b="1">
                <a:solidFill>
                  <a:sysClr val="windowText" lastClr="000000"/>
                </a:solidFill>
                <a:latin typeface="Aptos"/>
              </a:rPr>
              <a:t>Education</a:t>
            </a:r>
            <a:r>
              <a:rPr lang="en-US" sz="1600" b="1" baseline="0">
                <a:solidFill>
                  <a:sysClr val="windowText" lastClr="000000"/>
                </a:solidFill>
                <a:latin typeface="Aptos"/>
              </a:rPr>
              <a:t> Vs Unemployment</a:t>
            </a:r>
            <a:r>
              <a:rPr lang="en-US" sz="1600" b="1">
                <a:solidFill>
                  <a:sysClr val="windowText" lastClr="000000"/>
                </a:solidFill>
                <a:latin typeface="Aptos"/>
              </a:rPr>
              <a:t>(%)</a:t>
            </a:r>
          </a:p>
        </c:rich>
      </c:tx>
      <c:layout>
        <c:manualLayout>
          <c:xMode val="edge"/>
          <c:yMode val="edge"/>
          <c:x val="0.35276491695339929"/>
          <c:y val="3.1242899341058849E-2"/>
        </c:manualLayout>
      </c:layout>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Aptos"/>
              <a:ea typeface="+mn-ea"/>
              <a:cs typeface="+mn-cs"/>
            </a:defRPr>
          </a:pPr>
          <a:endParaRPr lang="en-US"/>
        </a:p>
      </c:txPr>
    </c:title>
    <c:autoTitleDeleted val="0"/>
    <c:plotArea>
      <c:layout/>
      <c:scatterChart>
        <c:scatterStyle val="lineMarker"/>
        <c:varyColors val="0"/>
        <c:ser>
          <c:idx val="0"/>
          <c:order val="0"/>
          <c:tx>
            <c:strRef>
              <c:f>'[UNEMPLOYMENT Analyses 2015.xlsx]unemployment vs education'!$E$1</c:f>
              <c:strCache>
                <c:ptCount val="1"/>
                <c:pt idx="0">
                  <c:v>Total (% of government expenditure)</c:v>
                </c:pt>
              </c:strCache>
            </c:strRef>
          </c:tx>
          <c:spPr>
            <a:ln w="19050" cap="rnd">
              <a:noFill/>
              <a:round/>
            </a:ln>
            <a:effectLst/>
          </c:spPr>
          <c:marker>
            <c:symbol val="circle"/>
            <c:size val="5"/>
            <c:spPr>
              <a:solidFill>
                <a:schemeClr val="dk1">
                  <a:tint val="88500"/>
                </a:schemeClr>
              </a:solidFill>
              <a:ln w="9525">
                <a:solidFill>
                  <a:schemeClr val="dk1">
                    <a:tint val="88500"/>
                  </a:schemeClr>
                </a:solidFill>
              </a:ln>
              <a:effectLst/>
            </c:spPr>
          </c:marker>
          <c:trendline>
            <c:spPr>
              <a:ln w="19050" cap="rnd">
                <a:solidFill>
                  <a:schemeClr val="dk1">
                    <a:tint val="88500"/>
                  </a:schemeClr>
                </a:solidFill>
                <a:prstDash val="sysDot"/>
              </a:ln>
              <a:effectLst/>
            </c:spPr>
            <c:trendlineType val="linear"/>
            <c:dispRSqr val="1"/>
            <c:dispEq val="1"/>
            <c:trendlineLbl>
              <c:numFmt formatCode="General" sourceLinked="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rendlineLbl>
          </c:trendline>
          <c:trendline>
            <c:spPr>
              <a:ln w="19050" cap="rnd">
                <a:solidFill>
                  <a:schemeClr val="tx1"/>
                </a:solidFill>
                <a:prstDash val="sysDot"/>
              </a:ln>
              <a:effectLst/>
            </c:spPr>
            <c:trendlineType val="linear"/>
            <c:dispRSqr val="0"/>
            <c:dispEq val="0"/>
          </c:trendline>
          <c:xVal>
            <c:numRef>
              <c:f>'[UNEMPLOYMENT Analyses 2015.xlsx]unemployment vs education'!$D$2:$D$54</c:f>
              <c:numCache>
                <c:formatCode>0.0</c:formatCode>
                <c:ptCount val="53"/>
                <c:pt idx="0">
                  <c:v>13.2425</c:v>
                </c:pt>
                <c:pt idx="1">
                  <c:v>7.3964999999999996</c:v>
                </c:pt>
                <c:pt idx="2">
                  <c:v>2.0095000000000001</c:v>
                </c:pt>
                <c:pt idx="3">
                  <c:v>20.619999999999997</c:v>
                </c:pt>
                <c:pt idx="4">
                  <c:v>4.3319999999999999</c:v>
                </c:pt>
                <c:pt idx="5">
                  <c:v>1.6145</c:v>
                </c:pt>
                <c:pt idx="6">
                  <c:v>3.5830000000000002</c:v>
                </c:pt>
                <c:pt idx="7">
                  <c:v>11.8675</c:v>
                </c:pt>
                <c:pt idx="8">
                  <c:v>5.6905000000000001</c:v>
                </c:pt>
                <c:pt idx="9">
                  <c:v>1.0154999999999998</c:v>
                </c:pt>
                <c:pt idx="10">
                  <c:v>8.6344999999999992</c:v>
                </c:pt>
                <c:pt idx="11">
                  <c:v>20.459499999999998</c:v>
                </c:pt>
                <c:pt idx="12">
                  <c:v>3.2895000000000003</c:v>
                </c:pt>
                <c:pt idx="13">
                  <c:v>4.4329999999999998</c:v>
                </c:pt>
                <c:pt idx="14">
                  <c:v>29.6905</c:v>
                </c:pt>
                <c:pt idx="15">
                  <c:v>16.988500000000002</c:v>
                </c:pt>
                <c:pt idx="16">
                  <c:v>23.382000000000001</c:v>
                </c:pt>
                <c:pt idx="17">
                  <c:v>2.3199999999999998</c:v>
                </c:pt>
                <c:pt idx="18">
                  <c:v>21.907499999999999</c:v>
                </c:pt>
                <c:pt idx="19">
                  <c:v>9.8330000000000002</c:v>
                </c:pt>
                <c:pt idx="20">
                  <c:v>6.7949999999999999</c:v>
                </c:pt>
                <c:pt idx="21">
                  <c:v>4.9399999999999995</c:v>
                </c:pt>
                <c:pt idx="22">
                  <c:v>5.9165000000000001</c:v>
                </c:pt>
                <c:pt idx="23">
                  <c:v>2.7815000000000003</c:v>
                </c:pt>
                <c:pt idx="24">
                  <c:v>23.979500000000002</c:v>
                </c:pt>
                <c:pt idx="25">
                  <c:v>2.0635000000000003</c:v>
                </c:pt>
                <c:pt idx="26">
                  <c:v>1.79</c:v>
                </c:pt>
                <c:pt idx="27">
                  <c:v>5.9049999999999994</c:v>
                </c:pt>
                <c:pt idx="28">
                  <c:v>7.84</c:v>
                </c:pt>
                <c:pt idx="29">
                  <c:v>10.651</c:v>
                </c:pt>
                <c:pt idx="30">
                  <c:v>8.0045000000000002</c:v>
                </c:pt>
                <c:pt idx="31">
                  <c:v>9.76</c:v>
                </c:pt>
                <c:pt idx="32">
                  <c:v>3.4180000000000001</c:v>
                </c:pt>
                <c:pt idx="33">
                  <c:v>20.952500000000001</c:v>
                </c:pt>
                <c:pt idx="34">
                  <c:v>0.51849999999999996</c:v>
                </c:pt>
                <c:pt idx="35">
                  <c:v>4.3715000000000002</c:v>
                </c:pt>
                <c:pt idx="36">
                  <c:v>1.1455000000000002</c:v>
                </c:pt>
                <c:pt idx="37">
                  <c:v>15.359500000000001</c:v>
                </c:pt>
                <c:pt idx="38">
                  <c:v>6.8505000000000003</c:v>
                </c:pt>
                <c:pt idx="39">
                  <c:v>4.7394999999999996</c:v>
                </c:pt>
                <c:pt idx="40">
                  <c:v>20.378500000000003</c:v>
                </c:pt>
                <c:pt idx="41">
                  <c:v>25.385999999999999</c:v>
                </c:pt>
                <c:pt idx="42">
                  <c:v>12.291</c:v>
                </c:pt>
                <c:pt idx="43">
                  <c:v>2.1625000000000001</c:v>
                </c:pt>
                <c:pt idx="44">
                  <c:v>2.1829999999999998</c:v>
                </c:pt>
                <c:pt idx="45">
                  <c:v>17.281500000000001</c:v>
                </c:pt>
                <c:pt idx="46">
                  <c:v>1.9204999999999999</c:v>
                </c:pt>
                <c:pt idx="47">
                  <c:v>10.151</c:v>
                </c:pt>
                <c:pt idx="48">
                  <c:v>4.7645</c:v>
                </c:pt>
                <c:pt idx="49">
                  <c:v>8.8000000000000007</c:v>
                </c:pt>
                <c:pt idx="50">
                  <c:v>5.8970000000000002</c:v>
                </c:pt>
                <c:pt idx="51">
                  <c:v>20.8855</c:v>
                </c:pt>
                <c:pt idx="52">
                  <c:v>20.858000000000001</c:v>
                </c:pt>
              </c:numCache>
            </c:numRef>
          </c:xVal>
          <c:yVal>
            <c:numRef>
              <c:f>'[UNEMPLOYMENT Analyses 2015.xlsx]unemployment vs education'!$E$2:$E$54</c:f>
              <c:numCache>
                <c:formatCode>0.00</c:formatCode>
                <c:ptCount val="53"/>
                <c:pt idx="0">
                  <c:v>15.202961</c:v>
                </c:pt>
                <c:pt idx="1">
                  <c:v>8.9187799999999999</c:v>
                </c:pt>
                <c:pt idx="2">
                  <c:v>17.479520000000001</c:v>
                </c:pt>
                <c:pt idx="3">
                  <c:v>17.52826</c:v>
                </c:pt>
                <c:pt idx="4">
                  <c:v>18.027080000000002</c:v>
                </c:pt>
                <c:pt idx="5">
                  <c:v>27.497240000000001</c:v>
                </c:pt>
                <c:pt idx="6">
                  <c:v>13.24399</c:v>
                </c:pt>
                <c:pt idx="7">
                  <c:v>16.74823</c:v>
                </c:pt>
                <c:pt idx="8">
                  <c:v>8.3867399999999996</c:v>
                </c:pt>
                <c:pt idx="9">
                  <c:v>8.9</c:v>
                </c:pt>
                <c:pt idx="10">
                  <c:v>13.35365</c:v>
                </c:pt>
                <c:pt idx="11">
                  <c:v>7.9504000000000001</c:v>
                </c:pt>
                <c:pt idx="12">
                  <c:v>21.173220000000001</c:v>
                </c:pt>
                <c:pt idx="13">
                  <c:v>11.73837</c:v>
                </c:pt>
                <c:pt idx="14">
                  <c:v>8.5764399999999998</c:v>
                </c:pt>
                <c:pt idx="15">
                  <c:v>11.92454</c:v>
                </c:pt>
                <c:pt idx="16">
                  <c:v>16.415388</c:v>
                </c:pt>
                <c:pt idx="17">
                  <c:v>27.098710000000001</c:v>
                </c:pt>
                <c:pt idx="18">
                  <c:v>10.91316</c:v>
                </c:pt>
                <c:pt idx="19">
                  <c:v>11.03293</c:v>
                </c:pt>
                <c:pt idx="20">
                  <c:v>23.808800000000002</c:v>
                </c:pt>
                <c:pt idx="21">
                  <c:v>11.59878</c:v>
                </c:pt>
                <c:pt idx="22">
                  <c:v>13</c:v>
                </c:pt>
                <c:pt idx="23">
                  <c:v>16.664660000000001</c:v>
                </c:pt>
                <c:pt idx="24">
                  <c:v>14</c:v>
                </c:pt>
                <c:pt idx="25">
                  <c:v>11.023681</c:v>
                </c:pt>
                <c:pt idx="26">
                  <c:v>16.962910000000001</c:v>
                </c:pt>
                <c:pt idx="27">
                  <c:v>21.797899999999998</c:v>
                </c:pt>
                <c:pt idx="28">
                  <c:v>18.15549</c:v>
                </c:pt>
                <c:pt idx="29">
                  <c:v>12.843493</c:v>
                </c:pt>
                <c:pt idx="30">
                  <c:v>19.457090000000001</c:v>
                </c:pt>
                <c:pt idx="31">
                  <c:v>4.6459799999999998</c:v>
                </c:pt>
                <c:pt idx="32">
                  <c:v>19.852340000000002</c:v>
                </c:pt>
                <c:pt idx="33">
                  <c:v>22.57133</c:v>
                </c:pt>
                <c:pt idx="34">
                  <c:v>18.51219</c:v>
                </c:pt>
                <c:pt idx="35">
                  <c:v>9.2555099999999992</c:v>
                </c:pt>
                <c:pt idx="36">
                  <c:v>12.53905</c:v>
                </c:pt>
                <c:pt idx="37">
                  <c:v>11.29734</c:v>
                </c:pt>
                <c:pt idx="38">
                  <c:v>23.778269999999999</c:v>
                </c:pt>
                <c:pt idx="39">
                  <c:v>20.368483000000001</c:v>
                </c:pt>
                <c:pt idx="40">
                  <c:v>1.42113</c:v>
                </c:pt>
                <c:pt idx="41">
                  <c:v>18.699349999999999</c:v>
                </c:pt>
                <c:pt idx="42">
                  <c:v>3.2846000000000002</c:v>
                </c:pt>
                <c:pt idx="43">
                  <c:v>17.634550000000001</c:v>
                </c:pt>
                <c:pt idx="44">
                  <c:v>16.66499</c:v>
                </c:pt>
                <c:pt idx="45">
                  <c:v>22.66534</c:v>
                </c:pt>
                <c:pt idx="46">
                  <c:v>13.220079999999999</c:v>
                </c:pt>
                <c:pt idx="47">
                  <c:v>16.335599999999999</c:v>
                </c:pt>
                <c:pt idx="48">
                  <c:v>29.470829999999999</c:v>
                </c:pt>
              </c:numCache>
            </c:numRef>
          </c:yVal>
          <c:smooth val="0"/>
          <c:extLst>
            <c:ext xmlns:c16="http://schemas.microsoft.com/office/drawing/2014/chart" uri="{C3380CC4-5D6E-409C-BE32-E72D297353CC}">
              <c16:uniqueId val="{00000002-5586-41AC-B53E-4063A5768D5E}"/>
            </c:ext>
          </c:extLst>
        </c:ser>
        <c:dLbls>
          <c:showLegendKey val="0"/>
          <c:showVal val="0"/>
          <c:showCatName val="0"/>
          <c:showSerName val="0"/>
          <c:showPercent val="0"/>
          <c:showBubbleSize val="0"/>
        </c:dLbls>
        <c:axId val="327415088"/>
        <c:axId val="461168591"/>
      </c:scatterChart>
      <c:valAx>
        <c:axId val="327415088"/>
        <c:scaling>
          <c:orientation val="minMax"/>
        </c:scaling>
        <c:delete val="0"/>
        <c:axPos val="b"/>
        <c:title>
          <c:tx>
            <c:rich>
              <a:bodyPr rot="0" spcFirstLastPara="1" vertOverflow="ellipsis" vert="horz" wrap="square" anchor="ctr" anchorCtr="1"/>
              <a:lstStyle/>
              <a:p>
                <a:pPr>
                  <a:defRPr sz="1000" b="1" i="0" u="none" strike="noStrike" kern="1200" baseline="0">
                    <a:solidFill>
                      <a:sysClr val="windowText" lastClr="000000"/>
                    </a:solidFill>
                    <a:latin typeface="Aptos"/>
                    <a:ea typeface="+mn-ea"/>
                    <a:cs typeface="+mn-cs"/>
                  </a:defRPr>
                </a:pPr>
                <a:r>
                  <a:rPr lang="en-US" b="1">
                    <a:solidFill>
                      <a:sysClr val="windowText" lastClr="000000"/>
                    </a:solidFill>
                    <a:latin typeface="Aptos"/>
                  </a:rPr>
                  <a:t>AVERAGE</a:t>
                </a:r>
                <a:r>
                  <a:rPr lang="en-US" b="1" baseline="0">
                    <a:solidFill>
                      <a:sysClr val="windowText" lastClr="000000"/>
                    </a:solidFill>
                    <a:latin typeface="Aptos"/>
                  </a:rPr>
                  <a:t> UNEMPLOYMENT</a:t>
                </a:r>
                <a:endParaRPr lang="en-US" b="1">
                  <a:solidFill>
                    <a:sysClr val="windowText" lastClr="000000"/>
                  </a:solidFill>
                  <a:latin typeface="Aptos"/>
                </a:endParaRPr>
              </a:p>
            </c:rich>
          </c:tx>
          <c:layout>
            <c:manualLayout>
              <c:xMode val="edge"/>
              <c:yMode val="edge"/>
              <c:x val="0.40542337997846384"/>
              <c:y val="0.93696247452708492"/>
            </c:manualLayout>
          </c:layout>
          <c:overlay val="0"/>
          <c:spPr>
            <a:noFill/>
            <a:ln>
              <a:noFill/>
            </a:ln>
            <a:effectLst/>
          </c:spPr>
          <c:txPr>
            <a:bodyPr rot="0" spcFirstLastPara="1" vertOverflow="ellipsis" vert="horz" wrap="square" anchor="ctr" anchorCtr="1"/>
            <a:lstStyle/>
            <a:p>
              <a:pPr>
                <a:defRPr sz="1000" b="1" i="0" u="none" strike="noStrike" kern="1200" baseline="0">
                  <a:solidFill>
                    <a:sysClr val="windowText" lastClr="000000"/>
                  </a:solidFill>
                  <a:latin typeface="Aptos"/>
                  <a:ea typeface="+mn-ea"/>
                  <a:cs typeface="+mn-cs"/>
                </a:defRPr>
              </a:pPr>
              <a:endParaRPr lang="en-US"/>
            </a:p>
          </c:txPr>
        </c:title>
        <c:numFmt formatCode="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461168591"/>
        <c:crosses val="autoZero"/>
        <c:crossBetween val="midCat"/>
      </c:valAx>
      <c:valAx>
        <c:axId val="461168591"/>
        <c:scaling>
          <c:orientation val="minMax"/>
        </c:scaling>
        <c:delete val="0"/>
        <c:axPos val="l"/>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ysClr val="windowText" lastClr="000000"/>
                    </a:solidFill>
                    <a:latin typeface="Aptos"/>
                    <a:ea typeface="+mn-ea"/>
                    <a:cs typeface="+mn-cs"/>
                  </a:defRPr>
                </a:pPr>
                <a:r>
                  <a:rPr lang="en-US" b="0">
                    <a:solidFill>
                      <a:sysClr val="windowText" lastClr="000000"/>
                    </a:solidFill>
                    <a:latin typeface="Aptos"/>
                  </a:rPr>
                  <a:t>EDUCATION_SPEND</a:t>
                </a:r>
              </a:p>
            </c:rich>
          </c:tx>
          <c:layout>
            <c:manualLayout>
              <c:xMode val="edge"/>
              <c:yMode val="edge"/>
              <c:x val="9.281843643692219E-3"/>
              <c:y val="0.33359141712602897"/>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ysClr val="windowText" lastClr="000000"/>
                  </a:solidFill>
                  <a:latin typeface="Aptos"/>
                  <a:ea typeface="+mn-ea"/>
                  <a:cs typeface="+mn-cs"/>
                </a:defRPr>
              </a:pPr>
              <a:endParaRPr lang="en-US"/>
            </a:p>
          </c:txPr>
        </c:title>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327415088"/>
        <c:crosses val="autoZero"/>
        <c:crossBetween val="midCat"/>
      </c:valAx>
      <c:spPr>
        <a:noFill/>
        <a:ln>
          <a:noFill/>
        </a:ln>
        <a:effectLst/>
      </c:spPr>
    </c:plotArea>
    <c:plotVisOnly val="1"/>
    <c:dispBlanksAs val="gap"/>
    <c:showDLblsOverMax val="0"/>
  </c:chart>
  <c:spPr>
    <a:solidFill>
      <a:srgbClr val="FFFFFF"/>
    </a:solidFill>
    <a:ln w="9525" cap="flat" cmpd="sng" algn="ctr">
      <a:noFill/>
      <a:round/>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400" b="1" i="0" u="none" strike="noStrike" kern="1200" spc="0" baseline="0">
                <a:solidFill>
                  <a:sysClr val="windowText" lastClr="000000"/>
                </a:solidFill>
                <a:latin typeface="Aptos"/>
                <a:ea typeface="+mn-ea"/>
                <a:cs typeface="+mn-cs"/>
              </a:defRPr>
            </a:pPr>
            <a:r>
              <a:rPr lang="en-US" b="1" dirty="0">
                <a:solidFill>
                  <a:sysClr val="windowText" lastClr="000000"/>
                </a:solidFill>
                <a:latin typeface="Aptos"/>
              </a:rPr>
              <a:t>Electricit</a:t>
            </a:r>
            <a:r>
              <a:rPr lang="en-US" b="1" baseline="0" dirty="0">
                <a:solidFill>
                  <a:sysClr val="windowText" lastClr="000000"/>
                </a:solidFill>
                <a:latin typeface="Aptos"/>
              </a:rPr>
              <a:t>y Vs Unemployment</a:t>
            </a:r>
            <a:endParaRPr lang="en-US" b="1" dirty="0">
              <a:solidFill>
                <a:sysClr val="windowText" lastClr="000000"/>
              </a:solidFill>
              <a:latin typeface="Aptos"/>
            </a:endParaRPr>
          </a:p>
        </c:rich>
      </c:tx>
      <c:layout>
        <c:manualLayout>
          <c:xMode val="edge"/>
          <c:yMode val="edge"/>
          <c:x val="0.3849904742681915"/>
          <c:y val="2.096121376611491E-2"/>
        </c:manualLayout>
      </c:layout>
      <c:overlay val="0"/>
      <c:spPr>
        <a:noFill/>
        <a:ln>
          <a:noFill/>
        </a:ln>
        <a:effectLst/>
      </c:spPr>
      <c:txPr>
        <a:bodyPr rot="0" spcFirstLastPara="1" vertOverflow="ellipsis" vert="horz" wrap="square" anchor="ctr" anchorCtr="1"/>
        <a:lstStyle/>
        <a:p>
          <a:pPr>
            <a:defRPr sz="1400" b="1" i="0" u="none" strike="noStrike" kern="1200" spc="0" baseline="0">
              <a:solidFill>
                <a:sysClr val="windowText" lastClr="000000"/>
              </a:solidFill>
              <a:latin typeface="Aptos"/>
              <a:ea typeface="+mn-ea"/>
              <a:cs typeface="+mn-cs"/>
            </a:defRPr>
          </a:pPr>
          <a:endParaRPr lang="en-US"/>
        </a:p>
      </c:txPr>
    </c:title>
    <c:autoTitleDeleted val="0"/>
    <c:plotArea>
      <c:layout/>
      <c:scatterChart>
        <c:scatterStyle val="lineMarker"/>
        <c:varyColors val="0"/>
        <c:ser>
          <c:idx val="0"/>
          <c:order val="0"/>
          <c:tx>
            <c:strRef>
              <c:f>'[UNEMPLOYMENT Analyses 2015.xlsx]unemployment vs electricity'!$E$1</c:f>
              <c:strCache>
                <c:ptCount val="1"/>
                <c:pt idx="0">
                  <c:v>Electricity_Spend (% of population)</c:v>
                </c:pt>
              </c:strCache>
            </c:strRef>
          </c:tx>
          <c:spPr>
            <a:ln w="19050" cap="rnd">
              <a:noFill/>
              <a:round/>
            </a:ln>
            <a:effectLst/>
          </c:spPr>
          <c:marker>
            <c:symbol val="circle"/>
            <c:size val="5"/>
            <c:spPr>
              <a:solidFill>
                <a:srgbClr val="4F81BD"/>
              </a:solidFill>
              <a:ln w="9525">
                <a:solidFill>
                  <a:schemeClr val="accent1"/>
                </a:solidFill>
              </a:ln>
              <a:effectLst/>
            </c:spPr>
          </c:marker>
          <c:trendline>
            <c:spPr>
              <a:ln w="19050" cap="rnd">
                <a:solidFill>
                  <a:srgbClr val="2A9D8F"/>
                </a:solidFill>
                <a:prstDash val="sysDash"/>
              </a:ln>
              <a:effectLst/>
            </c:spPr>
            <c:trendlineType val="linear"/>
            <c:dispRSqr val="1"/>
            <c:dispEq val="1"/>
            <c:trendlineLbl>
              <c:layout>
                <c:manualLayout>
                  <c:x val="9.3003593320651022E-3"/>
                  <c:y val="-7.0131514121857014E-4"/>
                </c:manualLayout>
              </c:layout>
              <c:numFmt formatCode="General" sourceLinked="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rendlineLbl>
          </c:trendline>
          <c:xVal>
            <c:numRef>
              <c:f>'[UNEMPLOYMENT Analyses 2015.xlsx]unemployment vs electricity'!$D$2:$D$54</c:f>
              <c:numCache>
                <c:formatCode>0.0</c:formatCode>
                <c:ptCount val="53"/>
                <c:pt idx="0">
                  <c:v>13.2425</c:v>
                </c:pt>
                <c:pt idx="1">
                  <c:v>7.3964999999999996</c:v>
                </c:pt>
                <c:pt idx="2">
                  <c:v>2.0095000000000001</c:v>
                </c:pt>
                <c:pt idx="3">
                  <c:v>20.619999999999997</c:v>
                </c:pt>
                <c:pt idx="4">
                  <c:v>4.3319999999999999</c:v>
                </c:pt>
                <c:pt idx="5">
                  <c:v>1.6145</c:v>
                </c:pt>
                <c:pt idx="6">
                  <c:v>3.5830000000000002</c:v>
                </c:pt>
                <c:pt idx="7">
                  <c:v>11.8675</c:v>
                </c:pt>
                <c:pt idx="8">
                  <c:v>5.6905000000000001</c:v>
                </c:pt>
                <c:pt idx="9">
                  <c:v>1.0154999999999998</c:v>
                </c:pt>
                <c:pt idx="10">
                  <c:v>8.6344999999999992</c:v>
                </c:pt>
                <c:pt idx="11">
                  <c:v>20.459499999999998</c:v>
                </c:pt>
                <c:pt idx="12">
                  <c:v>3.2895000000000003</c:v>
                </c:pt>
                <c:pt idx="13">
                  <c:v>4.4329999999999998</c:v>
                </c:pt>
                <c:pt idx="14">
                  <c:v>29.6905</c:v>
                </c:pt>
                <c:pt idx="15">
                  <c:v>16.988500000000002</c:v>
                </c:pt>
                <c:pt idx="16">
                  <c:v>8.8000000000000007</c:v>
                </c:pt>
                <c:pt idx="17">
                  <c:v>5.8970000000000002</c:v>
                </c:pt>
                <c:pt idx="18">
                  <c:v>23.382000000000001</c:v>
                </c:pt>
                <c:pt idx="19">
                  <c:v>2.3199999999999998</c:v>
                </c:pt>
                <c:pt idx="20">
                  <c:v>21.907499999999999</c:v>
                </c:pt>
                <c:pt idx="21">
                  <c:v>9.8330000000000002</c:v>
                </c:pt>
                <c:pt idx="22">
                  <c:v>6.7949999999999999</c:v>
                </c:pt>
                <c:pt idx="23">
                  <c:v>4.9399999999999995</c:v>
                </c:pt>
                <c:pt idx="24">
                  <c:v>5.9165000000000001</c:v>
                </c:pt>
                <c:pt idx="25">
                  <c:v>2.7815000000000003</c:v>
                </c:pt>
                <c:pt idx="26">
                  <c:v>23.979500000000002</c:v>
                </c:pt>
                <c:pt idx="27">
                  <c:v>2.0635000000000003</c:v>
                </c:pt>
                <c:pt idx="28">
                  <c:v>20.8855</c:v>
                </c:pt>
                <c:pt idx="29">
                  <c:v>1.79</c:v>
                </c:pt>
                <c:pt idx="30">
                  <c:v>5.9049999999999994</c:v>
                </c:pt>
                <c:pt idx="31">
                  <c:v>7.84</c:v>
                </c:pt>
                <c:pt idx="32">
                  <c:v>10.651</c:v>
                </c:pt>
                <c:pt idx="33">
                  <c:v>8.0045000000000002</c:v>
                </c:pt>
                <c:pt idx="34">
                  <c:v>9.76</c:v>
                </c:pt>
                <c:pt idx="35">
                  <c:v>3.4180000000000001</c:v>
                </c:pt>
                <c:pt idx="36">
                  <c:v>20.952500000000001</c:v>
                </c:pt>
                <c:pt idx="37">
                  <c:v>0.51849999999999996</c:v>
                </c:pt>
                <c:pt idx="38">
                  <c:v>4.3715000000000002</c:v>
                </c:pt>
                <c:pt idx="39">
                  <c:v>1.1455000000000002</c:v>
                </c:pt>
                <c:pt idx="40">
                  <c:v>15.359500000000001</c:v>
                </c:pt>
                <c:pt idx="41">
                  <c:v>6.8505000000000003</c:v>
                </c:pt>
                <c:pt idx="42">
                  <c:v>4.7394999999999996</c:v>
                </c:pt>
                <c:pt idx="43">
                  <c:v>20.378500000000003</c:v>
                </c:pt>
                <c:pt idx="44">
                  <c:v>25.385999999999999</c:v>
                </c:pt>
                <c:pt idx="45">
                  <c:v>12.291</c:v>
                </c:pt>
                <c:pt idx="46">
                  <c:v>20.858000000000001</c:v>
                </c:pt>
                <c:pt idx="47">
                  <c:v>2.1625000000000001</c:v>
                </c:pt>
                <c:pt idx="48">
                  <c:v>2.1829999999999998</c:v>
                </c:pt>
                <c:pt idx="49">
                  <c:v>17.281500000000001</c:v>
                </c:pt>
                <c:pt idx="50">
                  <c:v>1.9204999999999999</c:v>
                </c:pt>
                <c:pt idx="51">
                  <c:v>10.151</c:v>
                </c:pt>
                <c:pt idx="52">
                  <c:v>4.7645</c:v>
                </c:pt>
              </c:numCache>
            </c:numRef>
          </c:xVal>
          <c:yVal>
            <c:numRef>
              <c:f>'[UNEMPLOYMENT Analyses 2015.xlsx]unemployment vs electricity'!$E$2:$E$54</c:f>
              <c:numCache>
                <c:formatCode>0.0</c:formatCode>
                <c:ptCount val="53"/>
                <c:pt idx="0">
                  <c:v>99.186660000000003</c:v>
                </c:pt>
                <c:pt idx="1">
                  <c:v>42</c:v>
                </c:pt>
                <c:pt idx="2">
                  <c:v>29.62</c:v>
                </c:pt>
                <c:pt idx="3">
                  <c:v>62.13</c:v>
                </c:pt>
                <c:pt idx="4">
                  <c:v>16.076975000000001</c:v>
                </c:pt>
                <c:pt idx="5">
                  <c:v>8.4276520000000001</c:v>
                </c:pt>
                <c:pt idx="6">
                  <c:v>58.595592000000003</c:v>
                </c:pt>
                <c:pt idx="7">
                  <c:v>86.357839999999996</c:v>
                </c:pt>
                <c:pt idx="8">
                  <c:v>12.727029999999999</c:v>
                </c:pt>
                <c:pt idx="9">
                  <c:v>7.7</c:v>
                </c:pt>
                <c:pt idx="10">
                  <c:v>74.571979999999996</c:v>
                </c:pt>
                <c:pt idx="11">
                  <c:v>44.401649999999997</c:v>
                </c:pt>
                <c:pt idx="12">
                  <c:v>62.6</c:v>
                </c:pt>
                <c:pt idx="13">
                  <c:v>16.148243000000001</c:v>
                </c:pt>
                <c:pt idx="14">
                  <c:v>57.578564</c:v>
                </c:pt>
                <c:pt idx="15">
                  <c:v>99.3</c:v>
                </c:pt>
                <c:pt idx="16">
                  <c:v>66.040980000000005</c:v>
                </c:pt>
                <c:pt idx="17">
                  <c:v>46.032240000000002</c:v>
                </c:pt>
                <c:pt idx="18">
                  <c:v>64.012410000000003</c:v>
                </c:pt>
                <c:pt idx="19">
                  <c:v>29</c:v>
                </c:pt>
                <c:pt idx="20">
                  <c:v>87.376859999999994</c:v>
                </c:pt>
                <c:pt idx="21">
                  <c:v>54.561990000000002</c:v>
                </c:pt>
                <c:pt idx="22">
                  <c:v>74.07884</c:v>
                </c:pt>
                <c:pt idx="23">
                  <c:v>34.74512</c:v>
                </c:pt>
                <c:pt idx="24">
                  <c:v>20.053153999999999</c:v>
                </c:pt>
                <c:pt idx="25">
                  <c:v>41.6</c:v>
                </c:pt>
                <c:pt idx="26">
                  <c:v>31.677333999999998</c:v>
                </c:pt>
                <c:pt idx="27">
                  <c:v>15.161735999999999</c:v>
                </c:pt>
                <c:pt idx="28">
                  <c:v>73.428569999999993</c:v>
                </c:pt>
                <c:pt idx="29">
                  <c:v>23.005934</c:v>
                </c:pt>
                <c:pt idx="30">
                  <c:v>10.8</c:v>
                </c:pt>
                <c:pt idx="31">
                  <c:v>37.6</c:v>
                </c:pt>
                <c:pt idx="32">
                  <c:v>39.5</c:v>
                </c:pt>
                <c:pt idx="33">
                  <c:v>99.361609999999999</c:v>
                </c:pt>
                <c:pt idx="34">
                  <c:v>97.3</c:v>
                </c:pt>
                <c:pt idx="35">
                  <c:v>24</c:v>
                </c:pt>
                <c:pt idx="36">
                  <c:v>51.6</c:v>
                </c:pt>
                <c:pt idx="37">
                  <c:v>16.600000000000001</c:v>
                </c:pt>
                <c:pt idx="38">
                  <c:v>52.5</c:v>
                </c:pt>
                <c:pt idx="39">
                  <c:v>22.8</c:v>
                </c:pt>
                <c:pt idx="40">
                  <c:v>67.249300000000005</c:v>
                </c:pt>
                <c:pt idx="41">
                  <c:v>60.5</c:v>
                </c:pt>
                <c:pt idx="42">
                  <c:v>19.534535999999999</c:v>
                </c:pt>
                <c:pt idx="43">
                  <c:v>51.134860000000003</c:v>
                </c:pt>
                <c:pt idx="44">
                  <c:v>85.3</c:v>
                </c:pt>
                <c:pt idx="45">
                  <c:v>4.6013400000000004</c:v>
                </c:pt>
                <c:pt idx="46">
                  <c:v>46.903106999999999</c:v>
                </c:pt>
                <c:pt idx="47">
                  <c:v>26.170636999999999</c:v>
                </c:pt>
                <c:pt idx="48">
                  <c:v>44.647590000000001</c:v>
                </c:pt>
                <c:pt idx="49">
                  <c:v>99.9</c:v>
                </c:pt>
                <c:pt idx="50">
                  <c:v>18.5</c:v>
                </c:pt>
                <c:pt idx="51">
                  <c:v>31.1</c:v>
                </c:pt>
                <c:pt idx="52">
                  <c:v>33.700000000000003</c:v>
                </c:pt>
              </c:numCache>
            </c:numRef>
          </c:yVal>
          <c:smooth val="0"/>
          <c:extLst>
            <c:ext xmlns:c16="http://schemas.microsoft.com/office/drawing/2014/chart" uri="{C3380CC4-5D6E-409C-BE32-E72D297353CC}">
              <c16:uniqueId val="{00000001-A47A-4967-B875-8D47ACFA9D4D}"/>
            </c:ext>
          </c:extLst>
        </c:ser>
        <c:dLbls>
          <c:showLegendKey val="0"/>
          <c:showVal val="0"/>
          <c:showCatName val="0"/>
          <c:showSerName val="0"/>
          <c:showPercent val="0"/>
          <c:showBubbleSize val="0"/>
        </c:dLbls>
        <c:axId val="22358447"/>
        <c:axId val="22348047"/>
      </c:scatterChart>
      <c:valAx>
        <c:axId val="22358447"/>
        <c:scaling>
          <c:orientation val="minMax"/>
        </c:scaling>
        <c:delete val="0"/>
        <c:axPos val="b"/>
        <c:title>
          <c:tx>
            <c:rich>
              <a:bodyPr rot="0" spcFirstLastPara="1" vertOverflow="ellipsis" vert="horz" wrap="square" anchor="ctr" anchorCtr="1"/>
              <a:lstStyle/>
              <a:p>
                <a:pPr>
                  <a:defRPr sz="1000" b="0" i="0" u="none" strike="noStrike" kern="1200" baseline="0">
                    <a:solidFill>
                      <a:sysClr val="windowText" lastClr="000000"/>
                    </a:solidFill>
                    <a:latin typeface="Aptos"/>
                    <a:ea typeface="+mn-ea"/>
                    <a:cs typeface="+mn-cs"/>
                  </a:defRPr>
                </a:pPr>
                <a:r>
                  <a:rPr lang="en-US" b="1">
                    <a:solidFill>
                      <a:sysClr val="windowText" lastClr="000000"/>
                    </a:solidFill>
                    <a:latin typeface="Aptos"/>
                  </a:rPr>
                  <a:t>Average Unemployment</a:t>
                </a:r>
              </a:p>
            </c:rich>
          </c:tx>
          <c:overlay val="0"/>
          <c:spPr>
            <a:noFill/>
            <a:ln>
              <a:noFill/>
            </a:ln>
            <a:effectLst/>
          </c:spPr>
          <c:txPr>
            <a:bodyPr rot="0" spcFirstLastPara="1" vertOverflow="ellipsis" vert="horz" wrap="square" anchor="ctr" anchorCtr="1"/>
            <a:lstStyle/>
            <a:p>
              <a:pPr>
                <a:defRPr sz="1000" b="0" i="0" u="none" strike="noStrike" kern="1200" baseline="0">
                  <a:solidFill>
                    <a:sysClr val="windowText" lastClr="000000"/>
                  </a:solidFill>
                  <a:latin typeface="Aptos"/>
                  <a:ea typeface="+mn-ea"/>
                  <a:cs typeface="+mn-cs"/>
                </a:defRPr>
              </a:pPr>
              <a:endParaRPr lang="en-US"/>
            </a:p>
          </c:txPr>
        </c:title>
        <c:numFmt formatCode="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22348047"/>
        <c:crosses val="autoZero"/>
        <c:crossBetween val="midCat"/>
      </c:valAx>
      <c:valAx>
        <c:axId val="22348047"/>
        <c:scaling>
          <c:orientation val="minMax"/>
        </c:scaling>
        <c:delete val="0"/>
        <c:axPos val="l"/>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ysClr val="windowText" lastClr="000000"/>
                    </a:solidFill>
                    <a:latin typeface="Aptos"/>
                    <a:ea typeface="+mn-ea"/>
                    <a:cs typeface="+mn-cs"/>
                  </a:defRPr>
                </a:pPr>
                <a:r>
                  <a:rPr lang="en-US" b="1">
                    <a:solidFill>
                      <a:sysClr val="windowText" lastClr="000000"/>
                    </a:solidFill>
                    <a:latin typeface="Aptos"/>
                  </a:rPr>
                  <a:t>Electricity_Spend</a:t>
                </a:r>
              </a:p>
            </c:rich>
          </c:tx>
          <c:overlay val="0"/>
          <c:spPr>
            <a:noFill/>
            <a:ln>
              <a:noFill/>
            </a:ln>
            <a:effectLst/>
          </c:spPr>
          <c:txPr>
            <a:bodyPr rot="-5400000" spcFirstLastPara="1" vertOverflow="ellipsis" vert="horz" wrap="square" anchor="ctr" anchorCtr="1"/>
            <a:lstStyle/>
            <a:p>
              <a:pPr>
                <a:defRPr sz="1000" b="0" i="0" u="none" strike="noStrike" kern="1200" baseline="0">
                  <a:solidFill>
                    <a:sysClr val="windowText" lastClr="000000"/>
                  </a:solidFill>
                  <a:latin typeface="Aptos"/>
                  <a:ea typeface="+mn-ea"/>
                  <a:cs typeface="+mn-cs"/>
                </a:defRPr>
              </a:pPr>
              <a:endParaRPr lang="en-US"/>
            </a:p>
          </c:txPr>
        </c:title>
        <c:numFmt formatCode="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22358447"/>
        <c:crosses val="autoZero"/>
        <c:crossBetween val="midCat"/>
      </c:valAx>
      <c:spPr>
        <a:noFill/>
        <a:ln>
          <a:noFill/>
        </a:ln>
        <a:effectLst/>
      </c:spPr>
    </c:plotArea>
    <c:plotVisOnly val="1"/>
    <c:dispBlanksAs val="gap"/>
    <c:showDLblsOverMax val="0"/>
  </c:chart>
  <c:spPr>
    <a:solidFill>
      <a:srgbClr val="FFFFFF"/>
    </a:solidFill>
    <a:ln w="9525" cap="flat" cmpd="sng" algn="ctr">
      <a:noFill/>
      <a:round/>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162537"/>
                </a:solidFill>
                <a:latin typeface="Arial"/>
              </a:defRPr>
            </a:pPr>
            <a:r>
              <a:rPr lang="en-US" sz="1000" b="0" i="0" u="none" strike="noStrike">
                <a:solidFill>
                  <a:srgbClr val="162537"/>
                </a:solidFill>
                <a:latin typeface="Arial"/>
              </a:rPr>
              <a:t>Education Group vs Avg Unemployment</a:t>
            </a:r>
          </a:p>
        </c:rich>
      </c:tx>
      <c:overlay val="0"/>
    </c:title>
    <c:autoTitleDeleted val="0"/>
    <c:plotArea>
      <c:layout/>
      <c:barChart>
        <c:barDir val="col"/>
        <c:grouping val="clustered"/>
        <c:varyColors val="0"/>
        <c:ser>
          <c:idx val="0"/>
          <c:order val="0"/>
          <c:tx>
            <c:strRef>
              <c:f>Sheet1!$B$1</c:f>
              <c:strCache>
                <c:ptCount val="1"/>
                <c:pt idx="0">
                  <c:v>Avg Unemployment (%)</c:v>
                </c:pt>
              </c:strCache>
            </c:strRef>
          </c:tx>
          <c:spPr>
            <a:solidFill>
              <a:srgbClr val="1A7A50"/>
            </a:solidFill>
            <a:effectLst/>
          </c:spPr>
          <c:invertIfNegative val="0"/>
          <c:dPt>
            <c:idx val="0"/>
            <c:invertIfNegative val="0"/>
            <c:bubble3D val="0"/>
            <c:spPr>
              <a:solidFill>
                <a:srgbClr val="1A7A50"/>
              </a:solidFill>
              <a:effectLst/>
            </c:spPr>
            <c:extLst>
              <c:ext xmlns:c16="http://schemas.microsoft.com/office/drawing/2014/chart" uri="{C3380CC4-5D6E-409C-BE32-E72D297353CC}">
                <c16:uniqueId val="{00000001-8F66-4A68-82C8-398D7BD1A673}"/>
              </c:ext>
            </c:extLst>
          </c:dPt>
          <c:dPt>
            <c:idx val="1"/>
            <c:invertIfNegative val="0"/>
            <c:bubble3D val="0"/>
            <c:spPr>
              <a:solidFill>
                <a:srgbClr val="B52B2B"/>
              </a:solidFill>
              <a:effectLst/>
            </c:spPr>
            <c:extLst>
              <c:ext xmlns:c16="http://schemas.microsoft.com/office/drawing/2014/chart" uri="{C3380CC4-5D6E-409C-BE32-E72D297353CC}">
                <c16:uniqueId val="{00000003-8F66-4A68-82C8-398D7BD1A673}"/>
              </c:ext>
            </c:extLst>
          </c:dPt>
          <c:dPt>
            <c:idx val="2"/>
            <c:invertIfNegative val="0"/>
            <c:bubble3D val="0"/>
            <c:spPr>
              <a:solidFill>
                <a:srgbClr val="607B8A"/>
              </a:solidFill>
              <a:effectLst/>
            </c:spPr>
            <c:extLst>
              <c:ext xmlns:c16="http://schemas.microsoft.com/office/drawing/2014/chart" uri="{C3380CC4-5D6E-409C-BE32-E72D297353CC}">
                <c16:uniqueId val="{00000005-8F66-4A68-82C8-398D7BD1A673}"/>
              </c:ext>
            </c:extLst>
          </c:dPt>
          <c:dLbls>
            <c:delete val="1"/>
          </c:dLbls>
          <c:cat>
            <c:strRef>
              <c:f>Sheet1!$A$2:$A$4</c:f>
              <c:strCache>
                <c:ptCount val="3"/>
                <c:pt idx="0">
                  <c:v>HIGH Investment</c:v>
                </c:pt>
                <c:pt idx="1">
                  <c:v>Low Investment</c:v>
                </c:pt>
                <c:pt idx="2">
                  <c:v>Continental Avg</c:v>
                </c:pt>
              </c:strCache>
            </c:strRef>
          </c:cat>
          <c:val>
            <c:numRef>
              <c:f>Sheet1!$B$2:$B$4</c:f>
              <c:numCache>
                <c:formatCode>General</c:formatCode>
                <c:ptCount val="3"/>
                <c:pt idx="0">
                  <c:v>8.24</c:v>
                </c:pt>
                <c:pt idx="1">
                  <c:v>11.07</c:v>
                </c:pt>
                <c:pt idx="2">
                  <c:v>9.68</c:v>
                </c:pt>
              </c:numCache>
            </c:numRef>
          </c:val>
          <c:extLst>
            <c:ext xmlns:c16="http://schemas.microsoft.com/office/drawing/2014/chart" uri="{C3380CC4-5D6E-409C-BE32-E72D297353CC}">
              <c16:uniqueId val="{00000006-8F66-4A68-82C8-398D7BD1A673}"/>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162537"/>
                </a:solidFill>
                <a:latin typeface="Arial"/>
              </a:defRPr>
            </a:pPr>
            <a:endParaRPr lang="en-US"/>
          </a:p>
        </c:txPr>
        <c:crossAx val="2094734552"/>
        <c:crosses val="autoZero"/>
        <c:auto val="1"/>
        <c:lblAlgn val="ctr"/>
        <c:lblOffset val="100"/>
        <c:noMultiLvlLbl val="1"/>
      </c:catAx>
      <c:valAx>
        <c:axId val="2094734552"/>
        <c:scaling>
          <c:orientation val="minMax"/>
          <c:max val="14"/>
        </c:scaling>
        <c:delete val="0"/>
        <c:axPos val="l"/>
        <c:majorGridlines>
          <c:spPr>
            <a:ln w="6350" cap="flat">
              <a:solidFill>
                <a:srgbClr val="BDD4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F7A8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162537"/>
                </a:solidFill>
                <a:latin typeface="Arial"/>
              </a:defRPr>
            </a:pPr>
            <a:r>
              <a:rPr lang="en-US" sz="1000" b="0" i="0" u="none" strike="noStrike">
                <a:solidFill>
                  <a:srgbClr val="162537"/>
                </a:solidFill>
                <a:latin typeface="Arial"/>
              </a:rPr>
              <a:t>Electricity Access Group vs Avg Unemployment</a:t>
            </a:r>
          </a:p>
        </c:rich>
      </c:tx>
      <c:overlay val="0"/>
    </c:title>
    <c:autoTitleDeleted val="0"/>
    <c:plotArea>
      <c:layout/>
      <c:barChart>
        <c:barDir val="col"/>
        <c:grouping val="clustered"/>
        <c:varyColors val="0"/>
        <c:ser>
          <c:idx val="0"/>
          <c:order val="0"/>
          <c:tx>
            <c:strRef>
              <c:f>Sheet1!$B$1</c:f>
              <c:strCache>
                <c:ptCount val="1"/>
                <c:pt idx="0">
                  <c:v>Avg Unemployment (%)</c:v>
                </c:pt>
              </c:strCache>
            </c:strRef>
          </c:tx>
          <c:spPr>
            <a:solidFill>
              <a:srgbClr val="D4782A"/>
            </a:solidFill>
            <a:effectLst/>
          </c:spPr>
          <c:invertIfNegative val="0"/>
          <c:dPt>
            <c:idx val="0"/>
            <c:invertIfNegative val="0"/>
            <c:bubble3D val="0"/>
            <c:spPr>
              <a:solidFill>
                <a:srgbClr val="1A7A50"/>
              </a:solidFill>
              <a:effectLst/>
            </c:spPr>
            <c:extLst>
              <c:ext xmlns:c16="http://schemas.microsoft.com/office/drawing/2014/chart" uri="{C3380CC4-5D6E-409C-BE32-E72D297353CC}">
                <c16:uniqueId val="{00000001-5265-406B-AB02-0F29D55DC03B}"/>
              </c:ext>
            </c:extLst>
          </c:dPt>
          <c:dPt>
            <c:idx val="1"/>
            <c:invertIfNegative val="0"/>
            <c:bubble3D val="0"/>
            <c:spPr>
              <a:solidFill>
                <a:srgbClr val="B52B2B"/>
              </a:solidFill>
              <a:effectLst/>
            </c:spPr>
            <c:extLst>
              <c:ext xmlns:c16="http://schemas.microsoft.com/office/drawing/2014/chart" uri="{C3380CC4-5D6E-409C-BE32-E72D297353CC}">
                <c16:uniqueId val="{00000003-5265-406B-AB02-0F29D55DC03B}"/>
              </c:ext>
            </c:extLst>
          </c:dPt>
          <c:dPt>
            <c:idx val="2"/>
            <c:invertIfNegative val="0"/>
            <c:bubble3D val="0"/>
            <c:spPr>
              <a:solidFill>
                <a:srgbClr val="607B8A"/>
              </a:solidFill>
              <a:effectLst/>
            </c:spPr>
            <c:extLst>
              <c:ext xmlns:c16="http://schemas.microsoft.com/office/drawing/2014/chart" uri="{C3380CC4-5D6E-409C-BE32-E72D297353CC}">
                <c16:uniqueId val="{00000005-5265-406B-AB02-0F29D55DC03B}"/>
              </c:ext>
            </c:extLst>
          </c:dPt>
          <c:dLbls>
            <c:delete val="1"/>
          </c:dLbls>
          <c:cat>
            <c:strRef>
              <c:f>Sheet1!$A$2:$A$4</c:f>
              <c:strCache>
                <c:ptCount val="3"/>
                <c:pt idx="0">
                  <c:v>High Electricity</c:v>
                </c:pt>
                <c:pt idx="1">
                  <c:v>Low Electricity</c:v>
                </c:pt>
                <c:pt idx="2">
                  <c:v>Continental Avg</c:v>
                </c:pt>
              </c:strCache>
            </c:strRef>
          </c:cat>
          <c:val>
            <c:numRef>
              <c:f>Sheet1!$B$2:$B$4</c:f>
              <c:numCache>
                <c:formatCode>General</c:formatCode>
                <c:ptCount val="3"/>
                <c:pt idx="0">
                  <c:v>14.18</c:v>
                </c:pt>
                <c:pt idx="1">
                  <c:v>5.66</c:v>
                </c:pt>
                <c:pt idx="2">
                  <c:v>9.68</c:v>
                </c:pt>
              </c:numCache>
            </c:numRef>
          </c:val>
          <c:extLst>
            <c:ext xmlns:c16="http://schemas.microsoft.com/office/drawing/2014/chart" uri="{C3380CC4-5D6E-409C-BE32-E72D297353CC}">
              <c16:uniqueId val="{00000006-5265-406B-AB02-0F29D55DC03B}"/>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162537"/>
                </a:solidFill>
                <a:latin typeface="Arial"/>
              </a:defRPr>
            </a:pPr>
            <a:endParaRPr lang="en-US"/>
          </a:p>
        </c:txPr>
        <c:crossAx val="2094734552"/>
        <c:crosses val="autoZero"/>
        <c:auto val="1"/>
        <c:lblAlgn val="ctr"/>
        <c:lblOffset val="100"/>
        <c:noMultiLvlLbl val="1"/>
      </c:catAx>
      <c:valAx>
        <c:axId val="2094734552"/>
        <c:scaling>
          <c:orientation val="minMax"/>
          <c:max val="18"/>
        </c:scaling>
        <c:delete val="0"/>
        <c:axPos val="l"/>
        <c:majorGridlines>
          <c:spPr>
            <a:ln w="6350" cap="flat">
              <a:solidFill>
                <a:srgbClr val="BDD4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F7A8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4.xml><?xml version="1.0" encoding="utf-8"?>
<cs:colorStyle xmlns:cs="http://schemas.microsoft.com/office/drawing/2012/chartStyle" xmlns:a="http://schemas.openxmlformats.org/drawingml/2006/main" meth="withinLinearReversed" id="21">
  <a:schemeClr val="accent1"/>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86900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904404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chart" Target="../charts/char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1">
            <a:lumMod val="95000"/>
          </a:schemeClr>
        </a:solidFill>
        <a:effectLst/>
      </p:bgPr>
    </p:bg>
    <p:spTree>
      <p:nvGrpSpPr>
        <p:cNvPr id="1" name=""/>
        <p:cNvGrpSpPr/>
        <p:nvPr/>
      </p:nvGrpSpPr>
      <p:grpSpPr>
        <a:xfrm>
          <a:off x="0" y="0"/>
          <a:ext cx="0" cy="0"/>
          <a:chOff x="0" y="0"/>
          <a:chExt cx="0" cy="0"/>
        </a:xfrm>
      </p:grpSpPr>
      <p:sp>
        <p:nvSpPr>
          <p:cNvPr id="5" name="Text 3"/>
          <p:cNvSpPr/>
          <p:nvPr/>
        </p:nvSpPr>
        <p:spPr>
          <a:xfrm>
            <a:off x="731520" y="1417320"/>
            <a:ext cx="7772400" cy="274320"/>
          </a:xfrm>
          <a:prstGeom prst="rect">
            <a:avLst/>
          </a:prstGeom>
          <a:noFill/>
          <a:ln/>
        </p:spPr>
        <p:txBody>
          <a:bodyPr wrap="square" rtlCol="0" anchor="ctr"/>
          <a:lstStyle/>
          <a:p>
            <a:pPr marL="0" indent="0">
              <a:buNone/>
            </a:pPr>
            <a:r>
              <a:rPr lang="en-US" sz="1200" b="1" i="1" kern="0" spc="150" dirty="0">
                <a:solidFill>
                  <a:srgbClr val="5B9EC9"/>
                </a:solidFill>
                <a:latin typeface="Calibri" pitchFamily="34" charset="0"/>
                <a:ea typeface="Calibri" pitchFamily="34" charset="-122"/>
                <a:cs typeface="Calibri" pitchFamily="34" charset="-120"/>
              </a:rPr>
              <a:t>HACKATHON DATA ANALYSIS  ·  ILO  /  WORLD BANK  /  UN SDG</a:t>
            </a:r>
            <a:endParaRPr lang="en-US" sz="1200" i="1" dirty="0"/>
          </a:p>
        </p:txBody>
      </p:sp>
      <p:sp>
        <p:nvSpPr>
          <p:cNvPr id="6" name="Text 4"/>
          <p:cNvSpPr/>
          <p:nvPr/>
        </p:nvSpPr>
        <p:spPr>
          <a:xfrm>
            <a:off x="731520" y="1755648"/>
            <a:ext cx="8046720" cy="2011680"/>
          </a:xfrm>
          <a:prstGeom prst="rect">
            <a:avLst/>
          </a:prstGeom>
          <a:noFill/>
          <a:ln/>
        </p:spPr>
        <p:txBody>
          <a:bodyPr wrap="square" rtlCol="0" anchor="ctr"/>
          <a:lstStyle/>
          <a:p>
            <a:pPr marL="0" indent="0">
              <a:buNone/>
            </a:pPr>
            <a:r>
              <a:rPr lang="en-US" sz="4200" b="1" dirty="0">
                <a:solidFill>
                  <a:srgbClr val="002060"/>
                </a:solidFill>
                <a:latin typeface="Cambria" pitchFamily="34" charset="0"/>
                <a:ea typeface="Cambria" pitchFamily="34" charset="-122"/>
                <a:cs typeface="Cambria" pitchFamily="34" charset="-120"/>
              </a:rPr>
              <a:t>Unravelling the Challenges</a:t>
            </a:r>
            <a:endParaRPr lang="en-US" sz="4200" dirty="0">
              <a:solidFill>
                <a:srgbClr val="002060"/>
              </a:solidFill>
            </a:endParaRPr>
          </a:p>
          <a:p>
            <a:pPr marL="0" indent="0">
              <a:buNone/>
            </a:pPr>
            <a:r>
              <a:rPr lang="en-US" sz="4200" b="1" dirty="0">
                <a:solidFill>
                  <a:srgbClr val="002060"/>
                </a:solidFill>
                <a:latin typeface="Cambria" pitchFamily="34" charset="0"/>
                <a:ea typeface="Cambria" pitchFamily="34" charset="-122"/>
                <a:cs typeface="Cambria" pitchFamily="34" charset="-120"/>
              </a:rPr>
              <a:t>of Unemployment in Africa</a:t>
            </a:r>
            <a:endParaRPr lang="en-US" sz="4200" dirty="0">
              <a:solidFill>
                <a:srgbClr val="002060"/>
              </a:solidFill>
            </a:endParaRPr>
          </a:p>
        </p:txBody>
      </p:sp>
      <p:sp>
        <p:nvSpPr>
          <p:cNvPr id="7" name="Text 5"/>
          <p:cNvSpPr/>
          <p:nvPr/>
        </p:nvSpPr>
        <p:spPr>
          <a:xfrm>
            <a:off x="731520" y="3547872"/>
            <a:ext cx="7772400" cy="804672"/>
          </a:xfrm>
          <a:prstGeom prst="rect">
            <a:avLst/>
          </a:prstGeom>
          <a:noFill/>
          <a:ln/>
        </p:spPr>
        <p:txBody>
          <a:bodyPr wrap="square" rtlCol="0" anchor="ctr"/>
          <a:lstStyle/>
          <a:p>
            <a:pPr marL="0" indent="0">
              <a:buNone/>
            </a:pPr>
            <a:r>
              <a:rPr lang="en-US" sz="1400" b="1" dirty="0">
                <a:solidFill>
                  <a:schemeClr val="accent5">
                    <a:lumMod val="50000"/>
                  </a:schemeClr>
                </a:solidFill>
                <a:latin typeface="Calibri" pitchFamily="34" charset="0"/>
                <a:ea typeface="Calibri" pitchFamily="34" charset="-122"/>
                <a:cs typeface="Calibri" pitchFamily="34" charset="-120"/>
              </a:rPr>
              <a:t>A data-driven analysis of gender disparities, socioeconomic correlation,</a:t>
            </a:r>
            <a:endParaRPr lang="en-US" sz="1400" b="1" dirty="0">
              <a:solidFill>
                <a:schemeClr val="accent5">
                  <a:lumMod val="50000"/>
                </a:schemeClr>
              </a:solidFill>
            </a:endParaRPr>
          </a:p>
          <a:p>
            <a:pPr marL="0" indent="0">
              <a:buNone/>
            </a:pPr>
            <a:r>
              <a:rPr lang="en-US" sz="1400" b="1" dirty="0">
                <a:solidFill>
                  <a:schemeClr val="accent5">
                    <a:lumMod val="50000"/>
                  </a:schemeClr>
                </a:solidFill>
                <a:latin typeface="Calibri" pitchFamily="34" charset="0"/>
                <a:ea typeface="Calibri" pitchFamily="34" charset="-122"/>
                <a:cs typeface="Calibri" pitchFamily="34" charset="-120"/>
              </a:rPr>
              <a:t>and regional gap across 53 African countries | 2015 Snapshot</a:t>
            </a:r>
            <a:endParaRPr lang="en-US" sz="1400" b="1" dirty="0">
              <a:solidFill>
                <a:schemeClr val="accent5">
                  <a:lumMod val="50000"/>
                </a:schemeClr>
              </a:solidFill>
            </a:endParaRPr>
          </a:p>
        </p:txBody>
      </p:sp>
      <p:sp>
        <p:nvSpPr>
          <p:cNvPr id="8" name="Text 6"/>
          <p:cNvSpPr/>
          <p:nvPr/>
        </p:nvSpPr>
        <p:spPr>
          <a:xfrm>
            <a:off x="731520" y="4937760"/>
            <a:ext cx="6858000" cy="320040"/>
          </a:xfrm>
          <a:prstGeom prst="rect">
            <a:avLst/>
          </a:prstGeom>
          <a:noFill/>
          <a:ln/>
        </p:spPr>
        <p:txBody>
          <a:bodyPr wrap="square" rtlCol="0" anchor="ctr"/>
          <a:lstStyle/>
          <a:p>
            <a:pPr marL="0" indent="0">
              <a:buNone/>
            </a:pPr>
            <a:r>
              <a:rPr lang="en-US" sz="1300" b="1" dirty="0">
                <a:solidFill>
                  <a:schemeClr val="accent5">
                    <a:lumMod val="50000"/>
                  </a:schemeClr>
                </a:solidFill>
                <a:latin typeface="Cambria" pitchFamily="34" charset="0"/>
                <a:ea typeface="Cambria" pitchFamily="34" charset="-122"/>
                <a:cs typeface="Cambria" pitchFamily="34" charset="-120"/>
              </a:rPr>
              <a:t>Blessing  Chiagorom |  Data Analyst Intern</a:t>
            </a:r>
            <a:endParaRPr lang="en-US" sz="1300" dirty="0">
              <a:solidFill>
                <a:schemeClr val="accent5">
                  <a:lumMod val="50000"/>
                </a:schemeClr>
              </a:solidFill>
            </a:endParaRPr>
          </a:p>
        </p:txBody>
      </p:sp>
      <p:sp>
        <p:nvSpPr>
          <p:cNvPr id="9" name="Text 7"/>
          <p:cNvSpPr/>
          <p:nvPr/>
        </p:nvSpPr>
        <p:spPr>
          <a:xfrm>
            <a:off x="731520" y="5303520"/>
            <a:ext cx="8229600" cy="256032"/>
          </a:xfrm>
          <a:prstGeom prst="rect">
            <a:avLst/>
          </a:prstGeom>
          <a:noFill/>
          <a:ln/>
        </p:spPr>
        <p:txBody>
          <a:bodyPr wrap="square" rtlCol="0" anchor="ctr"/>
          <a:lstStyle/>
          <a:p>
            <a:pPr marL="0" indent="0">
              <a:buNone/>
            </a:pPr>
            <a:r>
              <a:rPr lang="en-US" sz="1000" i="1" dirty="0">
                <a:solidFill>
                  <a:schemeClr val="tx2">
                    <a:lumMod val="75000"/>
                  </a:schemeClr>
                </a:solidFill>
                <a:latin typeface="Calibri" pitchFamily="34" charset="0"/>
                <a:ea typeface="Calibri" pitchFamily="34" charset="-122"/>
                <a:cs typeface="Calibri" pitchFamily="34" charset="-120"/>
              </a:rPr>
              <a:t>Tool: Microsoft Excel  ·  Power Query  ·  Pivot Tables  ·  VLOOKUP  ·  CORREL  ·  Conditional Formatting</a:t>
            </a:r>
            <a:endParaRPr lang="en-US" sz="1000" i="1" dirty="0">
              <a:solidFill>
                <a:schemeClr val="tx2">
                  <a:lumMod val="7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ext 0"/>
          <p:cNvSpPr/>
          <p:nvPr/>
        </p:nvSpPr>
        <p:spPr>
          <a:xfrm>
            <a:off x="457200" y="256032"/>
            <a:ext cx="11247120" cy="594360"/>
          </a:xfrm>
          <a:prstGeom prst="rect">
            <a:avLst/>
          </a:prstGeom>
          <a:noFill/>
          <a:ln/>
        </p:spPr>
        <p:txBody>
          <a:bodyPr wrap="square" rtlCol="0" anchor="ctr"/>
          <a:lstStyle/>
          <a:p>
            <a:pPr marL="0" indent="0">
              <a:buNone/>
            </a:pPr>
            <a:r>
              <a:rPr lang="en-US" sz="2000" b="1" dirty="0">
                <a:solidFill>
                  <a:srgbClr val="0E6BA8"/>
                </a:solidFill>
                <a:latin typeface="Cambria" pitchFamily="34" charset="0"/>
                <a:ea typeface="Cambria" pitchFamily="34" charset="-122"/>
                <a:cs typeface="Cambria" pitchFamily="34" charset="-120"/>
              </a:rPr>
              <a:t>Executive Summary</a:t>
            </a:r>
            <a:endParaRPr lang="en-US" sz="2000" dirty="0"/>
          </a:p>
        </p:txBody>
      </p:sp>
      <p:sp>
        <p:nvSpPr>
          <p:cNvPr id="4" name="Shape 2"/>
          <p:cNvSpPr/>
          <p:nvPr/>
        </p:nvSpPr>
        <p:spPr>
          <a:xfrm>
            <a:off x="457200" y="1307081"/>
            <a:ext cx="2066544" cy="1353312"/>
          </a:xfrm>
          <a:prstGeom prst="roundRect">
            <a:avLst>
              <a:gd name="adj" fmla="val 6757"/>
            </a:avLst>
          </a:prstGeom>
          <a:solidFill>
            <a:srgbClr val="F7FAFD"/>
          </a:solidFill>
          <a:ln w="10160">
            <a:solidFill>
              <a:srgbClr val="BDD4E6"/>
            </a:solidFill>
            <a:prstDash val="solid"/>
          </a:ln>
        </p:spPr>
      </p:sp>
      <p:sp>
        <p:nvSpPr>
          <p:cNvPr id="5" name="Text 3"/>
          <p:cNvSpPr/>
          <p:nvPr/>
        </p:nvSpPr>
        <p:spPr>
          <a:xfrm>
            <a:off x="548640" y="1408176"/>
            <a:ext cx="1883664" cy="566928"/>
          </a:xfrm>
          <a:prstGeom prst="rect">
            <a:avLst/>
          </a:prstGeom>
          <a:noFill/>
          <a:ln/>
        </p:spPr>
        <p:txBody>
          <a:bodyPr wrap="square" lIns="0" tIns="0" rIns="0" bIns="0" rtlCol="0" anchor="ctr"/>
          <a:lstStyle/>
          <a:p>
            <a:pPr marL="0" indent="0" algn="ctr">
              <a:buNone/>
            </a:pPr>
            <a:r>
              <a:rPr lang="en-US" sz="2800" b="1" dirty="0">
                <a:solidFill>
                  <a:srgbClr val="0E6BA8"/>
                </a:solidFill>
                <a:latin typeface="Cambria" pitchFamily="34" charset="0"/>
                <a:ea typeface="Cambria" pitchFamily="34" charset="-122"/>
                <a:cs typeface="Cambria" pitchFamily="34" charset="-120"/>
              </a:rPr>
              <a:t>53</a:t>
            </a:r>
            <a:endParaRPr lang="en-US" sz="2800" dirty="0"/>
          </a:p>
        </p:txBody>
      </p:sp>
      <p:sp>
        <p:nvSpPr>
          <p:cNvPr id="6" name="Text 4"/>
          <p:cNvSpPr/>
          <p:nvPr/>
        </p:nvSpPr>
        <p:spPr>
          <a:xfrm>
            <a:off x="548640" y="1993392"/>
            <a:ext cx="1883664" cy="301752"/>
          </a:xfrm>
          <a:prstGeom prst="rect">
            <a:avLst/>
          </a:prstGeom>
          <a:noFill/>
          <a:ln/>
        </p:spPr>
        <p:txBody>
          <a:bodyPr wrap="square" lIns="0" tIns="0" rIns="0" bIns="0" rtlCol="0" anchor="ctr"/>
          <a:lstStyle/>
          <a:p>
            <a:pPr marL="0" indent="0" algn="ctr">
              <a:buNone/>
            </a:pPr>
            <a:r>
              <a:rPr lang="en-US" sz="1000" b="1" dirty="0">
                <a:solidFill>
                  <a:srgbClr val="162537"/>
                </a:solidFill>
                <a:latin typeface="Calibri" pitchFamily="34" charset="0"/>
                <a:ea typeface="Calibri" pitchFamily="34" charset="-122"/>
                <a:cs typeface="Calibri" pitchFamily="34" charset="-120"/>
              </a:rPr>
              <a:t>Countries Analysed</a:t>
            </a:r>
            <a:endParaRPr lang="en-US" sz="1000" dirty="0"/>
          </a:p>
        </p:txBody>
      </p:sp>
      <p:sp>
        <p:nvSpPr>
          <p:cNvPr id="7" name="Text 5"/>
          <p:cNvSpPr/>
          <p:nvPr/>
        </p:nvSpPr>
        <p:spPr>
          <a:xfrm>
            <a:off x="548640" y="2267712"/>
            <a:ext cx="1883664" cy="237744"/>
          </a:xfrm>
          <a:prstGeom prst="rect">
            <a:avLst/>
          </a:prstGeom>
          <a:noFill/>
          <a:ln/>
        </p:spPr>
        <p:txBody>
          <a:bodyPr wrap="square" lIns="0" tIns="0" rIns="0" bIns="0" rtlCol="0" anchor="ctr"/>
          <a:lstStyle/>
          <a:p>
            <a:pPr marL="0" indent="0" algn="ctr">
              <a:buNone/>
            </a:pPr>
            <a:r>
              <a:rPr lang="en-US" sz="850" dirty="0">
                <a:solidFill>
                  <a:srgbClr val="5F7A8A"/>
                </a:solidFill>
                <a:latin typeface="Calibri" pitchFamily="34" charset="0"/>
                <a:ea typeface="Calibri" pitchFamily="34" charset="-122"/>
                <a:cs typeface="Calibri" pitchFamily="34" charset="-120"/>
              </a:rPr>
              <a:t>Africa · 2015 snapshot</a:t>
            </a:r>
            <a:endParaRPr lang="en-US" sz="850" dirty="0"/>
          </a:p>
        </p:txBody>
      </p:sp>
      <p:sp>
        <p:nvSpPr>
          <p:cNvPr id="8" name="Shape 6"/>
          <p:cNvSpPr/>
          <p:nvPr/>
        </p:nvSpPr>
        <p:spPr>
          <a:xfrm>
            <a:off x="2724912" y="1298448"/>
            <a:ext cx="2066544" cy="1353312"/>
          </a:xfrm>
          <a:prstGeom prst="roundRect">
            <a:avLst>
              <a:gd name="adj" fmla="val 6757"/>
            </a:avLst>
          </a:prstGeom>
          <a:solidFill>
            <a:srgbClr val="F7FAFD"/>
          </a:solidFill>
          <a:ln w="10160">
            <a:solidFill>
              <a:srgbClr val="BDD4E6"/>
            </a:solidFill>
            <a:prstDash val="solid"/>
          </a:ln>
        </p:spPr>
      </p:sp>
      <p:sp>
        <p:nvSpPr>
          <p:cNvPr id="9" name="Text 7"/>
          <p:cNvSpPr/>
          <p:nvPr/>
        </p:nvSpPr>
        <p:spPr>
          <a:xfrm>
            <a:off x="2816352" y="1408176"/>
            <a:ext cx="1883664" cy="566928"/>
          </a:xfrm>
          <a:prstGeom prst="rect">
            <a:avLst/>
          </a:prstGeom>
          <a:noFill/>
          <a:ln/>
        </p:spPr>
        <p:txBody>
          <a:bodyPr wrap="square" lIns="0" tIns="0" rIns="0" bIns="0" rtlCol="0" anchor="ctr"/>
          <a:lstStyle/>
          <a:p>
            <a:pPr marL="0" indent="0" algn="ctr">
              <a:buNone/>
            </a:pPr>
            <a:r>
              <a:rPr lang="en-US" sz="2800" b="1" dirty="0">
                <a:solidFill>
                  <a:srgbClr val="C0392B"/>
                </a:solidFill>
                <a:latin typeface="Cambria" pitchFamily="34" charset="0"/>
                <a:ea typeface="Cambria" pitchFamily="34" charset="-122"/>
                <a:cs typeface="Cambria" pitchFamily="34" charset="-120"/>
              </a:rPr>
              <a:t>11.2%</a:t>
            </a:r>
            <a:endParaRPr lang="en-US" sz="2800" dirty="0"/>
          </a:p>
        </p:txBody>
      </p:sp>
      <p:sp>
        <p:nvSpPr>
          <p:cNvPr id="10" name="Text 8"/>
          <p:cNvSpPr/>
          <p:nvPr/>
        </p:nvSpPr>
        <p:spPr>
          <a:xfrm>
            <a:off x="2816352" y="1993392"/>
            <a:ext cx="1883664" cy="301752"/>
          </a:xfrm>
          <a:prstGeom prst="rect">
            <a:avLst/>
          </a:prstGeom>
          <a:noFill/>
          <a:ln/>
        </p:spPr>
        <p:txBody>
          <a:bodyPr wrap="square" lIns="0" tIns="0" rIns="0" bIns="0" rtlCol="0" anchor="ctr"/>
          <a:lstStyle/>
          <a:p>
            <a:pPr marL="0" indent="0" algn="ctr">
              <a:buNone/>
            </a:pPr>
            <a:r>
              <a:rPr lang="en-US" sz="1000" b="1" dirty="0">
                <a:solidFill>
                  <a:srgbClr val="162537"/>
                </a:solidFill>
                <a:latin typeface="Calibri" pitchFamily="34" charset="0"/>
                <a:ea typeface="Calibri" pitchFamily="34" charset="-122"/>
                <a:cs typeface="Calibri" pitchFamily="34" charset="-120"/>
              </a:rPr>
              <a:t>Avg Female Unemployment</a:t>
            </a:r>
            <a:endParaRPr lang="en-US" sz="1000" dirty="0"/>
          </a:p>
        </p:txBody>
      </p:sp>
      <p:sp>
        <p:nvSpPr>
          <p:cNvPr id="11" name="Text 9"/>
          <p:cNvSpPr/>
          <p:nvPr/>
        </p:nvSpPr>
        <p:spPr>
          <a:xfrm>
            <a:off x="2816352" y="2267712"/>
            <a:ext cx="1883664" cy="237744"/>
          </a:xfrm>
          <a:prstGeom prst="rect">
            <a:avLst/>
          </a:prstGeom>
          <a:noFill/>
          <a:ln/>
        </p:spPr>
        <p:txBody>
          <a:bodyPr wrap="square" lIns="0" tIns="0" rIns="0" bIns="0" rtlCol="0" anchor="ctr"/>
          <a:lstStyle/>
          <a:p>
            <a:pPr marL="0" indent="0" algn="ctr">
              <a:buNone/>
            </a:pPr>
            <a:r>
              <a:rPr lang="en-US" sz="850" dirty="0">
                <a:solidFill>
                  <a:srgbClr val="5F7A8A"/>
                </a:solidFill>
                <a:latin typeface="Calibri" pitchFamily="34" charset="0"/>
                <a:ea typeface="Calibri" pitchFamily="34" charset="-122"/>
                <a:cs typeface="Calibri" pitchFamily="34" charset="-120"/>
              </a:rPr>
              <a:t>Continental baseline</a:t>
            </a:r>
            <a:endParaRPr lang="en-US" sz="850" dirty="0"/>
          </a:p>
        </p:txBody>
      </p:sp>
      <p:sp>
        <p:nvSpPr>
          <p:cNvPr id="12" name="Shape 10"/>
          <p:cNvSpPr/>
          <p:nvPr/>
        </p:nvSpPr>
        <p:spPr>
          <a:xfrm>
            <a:off x="4992624" y="1298448"/>
            <a:ext cx="2066544" cy="1353312"/>
          </a:xfrm>
          <a:prstGeom prst="roundRect">
            <a:avLst>
              <a:gd name="adj" fmla="val 6757"/>
            </a:avLst>
          </a:prstGeom>
          <a:solidFill>
            <a:srgbClr val="F7FAFD"/>
          </a:solidFill>
          <a:ln w="10160">
            <a:solidFill>
              <a:srgbClr val="BDD4E6"/>
            </a:solidFill>
            <a:prstDash val="solid"/>
          </a:ln>
        </p:spPr>
      </p:sp>
      <p:sp>
        <p:nvSpPr>
          <p:cNvPr id="13" name="Text 11"/>
          <p:cNvSpPr/>
          <p:nvPr/>
        </p:nvSpPr>
        <p:spPr>
          <a:xfrm>
            <a:off x="5084064" y="1408176"/>
            <a:ext cx="1883664" cy="566928"/>
          </a:xfrm>
          <a:prstGeom prst="rect">
            <a:avLst/>
          </a:prstGeom>
          <a:noFill/>
          <a:ln/>
        </p:spPr>
        <p:txBody>
          <a:bodyPr wrap="square" lIns="0" tIns="0" rIns="0" bIns="0" rtlCol="0" anchor="ctr"/>
          <a:lstStyle/>
          <a:p>
            <a:pPr marL="0" indent="0" algn="ctr">
              <a:buNone/>
            </a:pPr>
            <a:r>
              <a:rPr lang="en-US" sz="2800" b="1" dirty="0">
                <a:solidFill>
                  <a:srgbClr val="0E6BA8"/>
                </a:solidFill>
                <a:latin typeface="Cambria" pitchFamily="34" charset="0"/>
                <a:ea typeface="Cambria" pitchFamily="34" charset="-122"/>
                <a:cs typeface="Cambria" pitchFamily="34" charset="-120"/>
              </a:rPr>
              <a:t>8.2%</a:t>
            </a:r>
            <a:endParaRPr lang="en-US" sz="2800" dirty="0"/>
          </a:p>
        </p:txBody>
      </p:sp>
      <p:sp>
        <p:nvSpPr>
          <p:cNvPr id="14" name="Text 12"/>
          <p:cNvSpPr/>
          <p:nvPr/>
        </p:nvSpPr>
        <p:spPr>
          <a:xfrm>
            <a:off x="5084064" y="1993392"/>
            <a:ext cx="1883664" cy="301752"/>
          </a:xfrm>
          <a:prstGeom prst="rect">
            <a:avLst/>
          </a:prstGeom>
          <a:noFill/>
          <a:ln/>
        </p:spPr>
        <p:txBody>
          <a:bodyPr wrap="square" lIns="0" tIns="0" rIns="0" bIns="0" rtlCol="0" anchor="ctr"/>
          <a:lstStyle/>
          <a:p>
            <a:pPr marL="0" indent="0" algn="ctr">
              <a:buNone/>
            </a:pPr>
            <a:r>
              <a:rPr lang="en-US" sz="1000" b="1" dirty="0">
                <a:solidFill>
                  <a:srgbClr val="162537"/>
                </a:solidFill>
                <a:latin typeface="Calibri" pitchFamily="34" charset="0"/>
                <a:ea typeface="Calibri" pitchFamily="34" charset="-122"/>
                <a:cs typeface="Calibri" pitchFamily="34" charset="-120"/>
              </a:rPr>
              <a:t>Avg Male Unemployment</a:t>
            </a:r>
            <a:endParaRPr lang="en-US" sz="1000" dirty="0"/>
          </a:p>
        </p:txBody>
      </p:sp>
      <p:sp>
        <p:nvSpPr>
          <p:cNvPr id="15" name="Text 13"/>
          <p:cNvSpPr/>
          <p:nvPr/>
        </p:nvSpPr>
        <p:spPr>
          <a:xfrm>
            <a:off x="5084064" y="2267712"/>
            <a:ext cx="1883664" cy="237744"/>
          </a:xfrm>
          <a:prstGeom prst="rect">
            <a:avLst/>
          </a:prstGeom>
          <a:noFill/>
          <a:ln/>
        </p:spPr>
        <p:txBody>
          <a:bodyPr wrap="square" lIns="0" tIns="0" rIns="0" bIns="0" rtlCol="0" anchor="ctr"/>
          <a:lstStyle/>
          <a:p>
            <a:pPr marL="0" indent="0" algn="ctr">
              <a:buNone/>
            </a:pPr>
            <a:r>
              <a:rPr lang="en-US" sz="850" dirty="0">
                <a:solidFill>
                  <a:srgbClr val="5F7A8A"/>
                </a:solidFill>
                <a:latin typeface="Calibri" pitchFamily="34" charset="0"/>
                <a:ea typeface="Calibri" pitchFamily="34" charset="-122"/>
                <a:cs typeface="Calibri" pitchFamily="34" charset="-120"/>
              </a:rPr>
              <a:t>Continental baseline</a:t>
            </a:r>
            <a:endParaRPr lang="en-US" sz="850" dirty="0"/>
          </a:p>
        </p:txBody>
      </p:sp>
      <p:sp>
        <p:nvSpPr>
          <p:cNvPr id="16" name="Shape 14"/>
          <p:cNvSpPr/>
          <p:nvPr/>
        </p:nvSpPr>
        <p:spPr>
          <a:xfrm>
            <a:off x="7260336" y="1298448"/>
            <a:ext cx="2066544" cy="1353312"/>
          </a:xfrm>
          <a:prstGeom prst="roundRect">
            <a:avLst>
              <a:gd name="adj" fmla="val 6757"/>
            </a:avLst>
          </a:prstGeom>
          <a:solidFill>
            <a:srgbClr val="F7FAFD"/>
          </a:solidFill>
          <a:ln w="10160">
            <a:solidFill>
              <a:srgbClr val="BDD4E6"/>
            </a:solidFill>
            <a:prstDash val="solid"/>
          </a:ln>
        </p:spPr>
      </p:sp>
      <p:sp>
        <p:nvSpPr>
          <p:cNvPr id="17" name="Text 15"/>
          <p:cNvSpPr/>
          <p:nvPr/>
        </p:nvSpPr>
        <p:spPr>
          <a:xfrm>
            <a:off x="7351776" y="1408176"/>
            <a:ext cx="1883664" cy="566928"/>
          </a:xfrm>
          <a:prstGeom prst="rect">
            <a:avLst/>
          </a:prstGeom>
          <a:noFill/>
          <a:ln/>
        </p:spPr>
        <p:txBody>
          <a:bodyPr wrap="square" lIns="0" tIns="0" rIns="0" bIns="0" rtlCol="0" anchor="ctr"/>
          <a:lstStyle/>
          <a:p>
            <a:pPr marL="0" indent="0" algn="ctr">
              <a:buNone/>
            </a:pPr>
            <a:r>
              <a:rPr lang="en-US" sz="2800" b="1" dirty="0">
                <a:solidFill>
                  <a:srgbClr val="D4782A"/>
                </a:solidFill>
                <a:latin typeface="Cambria" pitchFamily="34" charset="0"/>
                <a:ea typeface="Cambria" pitchFamily="34" charset="-122"/>
                <a:cs typeface="Cambria" pitchFamily="34" charset="-120"/>
              </a:rPr>
              <a:t>3.1pp</a:t>
            </a:r>
            <a:endParaRPr lang="en-US" sz="2800" dirty="0"/>
          </a:p>
        </p:txBody>
      </p:sp>
      <p:sp>
        <p:nvSpPr>
          <p:cNvPr id="18" name="Text 16"/>
          <p:cNvSpPr/>
          <p:nvPr/>
        </p:nvSpPr>
        <p:spPr>
          <a:xfrm>
            <a:off x="7351776" y="1993392"/>
            <a:ext cx="1883664" cy="301752"/>
          </a:xfrm>
          <a:prstGeom prst="rect">
            <a:avLst/>
          </a:prstGeom>
          <a:noFill/>
          <a:ln/>
        </p:spPr>
        <p:txBody>
          <a:bodyPr wrap="square" lIns="0" tIns="0" rIns="0" bIns="0" rtlCol="0" anchor="ctr"/>
          <a:lstStyle/>
          <a:p>
            <a:pPr marL="0" indent="0" algn="ctr">
              <a:buNone/>
            </a:pPr>
            <a:r>
              <a:rPr lang="en-US" sz="1000" b="1" dirty="0">
                <a:solidFill>
                  <a:srgbClr val="162537"/>
                </a:solidFill>
                <a:latin typeface="Calibri" pitchFamily="34" charset="0"/>
                <a:ea typeface="Calibri" pitchFamily="34" charset="-122"/>
                <a:cs typeface="Calibri" pitchFamily="34" charset="-120"/>
              </a:rPr>
              <a:t>Avg Gender Gap</a:t>
            </a:r>
            <a:endParaRPr lang="en-US" sz="1000" dirty="0"/>
          </a:p>
        </p:txBody>
      </p:sp>
      <p:sp>
        <p:nvSpPr>
          <p:cNvPr id="19" name="Text 17"/>
          <p:cNvSpPr/>
          <p:nvPr/>
        </p:nvSpPr>
        <p:spPr>
          <a:xfrm>
            <a:off x="7351776" y="2267712"/>
            <a:ext cx="1883664" cy="237744"/>
          </a:xfrm>
          <a:prstGeom prst="rect">
            <a:avLst/>
          </a:prstGeom>
          <a:noFill/>
          <a:ln/>
        </p:spPr>
        <p:txBody>
          <a:bodyPr wrap="square" lIns="0" tIns="0" rIns="0" bIns="0" rtlCol="0" anchor="ctr"/>
          <a:lstStyle/>
          <a:p>
            <a:pPr marL="0" indent="0" algn="ctr">
              <a:buNone/>
            </a:pPr>
            <a:r>
              <a:rPr lang="en-US" sz="850" dirty="0">
                <a:solidFill>
                  <a:srgbClr val="5F7A8A"/>
                </a:solidFill>
                <a:latin typeface="Calibri" pitchFamily="34" charset="0"/>
                <a:ea typeface="Calibri" pitchFamily="34" charset="-122"/>
                <a:cs typeface="Calibri" pitchFamily="34" charset="-120"/>
              </a:rPr>
              <a:t>Female minus male</a:t>
            </a:r>
            <a:endParaRPr lang="en-US" sz="850" dirty="0"/>
          </a:p>
        </p:txBody>
      </p:sp>
      <p:sp>
        <p:nvSpPr>
          <p:cNvPr id="20" name="Shape 18"/>
          <p:cNvSpPr/>
          <p:nvPr/>
        </p:nvSpPr>
        <p:spPr>
          <a:xfrm>
            <a:off x="9528048" y="1298448"/>
            <a:ext cx="2066544" cy="1353312"/>
          </a:xfrm>
          <a:prstGeom prst="roundRect">
            <a:avLst>
              <a:gd name="adj" fmla="val 6757"/>
            </a:avLst>
          </a:prstGeom>
          <a:solidFill>
            <a:srgbClr val="F7FAFD"/>
          </a:solidFill>
          <a:ln w="10160">
            <a:solidFill>
              <a:srgbClr val="BDD4E6"/>
            </a:solidFill>
            <a:prstDash val="solid"/>
          </a:ln>
        </p:spPr>
      </p:sp>
      <p:sp>
        <p:nvSpPr>
          <p:cNvPr id="21" name="Text 19"/>
          <p:cNvSpPr/>
          <p:nvPr/>
        </p:nvSpPr>
        <p:spPr>
          <a:xfrm>
            <a:off x="9619488" y="1408176"/>
            <a:ext cx="1883664" cy="566928"/>
          </a:xfrm>
          <a:prstGeom prst="rect">
            <a:avLst/>
          </a:prstGeom>
          <a:noFill/>
          <a:ln/>
        </p:spPr>
        <p:txBody>
          <a:bodyPr wrap="square" lIns="0" tIns="0" rIns="0" bIns="0" rtlCol="0" anchor="ctr"/>
          <a:lstStyle/>
          <a:p>
            <a:pPr marL="0" indent="0" algn="ctr">
              <a:buNone/>
            </a:pPr>
            <a:r>
              <a:rPr lang="en-US" sz="2800" b="1" dirty="0">
                <a:solidFill>
                  <a:srgbClr val="0F3A6A"/>
                </a:solidFill>
                <a:latin typeface="Cambria" pitchFamily="34" charset="0"/>
                <a:ea typeface="Cambria" pitchFamily="34" charset="-122"/>
                <a:cs typeface="Cambria" pitchFamily="34" charset="-120"/>
              </a:rPr>
              <a:t>9.7%</a:t>
            </a:r>
            <a:endParaRPr lang="en-US" sz="2800" dirty="0"/>
          </a:p>
        </p:txBody>
      </p:sp>
      <p:sp>
        <p:nvSpPr>
          <p:cNvPr id="22" name="Text 20"/>
          <p:cNvSpPr/>
          <p:nvPr/>
        </p:nvSpPr>
        <p:spPr>
          <a:xfrm>
            <a:off x="9619488" y="1993392"/>
            <a:ext cx="1883664" cy="301752"/>
          </a:xfrm>
          <a:prstGeom prst="rect">
            <a:avLst/>
          </a:prstGeom>
          <a:noFill/>
          <a:ln/>
        </p:spPr>
        <p:txBody>
          <a:bodyPr wrap="square" lIns="0" tIns="0" rIns="0" bIns="0" rtlCol="0" anchor="ctr"/>
          <a:lstStyle/>
          <a:p>
            <a:pPr marL="0" indent="0" algn="ctr">
              <a:buNone/>
            </a:pPr>
            <a:r>
              <a:rPr lang="en-US" sz="1000" b="1" dirty="0">
                <a:solidFill>
                  <a:srgbClr val="162537"/>
                </a:solidFill>
                <a:latin typeface="Calibri" pitchFamily="34" charset="0"/>
                <a:ea typeface="Calibri" pitchFamily="34" charset="-122"/>
                <a:cs typeface="Calibri" pitchFamily="34" charset="-120"/>
              </a:rPr>
              <a:t>Overall Avg Unemployment</a:t>
            </a:r>
            <a:endParaRPr lang="en-US" sz="1000" dirty="0"/>
          </a:p>
        </p:txBody>
      </p:sp>
      <p:sp>
        <p:nvSpPr>
          <p:cNvPr id="23" name="Text 21"/>
          <p:cNvSpPr/>
          <p:nvPr/>
        </p:nvSpPr>
        <p:spPr>
          <a:xfrm>
            <a:off x="9619488" y="2267712"/>
            <a:ext cx="1883664" cy="237744"/>
          </a:xfrm>
          <a:prstGeom prst="rect">
            <a:avLst/>
          </a:prstGeom>
          <a:noFill/>
          <a:ln/>
        </p:spPr>
        <p:txBody>
          <a:bodyPr wrap="square" lIns="0" tIns="0" rIns="0" bIns="0" rtlCol="0" anchor="ctr"/>
          <a:lstStyle/>
          <a:p>
            <a:pPr marL="0" indent="0" algn="ctr">
              <a:buNone/>
            </a:pPr>
            <a:r>
              <a:rPr lang="en-US" sz="850" dirty="0">
                <a:solidFill>
                  <a:srgbClr val="5F7A8A"/>
                </a:solidFill>
                <a:latin typeface="Calibri" pitchFamily="34" charset="0"/>
                <a:ea typeface="Calibri" pitchFamily="34" charset="-122"/>
                <a:cs typeface="Calibri" pitchFamily="34" charset="-120"/>
              </a:rPr>
              <a:t>All 53 countries</a:t>
            </a:r>
            <a:endParaRPr lang="en-US" sz="850" dirty="0"/>
          </a:p>
        </p:txBody>
      </p:sp>
      <p:sp>
        <p:nvSpPr>
          <p:cNvPr id="24" name="Text 22"/>
          <p:cNvSpPr/>
          <p:nvPr/>
        </p:nvSpPr>
        <p:spPr>
          <a:xfrm>
            <a:off x="457200" y="2816352"/>
            <a:ext cx="11247120" cy="274320"/>
          </a:xfrm>
          <a:prstGeom prst="rect">
            <a:avLst/>
          </a:prstGeom>
          <a:noFill/>
          <a:ln/>
        </p:spPr>
        <p:txBody>
          <a:bodyPr wrap="square" rtlCol="0" anchor="ctr"/>
          <a:lstStyle/>
          <a:p>
            <a:pPr marL="0" indent="0">
              <a:buNone/>
            </a:pPr>
            <a:r>
              <a:rPr lang="en-US" sz="1400" b="1" dirty="0">
                <a:latin typeface="Calibri" panose="020F0502020204030204" pitchFamily="34" charset="0"/>
                <a:ea typeface="Calibri" panose="020F0502020204030204" pitchFamily="34" charset="0"/>
                <a:cs typeface="Calibri" panose="020F0502020204030204" pitchFamily="34" charset="0"/>
              </a:rPr>
              <a:t>Key Findings </a:t>
            </a:r>
          </a:p>
        </p:txBody>
      </p:sp>
      <p:sp>
        <p:nvSpPr>
          <p:cNvPr id="25" name="Shape 23"/>
          <p:cNvSpPr/>
          <p:nvPr/>
        </p:nvSpPr>
        <p:spPr>
          <a:xfrm>
            <a:off x="472440" y="3229182"/>
            <a:ext cx="11247120" cy="530352"/>
          </a:xfrm>
          <a:prstGeom prst="roundRect">
            <a:avLst>
              <a:gd name="adj" fmla="val 10345"/>
            </a:avLst>
          </a:prstGeom>
          <a:solidFill>
            <a:srgbClr val="F7FAFD"/>
          </a:solidFill>
          <a:ln w="6350">
            <a:solidFill>
              <a:srgbClr val="BDD4E6"/>
            </a:solidFill>
            <a:prstDash val="solid"/>
          </a:ln>
        </p:spPr>
      </p:sp>
      <p:sp>
        <p:nvSpPr>
          <p:cNvPr id="26" name="Shape 24"/>
          <p:cNvSpPr/>
          <p:nvPr/>
        </p:nvSpPr>
        <p:spPr>
          <a:xfrm>
            <a:off x="585216" y="3346704"/>
            <a:ext cx="219456" cy="219456"/>
          </a:xfrm>
          <a:prstGeom prst="ellipse">
            <a:avLst/>
          </a:prstGeom>
          <a:solidFill>
            <a:srgbClr val="B52B2B"/>
          </a:solidFill>
          <a:ln w="12700">
            <a:solidFill>
              <a:srgbClr val="B52B2B"/>
            </a:solidFill>
            <a:prstDash val="solid"/>
          </a:ln>
        </p:spPr>
      </p:sp>
      <p:sp>
        <p:nvSpPr>
          <p:cNvPr id="27" name="Text 25"/>
          <p:cNvSpPr/>
          <p:nvPr/>
        </p:nvSpPr>
        <p:spPr>
          <a:xfrm>
            <a:off x="967740" y="3303270"/>
            <a:ext cx="10588752" cy="426088"/>
          </a:xfrm>
          <a:prstGeom prst="rect">
            <a:avLst/>
          </a:prstGeom>
          <a:noFill/>
          <a:ln/>
        </p:spPr>
        <p:txBody>
          <a:bodyPr wrap="square" lIns="0" tIns="0" rIns="0" bIns="0" rtlCol="0" anchor="ctr"/>
          <a:lstStyle/>
          <a:p>
            <a:pPr marL="0" indent="0">
              <a:buNone/>
            </a:pPr>
            <a:r>
              <a:rPr lang="en-US" sz="1400" dirty="0">
                <a:latin typeface="Calibri" pitchFamily="34" charset="0"/>
                <a:ea typeface="Calibri" pitchFamily="34" charset="-122"/>
                <a:cs typeface="Calibri" pitchFamily="34" charset="-120"/>
              </a:rPr>
              <a:t>Djibouti records the continent's highest average unemployment at 29.7%  - 3× the continental average of the countries analyzed at 9.7%</a:t>
            </a:r>
            <a:endParaRPr lang="en-US" sz="1400" dirty="0"/>
          </a:p>
        </p:txBody>
      </p:sp>
      <p:sp>
        <p:nvSpPr>
          <p:cNvPr id="28" name="Shape 26"/>
          <p:cNvSpPr/>
          <p:nvPr/>
        </p:nvSpPr>
        <p:spPr>
          <a:xfrm>
            <a:off x="472440" y="3858071"/>
            <a:ext cx="11247120" cy="530352"/>
          </a:xfrm>
          <a:prstGeom prst="roundRect">
            <a:avLst>
              <a:gd name="adj" fmla="val 10345"/>
            </a:avLst>
          </a:prstGeom>
          <a:solidFill>
            <a:srgbClr val="F7FAFD"/>
          </a:solidFill>
          <a:ln w="6350">
            <a:solidFill>
              <a:srgbClr val="BDD4E6"/>
            </a:solidFill>
            <a:prstDash val="solid"/>
          </a:ln>
        </p:spPr>
        <p:txBody>
          <a:bodyPr/>
          <a:lstStyle/>
          <a:p>
            <a:endParaRPr lang="en-US" dirty="0"/>
          </a:p>
        </p:txBody>
      </p:sp>
      <p:sp>
        <p:nvSpPr>
          <p:cNvPr id="29" name="Shape 27"/>
          <p:cNvSpPr/>
          <p:nvPr/>
        </p:nvSpPr>
        <p:spPr>
          <a:xfrm>
            <a:off x="585216" y="3968496"/>
            <a:ext cx="219456" cy="219456"/>
          </a:xfrm>
          <a:prstGeom prst="ellipse">
            <a:avLst/>
          </a:prstGeom>
          <a:solidFill>
            <a:srgbClr val="C0392B"/>
          </a:solidFill>
          <a:ln w="12700">
            <a:solidFill>
              <a:srgbClr val="C0392B"/>
            </a:solidFill>
            <a:prstDash val="solid"/>
          </a:ln>
        </p:spPr>
      </p:sp>
      <p:sp>
        <p:nvSpPr>
          <p:cNvPr id="30" name="Text 28"/>
          <p:cNvSpPr/>
          <p:nvPr/>
        </p:nvSpPr>
        <p:spPr>
          <a:xfrm>
            <a:off x="967740" y="3978677"/>
            <a:ext cx="10419146" cy="554845"/>
          </a:xfrm>
          <a:prstGeom prst="rect">
            <a:avLst/>
          </a:prstGeom>
          <a:noFill/>
          <a:ln/>
        </p:spPr>
        <p:txBody>
          <a:bodyPr wrap="square" lIns="0" tIns="0" rIns="0" bIns="0" rtlCol="0" anchor="ctr"/>
          <a:lstStyle/>
          <a:p>
            <a:r>
              <a:rPr lang="en-US" sz="1400" dirty="0">
                <a:latin typeface="Calibri" pitchFamily="34" charset="0"/>
                <a:ea typeface="Calibri" pitchFamily="34" charset="-122"/>
                <a:cs typeface="Calibri" pitchFamily="34" charset="-120"/>
              </a:rPr>
              <a:t>Electricity correlation showed a strong positive relationship = 0.27 , which was an interesting fact cause it shouldn’t.</a:t>
            </a:r>
            <a:r>
              <a:rPr lang="en-US" sz="1400" dirty="0"/>
              <a:t> The unexpected positive electricity relationship deserves deeper investigation rather than immediate policy conclusions.</a:t>
            </a:r>
          </a:p>
          <a:p>
            <a:pPr marL="0" indent="0">
              <a:buNone/>
            </a:pPr>
            <a:r>
              <a:rPr lang="en-US" sz="1400" dirty="0">
                <a:latin typeface="Calibri" pitchFamily="34" charset="0"/>
                <a:ea typeface="Calibri" pitchFamily="34" charset="-122"/>
                <a:cs typeface="Calibri" pitchFamily="34" charset="-120"/>
              </a:rPr>
              <a:t> </a:t>
            </a:r>
            <a:endParaRPr lang="en-US" sz="1400" dirty="0"/>
          </a:p>
        </p:txBody>
      </p:sp>
      <p:sp>
        <p:nvSpPr>
          <p:cNvPr id="31" name="Shape 29"/>
          <p:cNvSpPr/>
          <p:nvPr/>
        </p:nvSpPr>
        <p:spPr>
          <a:xfrm>
            <a:off x="457200" y="4517136"/>
            <a:ext cx="11247120" cy="530352"/>
          </a:xfrm>
          <a:prstGeom prst="roundRect">
            <a:avLst>
              <a:gd name="adj" fmla="val 10345"/>
            </a:avLst>
          </a:prstGeom>
          <a:solidFill>
            <a:srgbClr val="F7FAFD"/>
          </a:solidFill>
          <a:ln w="6350">
            <a:solidFill>
              <a:srgbClr val="BDD4E6"/>
            </a:solidFill>
            <a:prstDash val="solid"/>
          </a:ln>
        </p:spPr>
      </p:sp>
      <p:sp>
        <p:nvSpPr>
          <p:cNvPr id="32" name="Shape 30"/>
          <p:cNvSpPr/>
          <p:nvPr/>
        </p:nvSpPr>
        <p:spPr>
          <a:xfrm>
            <a:off x="585216" y="4704588"/>
            <a:ext cx="219456" cy="219456"/>
          </a:xfrm>
          <a:prstGeom prst="ellipse">
            <a:avLst/>
          </a:prstGeom>
          <a:solidFill>
            <a:srgbClr val="D4782A"/>
          </a:solidFill>
          <a:ln w="12700">
            <a:solidFill>
              <a:srgbClr val="D4782A"/>
            </a:solidFill>
            <a:prstDash val="solid"/>
          </a:ln>
        </p:spPr>
      </p:sp>
      <p:sp>
        <p:nvSpPr>
          <p:cNvPr id="34" name="Shape 32"/>
          <p:cNvSpPr/>
          <p:nvPr/>
        </p:nvSpPr>
        <p:spPr>
          <a:xfrm>
            <a:off x="472440" y="5193281"/>
            <a:ext cx="11247120" cy="530352"/>
          </a:xfrm>
          <a:prstGeom prst="roundRect">
            <a:avLst>
              <a:gd name="adj" fmla="val 10345"/>
            </a:avLst>
          </a:prstGeom>
          <a:solidFill>
            <a:srgbClr val="F7FAFD"/>
          </a:solidFill>
          <a:ln w="6350">
            <a:solidFill>
              <a:srgbClr val="BDD4E6"/>
            </a:solidFill>
            <a:prstDash val="solid"/>
          </a:ln>
        </p:spPr>
        <p:txBody>
          <a:bodyPr/>
          <a:lstStyle/>
          <a:p>
            <a:endParaRPr lang="en-US" dirty="0"/>
          </a:p>
        </p:txBody>
      </p:sp>
      <p:sp>
        <p:nvSpPr>
          <p:cNvPr id="35" name="Shape 33"/>
          <p:cNvSpPr/>
          <p:nvPr/>
        </p:nvSpPr>
        <p:spPr>
          <a:xfrm>
            <a:off x="623316" y="5377280"/>
            <a:ext cx="219456" cy="219456"/>
          </a:xfrm>
          <a:prstGeom prst="ellipse">
            <a:avLst/>
          </a:prstGeom>
          <a:solidFill>
            <a:srgbClr val="1A8FBF"/>
          </a:solidFill>
          <a:ln w="12700">
            <a:solidFill>
              <a:srgbClr val="1A8FBF"/>
            </a:solidFill>
            <a:prstDash val="solid"/>
          </a:ln>
        </p:spPr>
      </p:sp>
      <p:sp>
        <p:nvSpPr>
          <p:cNvPr id="36" name="Text 34"/>
          <p:cNvSpPr/>
          <p:nvPr/>
        </p:nvSpPr>
        <p:spPr>
          <a:xfrm>
            <a:off x="967740" y="5234940"/>
            <a:ext cx="10626852" cy="463803"/>
          </a:xfrm>
          <a:prstGeom prst="rect">
            <a:avLst/>
          </a:prstGeom>
          <a:noFill/>
          <a:ln/>
        </p:spPr>
        <p:txBody>
          <a:bodyPr wrap="square" lIns="0" tIns="0" rIns="0" bIns="0" rtlCol="0" anchor="ctr"/>
          <a:lstStyle/>
          <a:p>
            <a:pPr marL="0" indent="0">
              <a:buNone/>
            </a:pPr>
            <a:r>
              <a:rPr lang="en-US" sz="1400" dirty="0">
                <a:latin typeface="Calibri" pitchFamily="34" charset="0"/>
                <a:ea typeface="Calibri" pitchFamily="34" charset="-122"/>
                <a:cs typeface="Calibri" pitchFamily="34" charset="-120"/>
              </a:rPr>
              <a:t>9 African countries show a reversed gender gap (men more unemployed than women, showing extreme values as outliers  </a:t>
            </a:r>
            <a:endParaRPr lang="en-US" sz="1400" dirty="0"/>
          </a:p>
        </p:txBody>
      </p:sp>
      <p:sp>
        <p:nvSpPr>
          <p:cNvPr id="37" name="Shape 35"/>
          <p:cNvSpPr/>
          <p:nvPr/>
        </p:nvSpPr>
        <p:spPr>
          <a:xfrm>
            <a:off x="457200" y="5806380"/>
            <a:ext cx="11247120" cy="530352"/>
          </a:xfrm>
          <a:prstGeom prst="roundRect">
            <a:avLst>
              <a:gd name="adj" fmla="val 10345"/>
            </a:avLst>
          </a:prstGeom>
          <a:solidFill>
            <a:srgbClr val="F7FAFD"/>
          </a:solidFill>
          <a:ln w="6350">
            <a:solidFill>
              <a:srgbClr val="BDD4E6"/>
            </a:solidFill>
            <a:prstDash val="solid"/>
          </a:ln>
        </p:spPr>
      </p:sp>
      <p:sp>
        <p:nvSpPr>
          <p:cNvPr id="38" name="Shape 36"/>
          <p:cNvSpPr/>
          <p:nvPr/>
        </p:nvSpPr>
        <p:spPr>
          <a:xfrm>
            <a:off x="623316" y="5988623"/>
            <a:ext cx="219456" cy="219456"/>
          </a:xfrm>
          <a:prstGeom prst="ellipse">
            <a:avLst/>
          </a:prstGeom>
          <a:solidFill>
            <a:srgbClr val="1A7A50"/>
          </a:solidFill>
          <a:ln w="12700">
            <a:solidFill>
              <a:srgbClr val="1A7A50"/>
            </a:solidFill>
            <a:prstDash val="solid"/>
          </a:ln>
        </p:spPr>
      </p:sp>
      <p:sp>
        <p:nvSpPr>
          <p:cNvPr id="39" name="Text 37"/>
          <p:cNvSpPr/>
          <p:nvPr/>
        </p:nvSpPr>
        <p:spPr>
          <a:xfrm>
            <a:off x="967740" y="5864004"/>
            <a:ext cx="10588752" cy="365760"/>
          </a:xfrm>
          <a:prstGeom prst="rect">
            <a:avLst/>
          </a:prstGeom>
          <a:noFill/>
          <a:ln/>
        </p:spPr>
        <p:txBody>
          <a:bodyPr wrap="square" lIns="0" tIns="0" rIns="0" bIns="0" rtlCol="0" anchor="ctr"/>
          <a:lstStyle/>
          <a:p>
            <a:pPr marL="0" indent="0">
              <a:buNone/>
            </a:pPr>
            <a:r>
              <a:rPr lang="en-US" sz="1400" dirty="0">
                <a:latin typeface="Calibri" pitchFamily="34" charset="0"/>
                <a:ea typeface="Calibri" pitchFamily="34" charset="-122"/>
                <a:cs typeface="Calibri" pitchFamily="34" charset="-120"/>
              </a:rPr>
              <a:t>Education correlation showed a weak negative relationship = 0.06 which means the effectiveness education may depend on</a:t>
            </a:r>
            <a:r>
              <a:rPr lang="en-US" sz="1400" dirty="0"/>
              <a:t> factors beyond spending levels - such as education quality, skills alignment and economic structure</a:t>
            </a:r>
          </a:p>
        </p:txBody>
      </p:sp>
      <p:sp>
        <p:nvSpPr>
          <p:cNvPr id="43" name="Text 1">
            <a:extLst>
              <a:ext uri="{FF2B5EF4-FFF2-40B4-BE49-F238E27FC236}">
                <a16:creationId xmlns:a16="http://schemas.microsoft.com/office/drawing/2014/main" id="{E1BFD3B5-0F1A-4095-98AD-2097228F1BAA}"/>
              </a:ext>
            </a:extLst>
          </p:cNvPr>
          <p:cNvSpPr/>
          <p:nvPr/>
        </p:nvSpPr>
        <p:spPr>
          <a:xfrm>
            <a:off x="457200" y="818096"/>
            <a:ext cx="11247120" cy="306616"/>
          </a:xfrm>
          <a:prstGeom prst="rect">
            <a:avLst/>
          </a:prstGeom>
          <a:noFill/>
          <a:ln/>
        </p:spPr>
        <p:txBody>
          <a:bodyPr wrap="square" rtlCol="0" anchor="ctr"/>
          <a:lstStyle/>
          <a:p>
            <a:pPr marL="0" indent="0">
              <a:buNone/>
            </a:pPr>
            <a:r>
              <a:rPr lang="en-US" sz="1400" dirty="0">
                <a:solidFill>
                  <a:schemeClr val="accent5">
                    <a:lumMod val="75000"/>
                  </a:schemeClr>
                </a:solidFill>
              </a:rPr>
              <a:t>Unemployment is not evenly distributed across Africa, and the burden is disproportionately higher among women.</a:t>
            </a:r>
          </a:p>
        </p:txBody>
      </p:sp>
      <p:sp>
        <p:nvSpPr>
          <p:cNvPr id="44" name="Text 31">
            <a:extLst>
              <a:ext uri="{FF2B5EF4-FFF2-40B4-BE49-F238E27FC236}">
                <a16:creationId xmlns:a16="http://schemas.microsoft.com/office/drawing/2014/main" id="{B015A78B-4FD3-4D80-8B88-EF2AAA0BF95E}"/>
              </a:ext>
            </a:extLst>
          </p:cNvPr>
          <p:cNvSpPr/>
          <p:nvPr/>
        </p:nvSpPr>
        <p:spPr>
          <a:xfrm>
            <a:off x="932688" y="4616269"/>
            <a:ext cx="10588752" cy="365760"/>
          </a:xfrm>
          <a:prstGeom prst="rect">
            <a:avLst/>
          </a:prstGeom>
          <a:noFill/>
          <a:ln/>
        </p:spPr>
        <p:txBody>
          <a:bodyPr wrap="square" lIns="0" tIns="0" rIns="0" bIns="0" rtlCol="0" anchor="ctr"/>
          <a:lstStyle/>
          <a:p>
            <a:pPr marL="0" indent="0">
              <a:buNone/>
            </a:pPr>
            <a:r>
              <a:rPr lang="en-US" sz="1400" dirty="0">
                <a:latin typeface="Calibri" pitchFamily="34" charset="0"/>
                <a:ea typeface="Calibri" pitchFamily="34" charset="-122"/>
                <a:cs typeface="Calibri" pitchFamily="34" charset="-120"/>
              </a:rPr>
              <a:t>Northern Africa female unemployment (21.4%) is more than double Sub-Saharan Africa (9.9%) - a regional structural divide</a:t>
            </a:r>
            <a:endParaRPr lang="en-US" sz="1400" dirty="0"/>
          </a:p>
        </p:txBody>
      </p:sp>
    </p:spTree>
    <p:extLst>
      <p:ext uri="{BB962C8B-B14F-4D97-AF65-F5344CB8AC3E}">
        <p14:creationId xmlns:p14="http://schemas.microsoft.com/office/powerpoint/2010/main" val="20201613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chemeClr val="bg1">
            <a:lumMod val="85000"/>
          </a:schemeClr>
        </a:solidFill>
        <a:effectLst/>
      </p:bgPr>
    </p:bg>
    <p:spTree>
      <p:nvGrpSpPr>
        <p:cNvPr id="1" name=""/>
        <p:cNvGrpSpPr/>
        <p:nvPr/>
      </p:nvGrpSpPr>
      <p:grpSpPr>
        <a:xfrm>
          <a:off x="0" y="0"/>
          <a:ext cx="0" cy="0"/>
          <a:chOff x="0" y="0"/>
          <a:chExt cx="0" cy="0"/>
        </a:xfrm>
      </p:grpSpPr>
      <p:sp>
        <p:nvSpPr>
          <p:cNvPr id="2" name="Text 0"/>
          <p:cNvSpPr/>
          <p:nvPr/>
        </p:nvSpPr>
        <p:spPr>
          <a:xfrm>
            <a:off x="448640" y="228600"/>
            <a:ext cx="11247120" cy="594360"/>
          </a:xfrm>
          <a:prstGeom prst="rect">
            <a:avLst/>
          </a:prstGeom>
          <a:noFill/>
          <a:ln/>
        </p:spPr>
        <p:txBody>
          <a:bodyPr wrap="square" rtlCol="0" anchor="ctr"/>
          <a:lstStyle/>
          <a:p>
            <a:pPr marL="0" indent="0">
              <a:buNone/>
            </a:pPr>
            <a:r>
              <a:rPr lang="en-US" sz="2400" b="1" dirty="0">
                <a:solidFill>
                  <a:srgbClr val="0E6BA8"/>
                </a:solidFill>
                <a:latin typeface="Cambria" pitchFamily="34" charset="0"/>
                <a:ea typeface="Cambria" pitchFamily="34" charset="-122"/>
                <a:cs typeface="Cambria" pitchFamily="34" charset="-120"/>
              </a:rPr>
              <a:t>Introduction</a:t>
            </a:r>
            <a:endParaRPr lang="en-US" sz="2400" dirty="0"/>
          </a:p>
        </p:txBody>
      </p:sp>
      <p:sp>
        <p:nvSpPr>
          <p:cNvPr id="4" name="Text 2"/>
          <p:cNvSpPr/>
          <p:nvPr/>
        </p:nvSpPr>
        <p:spPr>
          <a:xfrm>
            <a:off x="457200" y="932688"/>
            <a:ext cx="5303520" cy="320040"/>
          </a:xfrm>
          <a:prstGeom prst="rect">
            <a:avLst/>
          </a:prstGeom>
          <a:noFill/>
          <a:ln/>
        </p:spPr>
        <p:txBody>
          <a:bodyPr wrap="square" rtlCol="0" anchor="ctr"/>
          <a:lstStyle/>
          <a:p>
            <a:pPr marL="0" indent="0">
              <a:buNone/>
            </a:pPr>
            <a:r>
              <a:rPr lang="en-US" sz="1400" b="1" dirty="0">
                <a:solidFill>
                  <a:srgbClr val="0E6BA8"/>
                </a:solidFill>
                <a:latin typeface="Cambria" pitchFamily="34" charset="0"/>
                <a:ea typeface="Cambria" pitchFamily="34" charset="-122"/>
                <a:cs typeface="Cambria" pitchFamily="34" charset="-120"/>
              </a:rPr>
              <a:t>Project </a:t>
            </a:r>
            <a:r>
              <a:rPr lang="en-US" sz="1600" b="1" dirty="0">
                <a:solidFill>
                  <a:srgbClr val="0E6BA8"/>
                </a:solidFill>
                <a:latin typeface="Cambria" pitchFamily="34" charset="0"/>
                <a:ea typeface="Cambria" pitchFamily="34" charset="-122"/>
                <a:cs typeface="Cambria" pitchFamily="34" charset="-120"/>
              </a:rPr>
              <a:t>Context</a:t>
            </a:r>
            <a:endParaRPr lang="en-US" sz="1600" dirty="0"/>
          </a:p>
        </p:txBody>
      </p:sp>
      <p:sp>
        <p:nvSpPr>
          <p:cNvPr id="5" name="Text 3"/>
          <p:cNvSpPr/>
          <p:nvPr/>
        </p:nvSpPr>
        <p:spPr>
          <a:xfrm>
            <a:off x="448640" y="1330452"/>
            <a:ext cx="5303520" cy="1513332"/>
          </a:xfrm>
          <a:prstGeom prst="rect">
            <a:avLst/>
          </a:prstGeom>
          <a:noFill/>
          <a:ln/>
        </p:spPr>
        <p:txBody>
          <a:bodyPr wrap="square" rtlCol="0" anchor="ctr"/>
          <a:lstStyle/>
          <a:p>
            <a:pPr marL="0" indent="0">
              <a:spcAft>
                <a:spcPts val="400"/>
              </a:spcAft>
              <a:buNone/>
            </a:pPr>
            <a:r>
              <a:rPr lang="en-US" sz="1400" dirty="0">
                <a:solidFill>
                  <a:srgbClr val="162537"/>
                </a:solidFill>
                <a:latin typeface="Calibri" pitchFamily="34" charset="0"/>
                <a:ea typeface="Calibri" pitchFamily="34" charset="-122"/>
                <a:cs typeface="Calibri" pitchFamily="34" charset="-120"/>
              </a:rPr>
              <a:t>Unemployment is one of Africa's most critical socioeconomic challenges. This case study analyses gender disparities, policy maturity gaps and structural economic drivers across 53 African countries using 2015 data from six datasets</a:t>
            </a:r>
            <a:r>
              <a:rPr lang="en-US" sz="1400">
                <a:solidFill>
                  <a:srgbClr val="162537"/>
                </a:solidFill>
                <a:latin typeface="Calibri" pitchFamily="34" charset="0"/>
                <a:ea typeface="Calibri" pitchFamily="34" charset="-122"/>
                <a:cs typeface="Calibri" pitchFamily="34" charset="-120"/>
              </a:rPr>
              <a:t>. </a:t>
            </a:r>
          </a:p>
          <a:p>
            <a:pPr marL="0" indent="0">
              <a:spcAft>
                <a:spcPts val="400"/>
              </a:spcAft>
              <a:buNone/>
            </a:pPr>
            <a:r>
              <a:rPr lang="en-US" sz="1400">
                <a:solidFill>
                  <a:srgbClr val="162537"/>
                </a:solidFill>
                <a:latin typeface="Calibri" pitchFamily="34" charset="0"/>
                <a:ea typeface="Calibri" pitchFamily="34" charset="-122"/>
                <a:cs typeface="Calibri" pitchFamily="34" charset="-120"/>
              </a:rPr>
              <a:t>The </a:t>
            </a:r>
            <a:r>
              <a:rPr lang="en-US" sz="1400" dirty="0">
                <a:solidFill>
                  <a:srgbClr val="162537"/>
                </a:solidFill>
                <a:latin typeface="Calibri" pitchFamily="34" charset="0"/>
                <a:ea typeface="Calibri" pitchFamily="34" charset="-122"/>
                <a:cs typeface="Calibri" pitchFamily="34" charset="-120"/>
              </a:rPr>
              <a:t>analysis was undertaken as part of a data analytics hackathon, producing evidence-grounded policy recommendations for governments and development stakeholders.</a:t>
            </a:r>
            <a:endParaRPr lang="en-US" sz="1400" dirty="0"/>
          </a:p>
        </p:txBody>
      </p:sp>
      <p:sp>
        <p:nvSpPr>
          <p:cNvPr id="6" name="Text 4"/>
          <p:cNvSpPr/>
          <p:nvPr/>
        </p:nvSpPr>
        <p:spPr>
          <a:xfrm>
            <a:off x="457200" y="3429000"/>
            <a:ext cx="5303520" cy="292608"/>
          </a:xfrm>
          <a:prstGeom prst="rect">
            <a:avLst/>
          </a:prstGeom>
          <a:noFill/>
          <a:ln/>
        </p:spPr>
        <p:txBody>
          <a:bodyPr wrap="square" rtlCol="0" anchor="ctr"/>
          <a:lstStyle/>
          <a:p>
            <a:pPr marL="0" indent="0">
              <a:buNone/>
            </a:pPr>
            <a:r>
              <a:rPr lang="en-US" sz="1400" b="1" dirty="0">
                <a:solidFill>
                  <a:srgbClr val="0E6BA8"/>
                </a:solidFill>
                <a:latin typeface="Cambria" pitchFamily="34" charset="0"/>
                <a:ea typeface="Cambria" pitchFamily="34" charset="-122"/>
                <a:cs typeface="Cambria" pitchFamily="34" charset="-120"/>
              </a:rPr>
              <a:t>Objectives</a:t>
            </a:r>
            <a:endParaRPr lang="en-US" sz="1400" dirty="0"/>
          </a:p>
        </p:txBody>
      </p:sp>
      <p:sp>
        <p:nvSpPr>
          <p:cNvPr id="7" name="Shape 5"/>
          <p:cNvSpPr/>
          <p:nvPr/>
        </p:nvSpPr>
        <p:spPr>
          <a:xfrm>
            <a:off x="457200" y="3767328"/>
            <a:ext cx="5303520" cy="530352"/>
          </a:xfrm>
          <a:prstGeom prst="roundRect">
            <a:avLst>
              <a:gd name="adj" fmla="val 10345"/>
            </a:avLst>
          </a:prstGeom>
          <a:solidFill>
            <a:srgbClr val="F7FAFD"/>
          </a:solidFill>
          <a:ln w="6350">
            <a:solidFill>
              <a:srgbClr val="BDD4E6"/>
            </a:solidFill>
            <a:prstDash val="solid"/>
          </a:ln>
        </p:spPr>
      </p:sp>
      <p:sp>
        <p:nvSpPr>
          <p:cNvPr id="8" name="Text 6"/>
          <p:cNvSpPr/>
          <p:nvPr/>
        </p:nvSpPr>
        <p:spPr>
          <a:xfrm>
            <a:off x="566928" y="3877056"/>
            <a:ext cx="274320" cy="310896"/>
          </a:xfrm>
          <a:prstGeom prst="rect">
            <a:avLst/>
          </a:prstGeom>
          <a:noFill/>
          <a:ln/>
        </p:spPr>
        <p:txBody>
          <a:bodyPr wrap="square" lIns="0" tIns="0" rIns="0" bIns="0" rtlCol="0" anchor="ctr"/>
          <a:lstStyle/>
          <a:p>
            <a:pPr marL="0" indent="0" algn="ctr">
              <a:buNone/>
            </a:pPr>
            <a:r>
              <a:rPr lang="en-US" sz="1100" b="1" dirty="0">
                <a:solidFill>
                  <a:srgbClr val="0E6BA8"/>
                </a:solidFill>
                <a:latin typeface="Cambria" pitchFamily="34" charset="0"/>
                <a:ea typeface="Cambria" pitchFamily="34" charset="-122"/>
                <a:cs typeface="Cambria" pitchFamily="34" charset="-120"/>
              </a:rPr>
              <a:t>1</a:t>
            </a:r>
            <a:endParaRPr lang="en-US" sz="1100" dirty="0"/>
          </a:p>
        </p:txBody>
      </p:sp>
      <p:sp>
        <p:nvSpPr>
          <p:cNvPr id="9" name="Text 7"/>
          <p:cNvSpPr/>
          <p:nvPr/>
        </p:nvSpPr>
        <p:spPr>
          <a:xfrm>
            <a:off x="969264" y="3858768"/>
            <a:ext cx="4663440" cy="347472"/>
          </a:xfrm>
          <a:prstGeom prst="rect">
            <a:avLst/>
          </a:prstGeom>
          <a:noFill/>
          <a:ln/>
        </p:spPr>
        <p:txBody>
          <a:bodyPr wrap="square" lIns="0" tIns="0" rIns="0" bIns="0" rtlCol="0" anchor="ctr"/>
          <a:lstStyle/>
          <a:p>
            <a:pPr marL="0" indent="0">
              <a:buNone/>
            </a:pPr>
            <a:r>
              <a:rPr lang="en-US" sz="1050" dirty="0">
                <a:solidFill>
                  <a:srgbClr val="162537"/>
                </a:solidFill>
                <a:latin typeface="Calibri" pitchFamily="34" charset="0"/>
                <a:ea typeface="Calibri" pitchFamily="34" charset="-122"/>
                <a:cs typeface="Calibri" pitchFamily="34" charset="-120"/>
              </a:rPr>
              <a:t>Understand the multi-dimensional nature of unemployment in Africa</a:t>
            </a:r>
            <a:endParaRPr lang="en-US" sz="1050" dirty="0"/>
          </a:p>
        </p:txBody>
      </p:sp>
      <p:sp>
        <p:nvSpPr>
          <p:cNvPr id="10" name="Shape 8"/>
          <p:cNvSpPr/>
          <p:nvPr/>
        </p:nvSpPr>
        <p:spPr>
          <a:xfrm>
            <a:off x="457200" y="4389120"/>
            <a:ext cx="5303520" cy="530352"/>
          </a:xfrm>
          <a:prstGeom prst="roundRect">
            <a:avLst>
              <a:gd name="adj" fmla="val 10345"/>
            </a:avLst>
          </a:prstGeom>
          <a:solidFill>
            <a:srgbClr val="F7FAFD"/>
          </a:solidFill>
          <a:ln w="6350">
            <a:solidFill>
              <a:srgbClr val="BDD4E6"/>
            </a:solidFill>
            <a:prstDash val="solid"/>
          </a:ln>
        </p:spPr>
      </p:sp>
      <p:sp>
        <p:nvSpPr>
          <p:cNvPr id="11" name="Text 9"/>
          <p:cNvSpPr/>
          <p:nvPr/>
        </p:nvSpPr>
        <p:spPr>
          <a:xfrm>
            <a:off x="566928" y="4498848"/>
            <a:ext cx="274320" cy="310896"/>
          </a:xfrm>
          <a:prstGeom prst="rect">
            <a:avLst/>
          </a:prstGeom>
          <a:noFill/>
          <a:ln/>
        </p:spPr>
        <p:txBody>
          <a:bodyPr wrap="square" lIns="0" tIns="0" rIns="0" bIns="0" rtlCol="0" anchor="ctr"/>
          <a:lstStyle/>
          <a:p>
            <a:pPr marL="0" indent="0" algn="ctr">
              <a:buNone/>
            </a:pPr>
            <a:r>
              <a:rPr lang="en-US" sz="1100" b="1" dirty="0">
                <a:solidFill>
                  <a:srgbClr val="0E6BA8"/>
                </a:solidFill>
                <a:latin typeface="Cambria" pitchFamily="34" charset="0"/>
                <a:ea typeface="Cambria" pitchFamily="34" charset="-122"/>
                <a:cs typeface="Cambria" pitchFamily="34" charset="-120"/>
              </a:rPr>
              <a:t>2</a:t>
            </a:r>
            <a:endParaRPr lang="en-US" sz="1100" dirty="0"/>
          </a:p>
        </p:txBody>
      </p:sp>
      <p:sp>
        <p:nvSpPr>
          <p:cNvPr id="12" name="Text 10"/>
          <p:cNvSpPr/>
          <p:nvPr/>
        </p:nvSpPr>
        <p:spPr>
          <a:xfrm>
            <a:off x="969264" y="4480560"/>
            <a:ext cx="4663440" cy="347472"/>
          </a:xfrm>
          <a:prstGeom prst="rect">
            <a:avLst/>
          </a:prstGeom>
          <a:noFill/>
          <a:ln/>
        </p:spPr>
        <p:txBody>
          <a:bodyPr wrap="square" lIns="0" tIns="0" rIns="0" bIns="0" rtlCol="0" anchor="ctr"/>
          <a:lstStyle/>
          <a:p>
            <a:pPr marL="0" indent="0">
              <a:buNone/>
            </a:pPr>
            <a:r>
              <a:rPr lang="en-US" sz="1050" dirty="0">
                <a:solidFill>
                  <a:srgbClr val="162537"/>
                </a:solidFill>
                <a:latin typeface="Calibri" pitchFamily="34" charset="0"/>
                <a:ea typeface="Calibri" pitchFamily="34" charset="-122"/>
                <a:cs typeface="Calibri" pitchFamily="34" charset="-120"/>
              </a:rPr>
              <a:t>Identify key factors contributing to high unemployment rates</a:t>
            </a:r>
            <a:endParaRPr lang="en-US" sz="1050" dirty="0"/>
          </a:p>
        </p:txBody>
      </p:sp>
      <p:sp>
        <p:nvSpPr>
          <p:cNvPr id="13" name="Shape 11"/>
          <p:cNvSpPr/>
          <p:nvPr/>
        </p:nvSpPr>
        <p:spPr>
          <a:xfrm>
            <a:off x="457200" y="5010912"/>
            <a:ext cx="5303520" cy="530352"/>
          </a:xfrm>
          <a:prstGeom prst="roundRect">
            <a:avLst>
              <a:gd name="adj" fmla="val 10345"/>
            </a:avLst>
          </a:prstGeom>
          <a:solidFill>
            <a:srgbClr val="F7FAFD"/>
          </a:solidFill>
          <a:ln w="6350">
            <a:solidFill>
              <a:srgbClr val="BDD4E6"/>
            </a:solidFill>
            <a:prstDash val="solid"/>
          </a:ln>
        </p:spPr>
      </p:sp>
      <p:sp>
        <p:nvSpPr>
          <p:cNvPr id="14" name="Text 12"/>
          <p:cNvSpPr/>
          <p:nvPr/>
        </p:nvSpPr>
        <p:spPr>
          <a:xfrm>
            <a:off x="566928" y="5120640"/>
            <a:ext cx="274320" cy="310896"/>
          </a:xfrm>
          <a:prstGeom prst="rect">
            <a:avLst/>
          </a:prstGeom>
          <a:noFill/>
          <a:ln/>
        </p:spPr>
        <p:txBody>
          <a:bodyPr wrap="square" lIns="0" tIns="0" rIns="0" bIns="0" rtlCol="0" anchor="ctr"/>
          <a:lstStyle/>
          <a:p>
            <a:pPr marL="0" indent="0" algn="ctr">
              <a:buNone/>
            </a:pPr>
            <a:r>
              <a:rPr lang="en-US" sz="1100" b="1" dirty="0">
                <a:solidFill>
                  <a:srgbClr val="0E6BA8"/>
                </a:solidFill>
                <a:latin typeface="Cambria" pitchFamily="34" charset="0"/>
                <a:ea typeface="Cambria" pitchFamily="34" charset="-122"/>
                <a:cs typeface="Cambria" pitchFamily="34" charset="-120"/>
              </a:rPr>
              <a:t>3</a:t>
            </a:r>
            <a:endParaRPr lang="en-US" sz="1100" dirty="0"/>
          </a:p>
        </p:txBody>
      </p:sp>
      <p:sp>
        <p:nvSpPr>
          <p:cNvPr id="15" name="Text 13"/>
          <p:cNvSpPr/>
          <p:nvPr/>
        </p:nvSpPr>
        <p:spPr>
          <a:xfrm>
            <a:off x="969264" y="5102352"/>
            <a:ext cx="4663440" cy="347472"/>
          </a:xfrm>
          <a:prstGeom prst="rect">
            <a:avLst/>
          </a:prstGeom>
          <a:noFill/>
          <a:ln/>
        </p:spPr>
        <p:txBody>
          <a:bodyPr wrap="square" lIns="0" tIns="0" rIns="0" bIns="0" rtlCol="0" anchor="ctr"/>
          <a:lstStyle/>
          <a:p>
            <a:pPr marL="0" indent="0">
              <a:buNone/>
            </a:pPr>
            <a:r>
              <a:rPr lang="en-US" sz="1050" dirty="0">
                <a:solidFill>
                  <a:srgbClr val="162537"/>
                </a:solidFill>
                <a:latin typeface="Calibri" pitchFamily="34" charset="0"/>
                <a:ea typeface="Calibri" pitchFamily="34" charset="-122"/>
                <a:cs typeface="Calibri" pitchFamily="34" charset="-120"/>
              </a:rPr>
              <a:t>Draw insights and correlations through data analysis and visualisation</a:t>
            </a:r>
            <a:endParaRPr lang="en-US" sz="1050" dirty="0"/>
          </a:p>
        </p:txBody>
      </p:sp>
      <p:sp>
        <p:nvSpPr>
          <p:cNvPr id="16" name="Shape 14"/>
          <p:cNvSpPr/>
          <p:nvPr/>
        </p:nvSpPr>
        <p:spPr>
          <a:xfrm>
            <a:off x="457200" y="5632704"/>
            <a:ext cx="5303520" cy="530352"/>
          </a:xfrm>
          <a:prstGeom prst="roundRect">
            <a:avLst>
              <a:gd name="adj" fmla="val 10345"/>
            </a:avLst>
          </a:prstGeom>
          <a:solidFill>
            <a:srgbClr val="F7FAFD"/>
          </a:solidFill>
          <a:ln w="6350">
            <a:solidFill>
              <a:srgbClr val="BDD4E6"/>
            </a:solidFill>
            <a:prstDash val="solid"/>
          </a:ln>
        </p:spPr>
      </p:sp>
      <p:sp>
        <p:nvSpPr>
          <p:cNvPr id="17" name="Text 15"/>
          <p:cNvSpPr/>
          <p:nvPr/>
        </p:nvSpPr>
        <p:spPr>
          <a:xfrm>
            <a:off x="566928" y="5742432"/>
            <a:ext cx="274320" cy="310896"/>
          </a:xfrm>
          <a:prstGeom prst="rect">
            <a:avLst/>
          </a:prstGeom>
          <a:noFill/>
          <a:ln/>
        </p:spPr>
        <p:txBody>
          <a:bodyPr wrap="square" lIns="0" tIns="0" rIns="0" bIns="0" rtlCol="0" anchor="ctr"/>
          <a:lstStyle/>
          <a:p>
            <a:pPr marL="0" indent="0" algn="ctr">
              <a:buNone/>
            </a:pPr>
            <a:r>
              <a:rPr lang="en-US" sz="1100" b="1" dirty="0">
                <a:solidFill>
                  <a:srgbClr val="0E6BA8"/>
                </a:solidFill>
                <a:latin typeface="Cambria" pitchFamily="34" charset="0"/>
                <a:ea typeface="Cambria" pitchFamily="34" charset="-122"/>
                <a:cs typeface="Cambria" pitchFamily="34" charset="-120"/>
              </a:rPr>
              <a:t>4</a:t>
            </a:r>
            <a:endParaRPr lang="en-US" sz="1100" dirty="0"/>
          </a:p>
        </p:txBody>
      </p:sp>
      <p:sp>
        <p:nvSpPr>
          <p:cNvPr id="18" name="Text 16"/>
          <p:cNvSpPr/>
          <p:nvPr/>
        </p:nvSpPr>
        <p:spPr>
          <a:xfrm>
            <a:off x="969264" y="5724144"/>
            <a:ext cx="4663440" cy="347472"/>
          </a:xfrm>
          <a:prstGeom prst="rect">
            <a:avLst/>
          </a:prstGeom>
          <a:noFill/>
          <a:ln/>
        </p:spPr>
        <p:txBody>
          <a:bodyPr wrap="square" lIns="0" tIns="0" rIns="0" bIns="0" rtlCol="0" anchor="ctr"/>
          <a:lstStyle/>
          <a:p>
            <a:pPr marL="0" indent="0">
              <a:buNone/>
            </a:pPr>
            <a:r>
              <a:rPr lang="en-US" sz="1050" dirty="0">
                <a:solidFill>
                  <a:srgbClr val="162537"/>
                </a:solidFill>
                <a:latin typeface="Calibri" pitchFamily="34" charset="0"/>
                <a:ea typeface="Calibri" pitchFamily="34" charset="-122"/>
                <a:cs typeface="Calibri" pitchFamily="34" charset="-120"/>
              </a:rPr>
              <a:t>Propose evidence-backed, implementable policy recommendations</a:t>
            </a:r>
            <a:endParaRPr lang="en-US" sz="1050" dirty="0"/>
          </a:p>
        </p:txBody>
      </p:sp>
      <p:sp>
        <p:nvSpPr>
          <p:cNvPr id="19" name="Text 17"/>
          <p:cNvSpPr/>
          <p:nvPr/>
        </p:nvSpPr>
        <p:spPr>
          <a:xfrm>
            <a:off x="6263640" y="1280160"/>
            <a:ext cx="5440680" cy="320040"/>
          </a:xfrm>
          <a:prstGeom prst="rect">
            <a:avLst/>
          </a:prstGeom>
          <a:noFill/>
          <a:ln/>
        </p:spPr>
        <p:txBody>
          <a:bodyPr wrap="square" rtlCol="0" anchor="ctr"/>
          <a:lstStyle/>
          <a:p>
            <a:pPr marL="0" indent="0">
              <a:buNone/>
            </a:pPr>
            <a:r>
              <a:rPr lang="en-US" sz="1400" b="1" dirty="0">
                <a:solidFill>
                  <a:srgbClr val="0E6BA8"/>
                </a:solidFill>
                <a:latin typeface="Cambria" pitchFamily="34" charset="0"/>
                <a:ea typeface="Cambria" pitchFamily="34" charset="-122"/>
                <a:cs typeface="Cambria" pitchFamily="34" charset="-120"/>
              </a:rPr>
              <a:t>Six Datasets Used</a:t>
            </a:r>
            <a:endParaRPr lang="en-US" sz="1400" dirty="0"/>
          </a:p>
        </p:txBody>
      </p:sp>
      <p:sp>
        <p:nvSpPr>
          <p:cNvPr id="20" name="Shape 18"/>
          <p:cNvSpPr/>
          <p:nvPr/>
        </p:nvSpPr>
        <p:spPr>
          <a:xfrm>
            <a:off x="6263640" y="1691640"/>
            <a:ext cx="5440680" cy="694944"/>
          </a:xfrm>
          <a:prstGeom prst="roundRect">
            <a:avLst>
              <a:gd name="adj" fmla="val 9211"/>
            </a:avLst>
          </a:prstGeom>
          <a:solidFill>
            <a:srgbClr val="F7FAFD"/>
          </a:solidFill>
          <a:ln w="9525">
            <a:solidFill>
              <a:srgbClr val="BDD4E6"/>
            </a:solidFill>
            <a:prstDash val="solid"/>
          </a:ln>
        </p:spPr>
      </p:sp>
      <p:sp>
        <p:nvSpPr>
          <p:cNvPr id="21" name="Shape 19"/>
          <p:cNvSpPr/>
          <p:nvPr/>
        </p:nvSpPr>
        <p:spPr>
          <a:xfrm>
            <a:off x="6391656" y="1810512"/>
            <a:ext cx="402336" cy="402336"/>
          </a:xfrm>
          <a:prstGeom prst="roundRect">
            <a:avLst>
              <a:gd name="adj" fmla="val 11364"/>
            </a:avLst>
          </a:prstGeom>
          <a:solidFill>
            <a:srgbClr val="0E6BA8"/>
          </a:solidFill>
          <a:ln w="12700">
            <a:solidFill>
              <a:srgbClr val="0E6BA8"/>
            </a:solidFill>
            <a:prstDash val="solid"/>
          </a:ln>
        </p:spPr>
      </p:sp>
      <p:sp>
        <p:nvSpPr>
          <p:cNvPr id="22" name="Text 20"/>
          <p:cNvSpPr/>
          <p:nvPr/>
        </p:nvSpPr>
        <p:spPr>
          <a:xfrm>
            <a:off x="6391656" y="1847088"/>
            <a:ext cx="402336"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01</a:t>
            </a:r>
            <a:endParaRPr lang="en-US" sz="1000" dirty="0"/>
          </a:p>
        </p:txBody>
      </p:sp>
      <p:sp>
        <p:nvSpPr>
          <p:cNvPr id="23" name="Text 21"/>
          <p:cNvSpPr/>
          <p:nvPr/>
        </p:nvSpPr>
        <p:spPr>
          <a:xfrm>
            <a:off x="6903720" y="1764792"/>
            <a:ext cx="4663440" cy="274320"/>
          </a:xfrm>
          <a:prstGeom prst="rect">
            <a:avLst/>
          </a:prstGeom>
          <a:noFill/>
          <a:ln/>
        </p:spPr>
        <p:txBody>
          <a:bodyPr wrap="square" lIns="0" tIns="0" rIns="0" bIns="0" rtlCol="0" anchor="ctr"/>
          <a:lstStyle/>
          <a:p>
            <a:pPr marL="0" indent="0">
              <a:buNone/>
            </a:pPr>
            <a:r>
              <a:rPr lang="en-US" sz="1100" b="1" dirty="0">
                <a:solidFill>
                  <a:srgbClr val="162537"/>
                </a:solidFill>
                <a:latin typeface="Calibri" pitchFamily="34" charset="0"/>
                <a:ea typeface="Calibri" pitchFamily="34" charset="-122"/>
                <a:cs typeface="Calibri" pitchFamily="34" charset="-120"/>
              </a:rPr>
              <a:t>Unemployment by Gender</a:t>
            </a:r>
            <a:endParaRPr lang="en-US" sz="1100" dirty="0"/>
          </a:p>
        </p:txBody>
      </p:sp>
      <p:sp>
        <p:nvSpPr>
          <p:cNvPr id="24" name="Text 22"/>
          <p:cNvSpPr/>
          <p:nvPr/>
        </p:nvSpPr>
        <p:spPr>
          <a:xfrm>
            <a:off x="6903720" y="2066544"/>
            <a:ext cx="4663440" cy="256032"/>
          </a:xfrm>
          <a:prstGeom prst="rect">
            <a:avLst/>
          </a:prstGeom>
          <a:noFill/>
          <a:ln/>
        </p:spPr>
        <p:txBody>
          <a:bodyPr wrap="square" lIns="0" tIns="0" rIns="0" bIns="0" rtlCol="0" anchor="ctr"/>
          <a:lstStyle/>
          <a:p>
            <a:pPr marL="0" indent="0">
              <a:buNone/>
            </a:pPr>
            <a:r>
              <a:rPr lang="en-US" sz="950" dirty="0">
                <a:solidFill>
                  <a:srgbClr val="5F7A8A"/>
                </a:solidFill>
                <a:latin typeface="Calibri" pitchFamily="34" charset="0"/>
                <a:ea typeface="Calibri" pitchFamily="34" charset="-122"/>
                <a:cs typeface="Calibri" pitchFamily="34" charset="-120"/>
              </a:rPr>
              <a:t>53 African countries  ·  2015  ·  ILO modelled estimates</a:t>
            </a:r>
            <a:endParaRPr lang="en-US" sz="950" dirty="0"/>
          </a:p>
        </p:txBody>
      </p:sp>
      <p:sp>
        <p:nvSpPr>
          <p:cNvPr id="25" name="Shape 23"/>
          <p:cNvSpPr/>
          <p:nvPr/>
        </p:nvSpPr>
        <p:spPr>
          <a:xfrm>
            <a:off x="6263640" y="2496312"/>
            <a:ext cx="5440680" cy="694944"/>
          </a:xfrm>
          <a:prstGeom prst="roundRect">
            <a:avLst>
              <a:gd name="adj" fmla="val 9211"/>
            </a:avLst>
          </a:prstGeom>
          <a:solidFill>
            <a:srgbClr val="F7FAFD"/>
          </a:solidFill>
          <a:ln w="9525">
            <a:solidFill>
              <a:srgbClr val="BDD4E6"/>
            </a:solidFill>
            <a:prstDash val="solid"/>
          </a:ln>
        </p:spPr>
      </p:sp>
      <p:sp>
        <p:nvSpPr>
          <p:cNvPr id="26" name="Shape 24"/>
          <p:cNvSpPr/>
          <p:nvPr/>
        </p:nvSpPr>
        <p:spPr>
          <a:xfrm>
            <a:off x="6391656" y="2615184"/>
            <a:ext cx="402336" cy="402336"/>
          </a:xfrm>
          <a:prstGeom prst="roundRect">
            <a:avLst>
              <a:gd name="adj" fmla="val 11364"/>
            </a:avLst>
          </a:prstGeom>
          <a:solidFill>
            <a:srgbClr val="0E6BA8"/>
          </a:solidFill>
          <a:ln w="12700">
            <a:solidFill>
              <a:srgbClr val="0E6BA8"/>
            </a:solidFill>
            <a:prstDash val="solid"/>
          </a:ln>
        </p:spPr>
      </p:sp>
      <p:sp>
        <p:nvSpPr>
          <p:cNvPr id="27" name="Text 25"/>
          <p:cNvSpPr/>
          <p:nvPr/>
        </p:nvSpPr>
        <p:spPr>
          <a:xfrm>
            <a:off x="6391656" y="2651760"/>
            <a:ext cx="402336"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02</a:t>
            </a:r>
            <a:endParaRPr lang="en-US" sz="1000" dirty="0"/>
          </a:p>
        </p:txBody>
      </p:sp>
      <p:sp>
        <p:nvSpPr>
          <p:cNvPr id="28" name="Text 26"/>
          <p:cNvSpPr/>
          <p:nvPr/>
        </p:nvSpPr>
        <p:spPr>
          <a:xfrm>
            <a:off x="6903720" y="2569464"/>
            <a:ext cx="4663440" cy="274320"/>
          </a:xfrm>
          <a:prstGeom prst="rect">
            <a:avLst/>
          </a:prstGeom>
          <a:noFill/>
          <a:ln/>
        </p:spPr>
        <p:txBody>
          <a:bodyPr wrap="square" lIns="0" tIns="0" rIns="0" bIns="0" rtlCol="0" anchor="ctr"/>
          <a:lstStyle/>
          <a:p>
            <a:pPr marL="0" indent="0">
              <a:buNone/>
            </a:pPr>
            <a:r>
              <a:rPr lang="en-US" sz="1100" b="1" dirty="0">
                <a:solidFill>
                  <a:srgbClr val="162537"/>
                </a:solidFill>
                <a:latin typeface="Calibri" pitchFamily="34" charset="0"/>
                <a:ea typeface="Calibri" pitchFamily="34" charset="-122"/>
                <a:cs typeface="Calibri" pitchFamily="34" charset="-120"/>
              </a:rPr>
              <a:t>National Youth Employment Strategy</a:t>
            </a:r>
            <a:endParaRPr lang="en-US" sz="1100" dirty="0"/>
          </a:p>
        </p:txBody>
      </p:sp>
      <p:sp>
        <p:nvSpPr>
          <p:cNvPr id="29" name="Text 27"/>
          <p:cNvSpPr/>
          <p:nvPr/>
        </p:nvSpPr>
        <p:spPr>
          <a:xfrm>
            <a:off x="6903720" y="2871216"/>
            <a:ext cx="4663440" cy="256032"/>
          </a:xfrm>
          <a:prstGeom prst="rect">
            <a:avLst/>
          </a:prstGeom>
          <a:noFill/>
          <a:ln/>
        </p:spPr>
        <p:txBody>
          <a:bodyPr wrap="square" lIns="0" tIns="0" rIns="0" bIns="0" rtlCol="0" anchor="ctr"/>
          <a:lstStyle/>
          <a:p>
            <a:pPr marL="0" indent="0">
              <a:buNone/>
            </a:pPr>
            <a:r>
              <a:rPr lang="en-US" sz="950" dirty="0">
                <a:solidFill>
                  <a:srgbClr val="5F7A8A"/>
                </a:solidFill>
                <a:latin typeface="Calibri" pitchFamily="34" charset="0"/>
                <a:ea typeface="Calibri" pitchFamily="34" charset="-122"/>
                <a:cs typeface="Calibri" pitchFamily="34" charset="-120"/>
              </a:rPr>
              <a:t>40 countries  ·  2019–2022  ·  UN SDG monitoring</a:t>
            </a:r>
            <a:endParaRPr lang="en-US" sz="950" dirty="0"/>
          </a:p>
        </p:txBody>
      </p:sp>
      <p:sp>
        <p:nvSpPr>
          <p:cNvPr id="30" name="Shape 28"/>
          <p:cNvSpPr/>
          <p:nvPr/>
        </p:nvSpPr>
        <p:spPr>
          <a:xfrm>
            <a:off x="6263640" y="3300984"/>
            <a:ext cx="5440680" cy="694944"/>
          </a:xfrm>
          <a:prstGeom prst="roundRect">
            <a:avLst>
              <a:gd name="adj" fmla="val 9211"/>
            </a:avLst>
          </a:prstGeom>
          <a:solidFill>
            <a:srgbClr val="F7FAFD"/>
          </a:solidFill>
          <a:ln w="9525">
            <a:solidFill>
              <a:srgbClr val="BDD4E6"/>
            </a:solidFill>
            <a:prstDash val="solid"/>
          </a:ln>
        </p:spPr>
      </p:sp>
      <p:sp>
        <p:nvSpPr>
          <p:cNvPr id="31" name="Shape 29"/>
          <p:cNvSpPr/>
          <p:nvPr/>
        </p:nvSpPr>
        <p:spPr>
          <a:xfrm>
            <a:off x="6391656" y="3419856"/>
            <a:ext cx="402336" cy="402336"/>
          </a:xfrm>
          <a:prstGeom prst="roundRect">
            <a:avLst>
              <a:gd name="adj" fmla="val 11364"/>
            </a:avLst>
          </a:prstGeom>
          <a:solidFill>
            <a:srgbClr val="0E6BA8"/>
          </a:solidFill>
          <a:ln w="12700">
            <a:solidFill>
              <a:srgbClr val="0E6BA8"/>
            </a:solidFill>
            <a:prstDash val="solid"/>
          </a:ln>
        </p:spPr>
      </p:sp>
      <p:sp>
        <p:nvSpPr>
          <p:cNvPr id="32" name="Text 30"/>
          <p:cNvSpPr/>
          <p:nvPr/>
        </p:nvSpPr>
        <p:spPr>
          <a:xfrm>
            <a:off x="6391656" y="3456432"/>
            <a:ext cx="402336"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03</a:t>
            </a:r>
            <a:endParaRPr lang="en-US" sz="1000" dirty="0"/>
          </a:p>
        </p:txBody>
      </p:sp>
      <p:sp>
        <p:nvSpPr>
          <p:cNvPr id="33" name="Text 31"/>
          <p:cNvSpPr/>
          <p:nvPr/>
        </p:nvSpPr>
        <p:spPr>
          <a:xfrm>
            <a:off x="6903720" y="3374136"/>
            <a:ext cx="4663440" cy="274320"/>
          </a:xfrm>
          <a:prstGeom prst="rect">
            <a:avLst/>
          </a:prstGeom>
          <a:noFill/>
          <a:ln/>
        </p:spPr>
        <p:txBody>
          <a:bodyPr wrap="square" lIns="0" tIns="0" rIns="0" bIns="0" rtlCol="0" anchor="ctr"/>
          <a:lstStyle/>
          <a:p>
            <a:pPr marL="0" indent="0">
              <a:buNone/>
            </a:pPr>
            <a:r>
              <a:rPr lang="en-US" sz="1100" b="1" dirty="0">
                <a:solidFill>
                  <a:srgbClr val="162537"/>
                </a:solidFill>
                <a:latin typeface="Calibri" pitchFamily="34" charset="0"/>
                <a:ea typeface="Calibri" pitchFamily="34" charset="-122"/>
                <a:cs typeface="Calibri" pitchFamily="34" charset="-120"/>
              </a:rPr>
              <a:t>Education Government Expenditure</a:t>
            </a:r>
            <a:endParaRPr lang="en-US" sz="1100" dirty="0"/>
          </a:p>
        </p:txBody>
      </p:sp>
      <p:sp>
        <p:nvSpPr>
          <p:cNvPr id="34" name="Text 32"/>
          <p:cNvSpPr/>
          <p:nvPr/>
        </p:nvSpPr>
        <p:spPr>
          <a:xfrm>
            <a:off x="6903720" y="3675888"/>
            <a:ext cx="4663440" cy="256032"/>
          </a:xfrm>
          <a:prstGeom prst="rect">
            <a:avLst/>
          </a:prstGeom>
          <a:noFill/>
          <a:ln/>
        </p:spPr>
        <p:txBody>
          <a:bodyPr wrap="square" lIns="0" tIns="0" rIns="0" bIns="0" rtlCol="0" anchor="ctr"/>
          <a:lstStyle/>
          <a:p>
            <a:pPr marL="0" indent="0">
              <a:buNone/>
            </a:pPr>
            <a:r>
              <a:rPr lang="en-US" sz="950" dirty="0">
                <a:solidFill>
                  <a:srgbClr val="5F7A8A"/>
                </a:solidFill>
                <a:latin typeface="Calibri" pitchFamily="34" charset="0"/>
                <a:ea typeface="Calibri" pitchFamily="34" charset="-122"/>
                <a:cs typeface="Calibri" pitchFamily="34" charset="-120"/>
              </a:rPr>
              <a:t>54 countries  ·  1980–2021  ·  % of govt spend</a:t>
            </a:r>
            <a:endParaRPr lang="en-US" sz="950" dirty="0"/>
          </a:p>
        </p:txBody>
      </p:sp>
      <p:sp>
        <p:nvSpPr>
          <p:cNvPr id="35" name="Shape 33"/>
          <p:cNvSpPr/>
          <p:nvPr/>
        </p:nvSpPr>
        <p:spPr>
          <a:xfrm>
            <a:off x="6263640" y="4105656"/>
            <a:ext cx="5440680" cy="694944"/>
          </a:xfrm>
          <a:prstGeom prst="roundRect">
            <a:avLst>
              <a:gd name="adj" fmla="val 9211"/>
            </a:avLst>
          </a:prstGeom>
          <a:solidFill>
            <a:srgbClr val="F7FAFD"/>
          </a:solidFill>
          <a:ln w="9525">
            <a:solidFill>
              <a:srgbClr val="BDD4E6"/>
            </a:solidFill>
            <a:prstDash val="solid"/>
          </a:ln>
        </p:spPr>
      </p:sp>
      <p:sp>
        <p:nvSpPr>
          <p:cNvPr id="36" name="Shape 34"/>
          <p:cNvSpPr/>
          <p:nvPr/>
        </p:nvSpPr>
        <p:spPr>
          <a:xfrm>
            <a:off x="6391656" y="4224528"/>
            <a:ext cx="402336" cy="402336"/>
          </a:xfrm>
          <a:prstGeom prst="roundRect">
            <a:avLst>
              <a:gd name="adj" fmla="val 11364"/>
            </a:avLst>
          </a:prstGeom>
          <a:solidFill>
            <a:srgbClr val="0E6BA8"/>
          </a:solidFill>
          <a:ln w="12700">
            <a:solidFill>
              <a:srgbClr val="0E6BA8"/>
            </a:solidFill>
            <a:prstDash val="solid"/>
          </a:ln>
        </p:spPr>
      </p:sp>
      <p:sp>
        <p:nvSpPr>
          <p:cNvPr id="37" name="Text 35"/>
          <p:cNvSpPr/>
          <p:nvPr/>
        </p:nvSpPr>
        <p:spPr>
          <a:xfrm>
            <a:off x="6391656" y="4261104"/>
            <a:ext cx="402336"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04</a:t>
            </a:r>
            <a:endParaRPr lang="en-US" sz="1000" dirty="0"/>
          </a:p>
        </p:txBody>
      </p:sp>
      <p:sp>
        <p:nvSpPr>
          <p:cNvPr id="38" name="Text 36"/>
          <p:cNvSpPr/>
          <p:nvPr/>
        </p:nvSpPr>
        <p:spPr>
          <a:xfrm>
            <a:off x="6903720" y="4178808"/>
            <a:ext cx="4663440" cy="274320"/>
          </a:xfrm>
          <a:prstGeom prst="rect">
            <a:avLst/>
          </a:prstGeom>
          <a:noFill/>
          <a:ln/>
        </p:spPr>
        <p:txBody>
          <a:bodyPr wrap="square" lIns="0" tIns="0" rIns="0" bIns="0" rtlCol="0" anchor="ctr"/>
          <a:lstStyle/>
          <a:p>
            <a:pPr marL="0" indent="0">
              <a:buNone/>
            </a:pPr>
            <a:r>
              <a:rPr lang="en-US" sz="1100" b="1" dirty="0">
                <a:solidFill>
                  <a:srgbClr val="162537"/>
                </a:solidFill>
                <a:latin typeface="Calibri" pitchFamily="34" charset="0"/>
                <a:ea typeface="Calibri" pitchFamily="34" charset="-122"/>
                <a:cs typeface="Calibri" pitchFamily="34" charset="-120"/>
              </a:rPr>
              <a:t>Population with Electricity Access</a:t>
            </a:r>
            <a:endParaRPr lang="en-US" sz="1100" dirty="0"/>
          </a:p>
        </p:txBody>
      </p:sp>
      <p:sp>
        <p:nvSpPr>
          <p:cNvPr id="39" name="Text 37"/>
          <p:cNvSpPr/>
          <p:nvPr/>
        </p:nvSpPr>
        <p:spPr>
          <a:xfrm>
            <a:off x="6903720" y="4480560"/>
            <a:ext cx="4663440" cy="256032"/>
          </a:xfrm>
          <a:prstGeom prst="rect">
            <a:avLst/>
          </a:prstGeom>
          <a:noFill/>
          <a:ln/>
        </p:spPr>
        <p:txBody>
          <a:bodyPr wrap="square" lIns="0" tIns="0" rIns="0" bIns="0" rtlCol="0" anchor="ctr"/>
          <a:lstStyle/>
          <a:p>
            <a:pPr marL="0" indent="0">
              <a:buNone/>
            </a:pPr>
            <a:r>
              <a:rPr lang="en-US" sz="950" dirty="0">
                <a:solidFill>
                  <a:srgbClr val="5F7A8A"/>
                </a:solidFill>
                <a:latin typeface="Calibri" pitchFamily="34" charset="0"/>
                <a:ea typeface="Calibri" pitchFamily="34" charset="-122"/>
                <a:cs typeface="Calibri" pitchFamily="34" charset="-120"/>
              </a:rPr>
              <a:t>54 countries  ·  1990–2020  ·  World Bank</a:t>
            </a:r>
            <a:endParaRPr lang="en-US" sz="950" dirty="0"/>
          </a:p>
        </p:txBody>
      </p:sp>
      <p:sp>
        <p:nvSpPr>
          <p:cNvPr id="40" name="Shape 38"/>
          <p:cNvSpPr/>
          <p:nvPr/>
        </p:nvSpPr>
        <p:spPr>
          <a:xfrm>
            <a:off x="6263640" y="4910328"/>
            <a:ext cx="5440680" cy="694944"/>
          </a:xfrm>
          <a:prstGeom prst="roundRect">
            <a:avLst>
              <a:gd name="adj" fmla="val 9211"/>
            </a:avLst>
          </a:prstGeom>
          <a:solidFill>
            <a:srgbClr val="F7FAFD"/>
          </a:solidFill>
          <a:ln w="9525">
            <a:solidFill>
              <a:srgbClr val="BDD4E6"/>
            </a:solidFill>
            <a:prstDash val="solid"/>
          </a:ln>
        </p:spPr>
      </p:sp>
      <p:sp>
        <p:nvSpPr>
          <p:cNvPr id="41" name="Shape 39"/>
          <p:cNvSpPr/>
          <p:nvPr/>
        </p:nvSpPr>
        <p:spPr>
          <a:xfrm>
            <a:off x="6391656" y="5029200"/>
            <a:ext cx="402336" cy="402336"/>
          </a:xfrm>
          <a:prstGeom prst="roundRect">
            <a:avLst>
              <a:gd name="adj" fmla="val 11364"/>
            </a:avLst>
          </a:prstGeom>
          <a:solidFill>
            <a:srgbClr val="0E6BA8"/>
          </a:solidFill>
          <a:ln w="12700">
            <a:solidFill>
              <a:srgbClr val="0E6BA8"/>
            </a:solidFill>
            <a:prstDash val="solid"/>
          </a:ln>
        </p:spPr>
      </p:sp>
      <p:sp>
        <p:nvSpPr>
          <p:cNvPr id="42" name="Text 40"/>
          <p:cNvSpPr/>
          <p:nvPr/>
        </p:nvSpPr>
        <p:spPr>
          <a:xfrm>
            <a:off x="6391656" y="5065776"/>
            <a:ext cx="402336"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05</a:t>
            </a:r>
            <a:endParaRPr lang="en-US" sz="1000" dirty="0"/>
          </a:p>
        </p:txBody>
      </p:sp>
      <p:sp>
        <p:nvSpPr>
          <p:cNvPr id="43" name="Text 41"/>
          <p:cNvSpPr/>
          <p:nvPr/>
        </p:nvSpPr>
        <p:spPr>
          <a:xfrm>
            <a:off x="6903720" y="4983480"/>
            <a:ext cx="4663440" cy="274320"/>
          </a:xfrm>
          <a:prstGeom prst="rect">
            <a:avLst/>
          </a:prstGeom>
          <a:noFill/>
          <a:ln/>
        </p:spPr>
        <p:txBody>
          <a:bodyPr wrap="square" lIns="0" tIns="0" rIns="0" bIns="0" rtlCol="0" anchor="ctr"/>
          <a:lstStyle/>
          <a:p>
            <a:pPr marL="0" indent="0">
              <a:buNone/>
            </a:pPr>
            <a:r>
              <a:rPr lang="en-US" sz="1100" b="1" dirty="0">
                <a:solidFill>
                  <a:srgbClr val="162537"/>
                </a:solidFill>
                <a:latin typeface="Calibri" pitchFamily="34" charset="0"/>
                <a:ea typeface="Calibri" pitchFamily="34" charset="-122"/>
                <a:cs typeface="Calibri" pitchFamily="34" charset="-120"/>
              </a:rPr>
              <a:t>Total Firms — LLC Historical Data</a:t>
            </a:r>
            <a:endParaRPr lang="en-US" sz="1100" dirty="0"/>
          </a:p>
        </p:txBody>
      </p:sp>
      <p:sp>
        <p:nvSpPr>
          <p:cNvPr id="44" name="Text 42"/>
          <p:cNvSpPr/>
          <p:nvPr/>
        </p:nvSpPr>
        <p:spPr>
          <a:xfrm>
            <a:off x="6903720" y="5285232"/>
            <a:ext cx="4663440" cy="256032"/>
          </a:xfrm>
          <a:prstGeom prst="rect">
            <a:avLst/>
          </a:prstGeom>
          <a:noFill/>
          <a:ln/>
        </p:spPr>
        <p:txBody>
          <a:bodyPr wrap="square" lIns="0" tIns="0" rIns="0" bIns="0" rtlCol="0" anchor="ctr"/>
          <a:lstStyle/>
          <a:p>
            <a:pPr marL="0" indent="0">
              <a:buNone/>
            </a:pPr>
            <a:r>
              <a:rPr lang="en-US" sz="950" dirty="0">
                <a:solidFill>
                  <a:srgbClr val="5F7A8A"/>
                </a:solidFill>
                <a:latin typeface="Calibri" pitchFamily="34" charset="0"/>
                <a:ea typeface="Calibri" pitchFamily="34" charset="-122"/>
                <a:cs typeface="Calibri" pitchFamily="34" charset="-120"/>
              </a:rPr>
              <a:t>14 matched African countries  ·  2006–2020</a:t>
            </a:r>
            <a:endParaRPr lang="en-US" sz="950" dirty="0"/>
          </a:p>
        </p:txBody>
      </p:sp>
      <p:sp>
        <p:nvSpPr>
          <p:cNvPr id="45" name="Shape 43"/>
          <p:cNvSpPr/>
          <p:nvPr/>
        </p:nvSpPr>
        <p:spPr>
          <a:xfrm>
            <a:off x="6263640" y="5715000"/>
            <a:ext cx="5440680" cy="694944"/>
          </a:xfrm>
          <a:prstGeom prst="roundRect">
            <a:avLst>
              <a:gd name="adj" fmla="val 9211"/>
            </a:avLst>
          </a:prstGeom>
          <a:solidFill>
            <a:srgbClr val="F7FAFD"/>
          </a:solidFill>
          <a:ln w="9525">
            <a:solidFill>
              <a:srgbClr val="BDD4E6"/>
            </a:solidFill>
            <a:prstDash val="solid"/>
          </a:ln>
        </p:spPr>
      </p:sp>
      <p:sp>
        <p:nvSpPr>
          <p:cNvPr id="46" name="Shape 44"/>
          <p:cNvSpPr/>
          <p:nvPr/>
        </p:nvSpPr>
        <p:spPr>
          <a:xfrm>
            <a:off x="6391656" y="5833872"/>
            <a:ext cx="402336" cy="402336"/>
          </a:xfrm>
          <a:prstGeom prst="roundRect">
            <a:avLst>
              <a:gd name="adj" fmla="val 11364"/>
            </a:avLst>
          </a:prstGeom>
          <a:solidFill>
            <a:srgbClr val="0E6BA8"/>
          </a:solidFill>
          <a:ln w="12700">
            <a:solidFill>
              <a:srgbClr val="0E6BA8"/>
            </a:solidFill>
            <a:prstDash val="solid"/>
          </a:ln>
        </p:spPr>
      </p:sp>
      <p:sp>
        <p:nvSpPr>
          <p:cNvPr id="47" name="Text 45"/>
          <p:cNvSpPr/>
          <p:nvPr/>
        </p:nvSpPr>
        <p:spPr>
          <a:xfrm>
            <a:off x="6391656" y="5870448"/>
            <a:ext cx="402336"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06</a:t>
            </a:r>
            <a:endParaRPr lang="en-US" sz="1000" dirty="0"/>
          </a:p>
        </p:txBody>
      </p:sp>
      <p:sp>
        <p:nvSpPr>
          <p:cNvPr id="48" name="Text 46"/>
          <p:cNvSpPr/>
          <p:nvPr/>
        </p:nvSpPr>
        <p:spPr>
          <a:xfrm>
            <a:off x="6903720" y="5788152"/>
            <a:ext cx="4663440" cy="274320"/>
          </a:xfrm>
          <a:prstGeom prst="rect">
            <a:avLst/>
          </a:prstGeom>
          <a:noFill/>
          <a:ln/>
        </p:spPr>
        <p:txBody>
          <a:bodyPr wrap="square" lIns="0" tIns="0" rIns="0" bIns="0" rtlCol="0" anchor="ctr"/>
          <a:lstStyle/>
          <a:p>
            <a:pPr marL="0" indent="0">
              <a:buNone/>
            </a:pPr>
            <a:r>
              <a:rPr lang="en-US" sz="1100" b="1" dirty="0">
                <a:solidFill>
                  <a:srgbClr val="162537"/>
                </a:solidFill>
                <a:latin typeface="Calibri" pitchFamily="34" charset="0"/>
                <a:ea typeface="Calibri" pitchFamily="34" charset="-122"/>
                <a:cs typeface="Calibri" pitchFamily="34" charset="-120"/>
              </a:rPr>
              <a:t>Country Codes Reference</a:t>
            </a:r>
            <a:endParaRPr lang="en-US" sz="1100" dirty="0"/>
          </a:p>
        </p:txBody>
      </p:sp>
      <p:sp>
        <p:nvSpPr>
          <p:cNvPr id="49" name="Text 47"/>
          <p:cNvSpPr/>
          <p:nvPr/>
        </p:nvSpPr>
        <p:spPr>
          <a:xfrm>
            <a:off x="6903720" y="6089904"/>
            <a:ext cx="4663440" cy="256032"/>
          </a:xfrm>
          <a:prstGeom prst="rect">
            <a:avLst/>
          </a:prstGeom>
          <a:noFill/>
          <a:ln/>
        </p:spPr>
        <p:txBody>
          <a:bodyPr wrap="square" lIns="0" tIns="0" rIns="0" bIns="0" rtlCol="0" anchor="ctr"/>
          <a:lstStyle/>
          <a:p>
            <a:pPr marL="0" indent="0">
              <a:buNone/>
            </a:pPr>
            <a:r>
              <a:rPr lang="en-US" sz="950" dirty="0">
                <a:solidFill>
                  <a:srgbClr val="5F7A8A"/>
                </a:solidFill>
                <a:latin typeface="Calibri" pitchFamily="34" charset="0"/>
                <a:ea typeface="Calibri" pitchFamily="34" charset="-122"/>
                <a:cs typeface="Calibri" pitchFamily="34" charset="-120"/>
              </a:rPr>
              <a:t>54 African countries  ·  ISO 3166  ·  Region mapping</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chemeClr val="bg1">
            <a:lumMod val="95000"/>
          </a:schemeClr>
        </a:solidFill>
        <a:effectLst/>
      </p:bgPr>
    </p:bg>
    <p:spTree>
      <p:nvGrpSpPr>
        <p:cNvPr id="1" name=""/>
        <p:cNvGrpSpPr/>
        <p:nvPr/>
      </p:nvGrpSpPr>
      <p:grpSpPr>
        <a:xfrm>
          <a:off x="0" y="0"/>
          <a:ext cx="0" cy="0"/>
          <a:chOff x="0" y="0"/>
          <a:chExt cx="0" cy="0"/>
        </a:xfrm>
      </p:grpSpPr>
      <p:sp>
        <p:nvSpPr>
          <p:cNvPr id="2" name="Text 0"/>
          <p:cNvSpPr/>
          <p:nvPr/>
        </p:nvSpPr>
        <p:spPr>
          <a:xfrm>
            <a:off x="457200" y="256032"/>
            <a:ext cx="11247120" cy="594360"/>
          </a:xfrm>
          <a:prstGeom prst="rect">
            <a:avLst/>
          </a:prstGeom>
          <a:noFill/>
          <a:ln/>
        </p:spPr>
        <p:txBody>
          <a:bodyPr wrap="square" rtlCol="0" anchor="ctr"/>
          <a:lstStyle/>
          <a:p>
            <a:pPr marL="0" indent="0">
              <a:buNone/>
            </a:pPr>
            <a:r>
              <a:rPr lang="en-US" sz="2000" b="1" dirty="0">
                <a:solidFill>
                  <a:srgbClr val="0E6BA8"/>
                </a:solidFill>
                <a:latin typeface="Cambria" pitchFamily="34" charset="0"/>
                <a:ea typeface="Cambria" pitchFamily="34" charset="-122"/>
                <a:cs typeface="Cambria" pitchFamily="34" charset="-120"/>
              </a:rPr>
              <a:t>Tools &amp; Methodology</a:t>
            </a:r>
            <a:endParaRPr lang="en-US" sz="2000" dirty="0"/>
          </a:p>
        </p:txBody>
      </p:sp>
      <p:sp>
        <p:nvSpPr>
          <p:cNvPr id="4" name="Shape 2"/>
          <p:cNvSpPr/>
          <p:nvPr/>
        </p:nvSpPr>
        <p:spPr>
          <a:xfrm>
            <a:off x="457200" y="1298448"/>
            <a:ext cx="3596640" cy="2212848"/>
          </a:xfrm>
          <a:prstGeom prst="roundRect">
            <a:avLst>
              <a:gd name="adj" fmla="val 4132"/>
            </a:avLst>
          </a:prstGeom>
          <a:solidFill>
            <a:srgbClr val="F7FAFD"/>
          </a:solidFill>
          <a:ln w="9525">
            <a:solidFill>
              <a:srgbClr val="BDD4E6"/>
            </a:solidFill>
            <a:prstDash val="solid"/>
          </a:ln>
        </p:spPr>
      </p:sp>
      <p:sp>
        <p:nvSpPr>
          <p:cNvPr id="5" name="Shape 3"/>
          <p:cNvSpPr/>
          <p:nvPr/>
        </p:nvSpPr>
        <p:spPr>
          <a:xfrm>
            <a:off x="640080" y="1463040"/>
            <a:ext cx="475488" cy="475488"/>
          </a:xfrm>
          <a:prstGeom prst="ellipse">
            <a:avLst/>
          </a:prstGeom>
          <a:solidFill>
            <a:srgbClr val="0E6BA8"/>
          </a:solidFill>
          <a:ln w="12700">
            <a:solidFill>
              <a:srgbClr val="0E6BA8"/>
            </a:solidFill>
            <a:prstDash val="solid"/>
          </a:ln>
        </p:spPr>
      </p:sp>
      <p:sp>
        <p:nvSpPr>
          <p:cNvPr id="6" name="Text 4"/>
          <p:cNvSpPr/>
          <p:nvPr/>
        </p:nvSpPr>
        <p:spPr>
          <a:xfrm>
            <a:off x="640080" y="1545336"/>
            <a:ext cx="475488"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01</a:t>
            </a:r>
            <a:endParaRPr lang="en-US" sz="1200" dirty="0"/>
          </a:p>
        </p:txBody>
      </p:sp>
      <p:sp>
        <p:nvSpPr>
          <p:cNvPr id="7" name="Text 5"/>
          <p:cNvSpPr/>
          <p:nvPr/>
        </p:nvSpPr>
        <p:spPr>
          <a:xfrm>
            <a:off x="1243584" y="1481328"/>
            <a:ext cx="2627376" cy="475488"/>
          </a:xfrm>
          <a:prstGeom prst="rect">
            <a:avLst/>
          </a:prstGeom>
          <a:noFill/>
          <a:ln/>
        </p:spPr>
        <p:txBody>
          <a:bodyPr wrap="square" rtlCol="0" anchor="ctr"/>
          <a:lstStyle/>
          <a:p>
            <a:pPr marL="0" indent="0">
              <a:buNone/>
            </a:pPr>
            <a:r>
              <a:rPr lang="en-US" sz="1200" b="1" dirty="0">
                <a:latin typeface="Cambria" pitchFamily="34" charset="0"/>
                <a:ea typeface="Cambria" pitchFamily="34" charset="-122"/>
                <a:cs typeface="Cambria" pitchFamily="34" charset="-120"/>
              </a:rPr>
              <a:t>Data Import via Power Query</a:t>
            </a:r>
            <a:endParaRPr lang="en-US" sz="1200" dirty="0"/>
          </a:p>
        </p:txBody>
      </p:sp>
      <p:sp>
        <p:nvSpPr>
          <p:cNvPr id="8" name="Text 6"/>
          <p:cNvSpPr/>
          <p:nvPr/>
        </p:nvSpPr>
        <p:spPr>
          <a:xfrm>
            <a:off x="640080" y="2048256"/>
            <a:ext cx="3230880" cy="1353312"/>
          </a:xfrm>
          <a:prstGeom prst="rect">
            <a:avLst/>
          </a:prstGeom>
          <a:noFill/>
          <a:ln/>
        </p:spPr>
        <p:txBody>
          <a:bodyPr wrap="square" rtlCol="0" anchor="ctr"/>
          <a:lstStyle/>
          <a:p>
            <a:pPr marL="0" indent="0">
              <a:buNone/>
            </a:pPr>
            <a:r>
              <a:rPr lang="en-US" sz="1100" dirty="0">
                <a:latin typeface="Calibri" pitchFamily="34" charset="0"/>
                <a:ea typeface="Calibri" pitchFamily="34" charset="-122"/>
                <a:cs typeface="Calibri" pitchFamily="34" charset="-120"/>
              </a:rPr>
              <a:t>Connected all 6 CSV/XLSX files using Get &amp; Transform. Each dataset loaded as a named query with transformation recorded </a:t>
            </a:r>
          </a:p>
          <a:p>
            <a:pPr marL="0" indent="0">
              <a:buNone/>
            </a:pPr>
            <a:endParaRPr lang="en-US" sz="1100" dirty="0">
              <a:latin typeface="Calibri" pitchFamily="34" charset="0"/>
              <a:ea typeface="Calibri" pitchFamily="34" charset="-122"/>
              <a:cs typeface="Calibri" pitchFamily="34" charset="-120"/>
            </a:endParaRPr>
          </a:p>
          <a:p>
            <a:pPr marL="0" indent="0">
              <a:buNone/>
            </a:pPr>
            <a:r>
              <a:rPr lang="en-US" sz="1100" dirty="0">
                <a:latin typeface="Calibri" pitchFamily="34" charset="0"/>
                <a:ea typeface="Calibri" pitchFamily="34" charset="-122"/>
                <a:cs typeface="Calibri" pitchFamily="34" charset="-120"/>
              </a:rPr>
              <a:t>Trim, </a:t>
            </a:r>
          </a:p>
          <a:p>
            <a:pPr marL="0" indent="0">
              <a:buNone/>
            </a:pPr>
            <a:r>
              <a:rPr lang="en-US" sz="1100" dirty="0">
                <a:latin typeface="Calibri" pitchFamily="34" charset="0"/>
                <a:ea typeface="Calibri" pitchFamily="34" charset="-122"/>
                <a:cs typeface="Calibri" pitchFamily="34" charset="-120"/>
              </a:rPr>
              <a:t>Remove Duplicates, </a:t>
            </a:r>
          </a:p>
          <a:p>
            <a:pPr marL="0" indent="0">
              <a:buNone/>
            </a:pPr>
            <a:r>
              <a:rPr lang="en-US" sz="1100" dirty="0">
                <a:latin typeface="Calibri" pitchFamily="34" charset="0"/>
                <a:ea typeface="Calibri" pitchFamily="34" charset="-122"/>
                <a:cs typeface="Calibri" pitchFamily="34" charset="-120"/>
              </a:rPr>
              <a:t>Renamed Columns,</a:t>
            </a:r>
          </a:p>
          <a:p>
            <a:pPr marL="0" indent="0">
              <a:buNone/>
            </a:pPr>
            <a:r>
              <a:rPr lang="en-US" sz="1100" dirty="0">
                <a:latin typeface="Calibri" pitchFamily="34" charset="0"/>
                <a:ea typeface="Calibri" pitchFamily="34" charset="-122"/>
                <a:cs typeface="Calibri" pitchFamily="34" charset="-120"/>
              </a:rPr>
              <a:t>Changed Type.</a:t>
            </a:r>
            <a:endParaRPr lang="en-US" sz="1100" dirty="0"/>
          </a:p>
        </p:txBody>
      </p:sp>
      <p:sp>
        <p:nvSpPr>
          <p:cNvPr id="9" name="Shape 7"/>
          <p:cNvSpPr/>
          <p:nvPr/>
        </p:nvSpPr>
        <p:spPr>
          <a:xfrm>
            <a:off x="4282440" y="1298448"/>
            <a:ext cx="3596640" cy="2212848"/>
          </a:xfrm>
          <a:prstGeom prst="roundRect">
            <a:avLst>
              <a:gd name="adj" fmla="val 4132"/>
            </a:avLst>
          </a:prstGeom>
          <a:solidFill>
            <a:srgbClr val="F7FAFD"/>
          </a:solidFill>
          <a:ln w="9525">
            <a:solidFill>
              <a:srgbClr val="BDD4E6"/>
            </a:solidFill>
            <a:prstDash val="solid"/>
          </a:ln>
        </p:spPr>
      </p:sp>
      <p:sp>
        <p:nvSpPr>
          <p:cNvPr id="10" name="Shape 8"/>
          <p:cNvSpPr/>
          <p:nvPr/>
        </p:nvSpPr>
        <p:spPr>
          <a:xfrm>
            <a:off x="4465320" y="1463040"/>
            <a:ext cx="475488" cy="475488"/>
          </a:xfrm>
          <a:prstGeom prst="ellipse">
            <a:avLst/>
          </a:prstGeom>
          <a:solidFill>
            <a:srgbClr val="0E6BA8"/>
          </a:solidFill>
          <a:ln w="12700">
            <a:solidFill>
              <a:srgbClr val="0E6BA8"/>
            </a:solidFill>
            <a:prstDash val="solid"/>
          </a:ln>
        </p:spPr>
      </p:sp>
      <p:sp>
        <p:nvSpPr>
          <p:cNvPr id="11" name="Text 9"/>
          <p:cNvSpPr/>
          <p:nvPr/>
        </p:nvSpPr>
        <p:spPr>
          <a:xfrm>
            <a:off x="4465320" y="1545336"/>
            <a:ext cx="475488"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02</a:t>
            </a:r>
            <a:endParaRPr lang="en-US" sz="1200" dirty="0"/>
          </a:p>
        </p:txBody>
      </p:sp>
      <p:sp>
        <p:nvSpPr>
          <p:cNvPr id="12" name="Text 10"/>
          <p:cNvSpPr/>
          <p:nvPr/>
        </p:nvSpPr>
        <p:spPr>
          <a:xfrm>
            <a:off x="5068824" y="1481328"/>
            <a:ext cx="2627376" cy="475488"/>
          </a:xfrm>
          <a:prstGeom prst="rect">
            <a:avLst/>
          </a:prstGeom>
          <a:noFill/>
          <a:ln/>
        </p:spPr>
        <p:txBody>
          <a:bodyPr wrap="square" rtlCol="0" anchor="ctr"/>
          <a:lstStyle/>
          <a:p>
            <a:pPr marL="0" indent="0">
              <a:buNone/>
            </a:pPr>
            <a:r>
              <a:rPr lang="en-US" sz="1200" b="1" dirty="0">
                <a:latin typeface="Cambria" pitchFamily="34" charset="0"/>
                <a:ea typeface="Cambria" pitchFamily="34" charset="-122"/>
                <a:cs typeface="Cambria" pitchFamily="34" charset="-120"/>
              </a:rPr>
              <a:t>Africa Filter via Left Outer Merge</a:t>
            </a:r>
            <a:endParaRPr lang="en-US" sz="1200" dirty="0"/>
          </a:p>
        </p:txBody>
      </p:sp>
      <p:sp>
        <p:nvSpPr>
          <p:cNvPr id="13" name="Text 11"/>
          <p:cNvSpPr/>
          <p:nvPr/>
        </p:nvSpPr>
        <p:spPr>
          <a:xfrm>
            <a:off x="4465320" y="2048256"/>
            <a:ext cx="3230880" cy="1353312"/>
          </a:xfrm>
          <a:prstGeom prst="rect">
            <a:avLst/>
          </a:prstGeom>
          <a:noFill/>
          <a:ln/>
        </p:spPr>
        <p:txBody>
          <a:bodyPr wrap="square" rtlCol="0" anchor="ctr"/>
          <a:lstStyle/>
          <a:p>
            <a:pPr marL="0" indent="0">
              <a:buNone/>
            </a:pPr>
            <a:r>
              <a:rPr lang="en-US" sz="1100" dirty="0">
                <a:latin typeface="Calibri" pitchFamily="34" charset="0"/>
                <a:ea typeface="Calibri" pitchFamily="34" charset="-122"/>
                <a:cs typeface="Calibri" pitchFamily="34" charset="-120"/>
              </a:rPr>
              <a:t>Country Codes (Dataset 6) used as reference table. Left Outer join on alpha-3 code column to bring Region/Sub-region into datasets with no geography column to my base dataset(Gender Unemployment)</a:t>
            </a:r>
            <a:endParaRPr lang="en-US" sz="1100" dirty="0"/>
          </a:p>
        </p:txBody>
      </p:sp>
      <p:sp>
        <p:nvSpPr>
          <p:cNvPr id="14" name="Shape 12"/>
          <p:cNvSpPr/>
          <p:nvPr/>
        </p:nvSpPr>
        <p:spPr>
          <a:xfrm>
            <a:off x="8107680" y="1298448"/>
            <a:ext cx="3596640" cy="2212848"/>
          </a:xfrm>
          <a:prstGeom prst="roundRect">
            <a:avLst>
              <a:gd name="adj" fmla="val 4132"/>
            </a:avLst>
          </a:prstGeom>
          <a:solidFill>
            <a:srgbClr val="F7FAFD"/>
          </a:solidFill>
          <a:ln w="9525">
            <a:solidFill>
              <a:srgbClr val="BDD4E6"/>
            </a:solidFill>
            <a:prstDash val="solid"/>
          </a:ln>
        </p:spPr>
      </p:sp>
      <p:sp>
        <p:nvSpPr>
          <p:cNvPr id="15" name="Shape 13"/>
          <p:cNvSpPr/>
          <p:nvPr/>
        </p:nvSpPr>
        <p:spPr>
          <a:xfrm>
            <a:off x="8290560" y="1463040"/>
            <a:ext cx="475488" cy="475488"/>
          </a:xfrm>
          <a:prstGeom prst="ellipse">
            <a:avLst/>
          </a:prstGeom>
          <a:solidFill>
            <a:srgbClr val="0E6BA8"/>
          </a:solidFill>
          <a:ln w="12700">
            <a:solidFill>
              <a:srgbClr val="0E6BA8"/>
            </a:solidFill>
            <a:prstDash val="solid"/>
          </a:ln>
        </p:spPr>
      </p:sp>
      <p:sp>
        <p:nvSpPr>
          <p:cNvPr id="16" name="Text 14"/>
          <p:cNvSpPr/>
          <p:nvPr/>
        </p:nvSpPr>
        <p:spPr>
          <a:xfrm>
            <a:off x="8290560" y="1545336"/>
            <a:ext cx="475488"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03</a:t>
            </a:r>
            <a:endParaRPr lang="en-US" sz="1200" dirty="0"/>
          </a:p>
        </p:txBody>
      </p:sp>
      <p:sp>
        <p:nvSpPr>
          <p:cNvPr id="17" name="Text 15"/>
          <p:cNvSpPr/>
          <p:nvPr/>
        </p:nvSpPr>
        <p:spPr>
          <a:xfrm>
            <a:off x="8894064" y="1481328"/>
            <a:ext cx="2627376" cy="475488"/>
          </a:xfrm>
          <a:prstGeom prst="rect">
            <a:avLst/>
          </a:prstGeom>
          <a:noFill/>
          <a:ln/>
        </p:spPr>
        <p:txBody>
          <a:bodyPr wrap="square" rtlCol="0" anchor="ctr"/>
          <a:lstStyle/>
          <a:p>
            <a:pPr marL="0" indent="0">
              <a:buNone/>
            </a:pPr>
            <a:r>
              <a:rPr lang="en-US" sz="1200" b="1" dirty="0">
                <a:latin typeface="Cambria" pitchFamily="34" charset="0"/>
                <a:ea typeface="Cambria" pitchFamily="34" charset="-122"/>
                <a:cs typeface="Cambria" pitchFamily="34" charset="-120"/>
              </a:rPr>
              <a:t>Calculated Columns Added</a:t>
            </a:r>
            <a:endParaRPr lang="en-US" sz="1200" dirty="0"/>
          </a:p>
        </p:txBody>
      </p:sp>
      <p:sp>
        <p:nvSpPr>
          <p:cNvPr id="18" name="Text 16"/>
          <p:cNvSpPr/>
          <p:nvPr/>
        </p:nvSpPr>
        <p:spPr>
          <a:xfrm>
            <a:off x="8290560" y="2048256"/>
            <a:ext cx="3230880" cy="1353312"/>
          </a:xfrm>
          <a:prstGeom prst="rect">
            <a:avLst/>
          </a:prstGeom>
          <a:noFill/>
          <a:ln/>
        </p:spPr>
        <p:txBody>
          <a:bodyPr wrap="square" rtlCol="0" anchor="ctr"/>
          <a:lstStyle/>
          <a:p>
            <a:pPr marL="0" indent="0">
              <a:buNone/>
            </a:pPr>
            <a:r>
              <a:rPr lang="en-US" sz="1100" dirty="0">
                <a:latin typeface="Calibri" pitchFamily="34" charset="0"/>
                <a:ea typeface="Calibri" pitchFamily="34" charset="-122"/>
                <a:cs typeface="Calibri" pitchFamily="34" charset="-120"/>
              </a:rPr>
              <a:t>Gender Gap (Female% − Male%), Average Labour Force Unemployment, Education_group (HIGH/Low via IF), Electricity_group (High/Low via IF), and Strategy_label (0–3 decoded).</a:t>
            </a:r>
            <a:endParaRPr lang="en-US" sz="1100" dirty="0"/>
          </a:p>
        </p:txBody>
      </p:sp>
      <p:sp>
        <p:nvSpPr>
          <p:cNvPr id="19" name="Shape 17"/>
          <p:cNvSpPr/>
          <p:nvPr/>
        </p:nvSpPr>
        <p:spPr>
          <a:xfrm>
            <a:off x="457200" y="3694176"/>
            <a:ext cx="3596640" cy="2212848"/>
          </a:xfrm>
          <a:prstGeom prst="roundRect">
            <a:avLst>
              <a:gd name="adj" fmla="val 4132"/>
            </a:avLst>
          </a:prstGeom>
          <a:solidFill>
            <a:srgbClr val="F7FAFD"/>
          </a:solidFill>
          <a:ln w="9525">
            <a:solidFill>
              <a:srgbClr val="BDD4E6"/>
            </a:solidFill>
            <a:prstDash val="solid"/>
          </a:ln>
        </p:spPr>
      </p:sp>
      <p:sp>
        <p:nvSpPr>
          <p:cNvPr id="20" name="Shape 18"/>
          <p:cNvSpPr/>
          <p:nvPr/>
        </p:nvSpPr>
        <p:spPr>
          <a:xfrm>
            <a:off x="640080" y="3858768"/>
            <a:ext cx="475488" cy="475488"/>
          </a:xfrm>
          <a:prstGeom prst="ellipse">
            <a:avLst/>
          </a:prstGeom>
          <a:solidFill>
            <a:srgbClr val="0E6BA8"/>
          </a:solidFill>
          <a:ln w="12700">
            <a:solidFill>
              <a:srgbClr val="0E6BA8"/>
            </a:solidFill>
            <a:prstDash val="solid"/>
          </a:ln>
        </p:spPr>
      </p:sp>
      <p:sp>
        <p:nvSpPr>
          <p:cNvPr id="21" name="Text 19"/>
          <p:cNvSpPr/>
          <p:nvPr/>
        </p:nvSpPr>
        <p:spPr>
          <a:xfrm>
            <a:off x="640080" y="3941064"/>
            <a:ext cx="475488"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04</a:t>
            </a:r>
            <a:endParaRPr lang="en-US" sz="1200" dirty="0"/>
          </a:p>
        </p:txBody>
      </p:sp>
      <p:sp>
        <p:nvSpPr>
          <p:cNvPr id="22" name="Text 20"/>
          <p:cNvSpPr/>
          <p:nvPr/>
        </p:nvSpPr>
        <p:spPr>
          <a:xfrm>
            <a:off x="1243584" y="3877056"/>
            <a:ext cx="2627376" cy="475488"/>
          </a:xfrm>
          <a:prstGeom prst="rect">
            <a:avLst/>
          </a:prstGeom>
          <a:noFill/>
          <a:ln/>
        </p:spPr>
        <p:txBody>
          <a:bodyPr wrap="square" rtlCol="0" anchor="ctr"/>
          <a:lstStyle/>
          <a:p>
            <a:pPr marL="0" indent="0">
              <a:buNone/>
            </a:pPr>
            <a:r>
              <a:rPr lang="en-US" sz="1200" b="1" dirty="0">
                <a:latin typeface="Cambria" pitchFamily="34" charset="0"/>
                <a:ea typeface="Cambria" pitchFamily="34" charset="-122"/>
                <a:cs typeface="Cambria" pitchFamily="34" charset="-120"/>
              </a:rPr>
              <a:t>Cross-Dataset VLOOKUP + CORREL</a:t>
            </a:r>
            <a:endParaRPr lang="en-US" sz="1150" dirty="0"/>
          </a:p>
        </p:txBody>
      </p:sp>
      <p:sp>
        <p:nvSpPr>
          <p:cNvPr id="23" name="Text 21"/>
          <p:cNvSpPr/>
          <p:nvPr/>
        </p:nvSpPr>
        <p:spPr>
          <a:xfrm>
            <a:off x="640080" y="4443984"/>
            <a:ext cx="3230880" cy="1353312"/>
          </a:xfrm>
          <a:prstGeom prst="rect">
            <a:avLst/>
          </a:prstGeom>
          <a:noFill/>
          <a:ln/>
        </p:spPr>
        <p:txBody>
          <a:bodyPr wrap="square" rtlCol="0" anchor="ctr"/>
          <a:lstStyle/>
          <a:p>
            <a:pPr marL="0" indent="0">
              <a:buNone/>
            </a:pPr>
            <a:r>
              <a:rPr lang="en-US" sz="1100" dirty="0">
                <a:latin typeface="Calibri" pitchFamily="34" charset="0"/>
                <a:ea typeface="Calibri" pitchFamily="34" charset="-122"/>
                <a:cs typeface="Calibri" pitchFamily="34" charset="-120"/>
              </a:rPr>
              <a:t>VLOOKUP pulled education spend and electricity access into the unemployment sheet by country code. CORREL computed r = −0.24 (education) and r = +0.52 (electricity).</a:t>
            </a:r>
            <a:endParaRPr lang="en-US" sz="1100" dirty="0"/>
          </a:p>
        </p:txBody>
      </p:sp>
      <p:sp>
        <p:nvSpPr>
          <p:cNvPr id="24" name="Shape 22"/>
          <p:cNvSpPr/>
          <p:nvPr/>
        </p:nvSpPr>
        <p:spPr>
          <a:xfrm>
            <a:off x="4282440" y="3694176"/>
            <a:ext cx="3596640" cy="2212848"/>
          </a:xfrm>
          <a:prstGeom prst="roundRect">
            <a:avLst>
              <a:gd name="adj" fmla="val 4132"/>
            </a:avLst>
          </a:prstGeom>
          <a:solidFill>
            <a:srgbClr val="F7FAFD"/>
          </a:solidFill>
          <a:ln w="9525">
            <a:solidFill>
              <a:srgbClr val="BDD4E6"/>
            </a:solidFill>
            <a:prstDash val="solid"/>
          </a:ln>
        </p:spPr>
      </p:sp>
      <p:sp>
        <p:nvSpPr>
          <p:cNvPr id="25" name="Shape 23"/>
          <p:cNvSpPr/>
          <p:nvPr/>
        </p:nvSpPr>
        <p:spPr>
          <a:xfrm>
            <a:off x="4465320" y="3858768"/>
            <a:ext cx="475488" cy="475488"/>
          </a:xfrm>
          <a:prstGeom prst="ellipse">
            <a:avLst/>
          </a:prstGeom>
          <a:solidFill>
            <a:srgbClr val="0E6BA8"/>
          </a:solidFill>
          <a:ln w="12700">
            <a:solidFill>
              <a:srgbClr val="0E6BA8"/>
            </a:solidFill>
            <a:prstDash val="solid"/>
          </a:ln>
        </p:spPr>
      </p:sp>
      <p:sp>
        <p:nvSpPr>
          <p:cNvPr id="26" name="Text 24"/>
          <p:cNvSpPr/>
          <p:nvPr/>
        </p:nvSpPr>
        <p:spPr>
          <a:xfrm>
            <a:off x="4465320" y="3941064"/>
            <a:ext cx="475488"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05</a:t>
            </a:r>
            <a:endParaRPr lang="en-US" sz="1200" dirty="0"/>
          </a:p>
        </p:txBody>
      </p:sp>
      <p:sp>
        <p:nvSpPr>
          <p:cNvPr id="27" name="Text 25"/>
          <p:cNvSpPr/>
          <p:nvPr/>
        </p:nvSpPr>
        <p:spPr>
          <a:xfrm>
            <a:off x="5068824" y="3877056"/>
            <a:ext cx="2627376" cy="475488"/>
          </a:xfrm>
          <a:prstGeom prst="rect">
            <a:avLst/>
          </a:prstGeom>
          <a:noFill/>
          <a:ln/>
        </p:spPr>
        <p:txBody>
          <a:bodyPr wrap="square" rtlCol="0" anchor="ctr"/>
          <a:lstStyle/>
          <a:p>
            <a:pPr marL="0" indent="0">
              <a:buNone/>
            </a:pPr>
            <a:r>
              <a:rPr lang="en-US" sz="1200" b="1" dirty="0">
                <a:latin typeface="Cambria" pitchFamily="34" charset="0"/>
                <a:ea typeface="Cambria" pitchFamily="34" charset="-122"/>
                <a:cs typeface="Cambria" pitchFamily="34" charset="-120"/>
              </a:rPr>
              <a:t>Pivot Tables &amp; Conditional Formatting</a:t>
            </a:r>
            <a:endParaRPr lang="en-US" sz="1200" dirty="0"/>
          </a:p>
        </p:txBody>
      </p:sp>
      <p:sp>
        <p:nvSpPr>
          <p:cNvPr id="28" name="Text 26"/>
          <p:cNvSpPr/>
          <p:nvPr/>
        </p:nvSpPr>
        <p:spPr>
          <a:xfrm>
            <a:off x="4465320" y="4443984"/>
            <a:ext cx="3230880" cy="1353312"/>
          </a:xfrm>
          <a:prstGeom prst="rect">
            <a:avLst/>
          </a:prstGeom>
          <a:noFill/>
          <a:ln/>
        </p:spPr>
        <p:txBody>
          <a:bodyPr wrap="square" rtlCol="0" anchor="ctr"/>
          <a:lstStyle/>
          <a:p>
            <a:pPr marL="0" indent="0">
              <a:buNone/>
            </a:pPr>
            <a:r>
              <a:rPr lang="en-US" sz="1100" dirty="0">
                <a:latin typeface="Calibri" pitchFamily="34" charset="0"/>
                <a:ea typeface="Calibri" pitchFamily="34" charset="-122"/>
                <a:cs typeface="Calibri" pitchFamily="34" charset="-120"/>
              </a:rPr>
              <a:t>Six pivot tables on the Africa 2015 Analysis sheet. Conditional formatting applied to Education Group and Electricity Group comparison tables.</a:t>
            </a:r>
            <a:endParaRPr lang="en-US" sz="1100" dirty="0"/>
          </a:p>
        </p:txBody>
      </p:sp>
      <p:sp>
        <p:nvSpPr>
          <p:cNvPr id="29" name="Shape 27"/>
          <p:cNvSpPr/>
          <p:nvPr/>
        </p:nvSpPr>
        <p:spPr>
          <a:xfrm>
            <a:off x="8107680" y="3694176"/>
            <a:ext cx="3596640" cy="2212848"/>
          </a:xfrm>
          <a:prstGeom prst="roundRect">
            <a:avLst>
              <a:gd name="adj" fmla="val 4132"/>
            </a:avLst>
          </a:prstGeom>
          <a:solidFill>
            <a:srgbClr val="F7FAFD"/>
          </a:solidFill>
          <a:ln w="9525">
            <a:solidFill>
              <a:srgbClr val="BDD4E6"/>
            </a:solidFill>
            <a:prstDash val="solid"/>
          </a:ln>
        </p:spPr>
      </p:sp>
      <p:sp>
        <p:nvSpPr>
          <p:cNvPr id="30" name="Shape 28"/>
          <p:cNvSpPr/>
          <p:nvPr/>
        </p:nvSpPr>
        <p:spPr>
          <a:xfrm>
            <a:off x="8290560" y="3858768"/>
            <a:ext cx="475488" cy="475488"/>
          </a:xfrm>
          <a:prstGeom prst="ellipse">
            <a:avLst/>
          </a:prstGeom>
          <a:solidFill>
            <a:srgbClr val="0E6BA8"/>
          </a:solidFill>
          <a:ln w="12700">
            <a:solidFill>
              <a:srgbClr val="0E6BA8"/>
            </a:solidFill>
            <a:prstDash val="solid"/>
          </a:ln>
        </p:spPr>
      </p:sp>
      <p:sp>
        <p:nvSpPr>
          <p:cNvPr id="31" name="Text 29"/>
          <p:cNvSpPr/>
          <p:nvPr/>
        </p:nvSpPr>
        <p:spPr>
          <a:xfrm>
            <a:off x="8290560" y="3941064"/>
            <a:ext cx="475488"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06</a:t>
            </a:r>
            <a:endParaRPr lang="en-US" sz="1200" dirty="0"/>
          </a:p>
        </p:txBody>
      </p:sp>
      <p:sp>
        <p:nvSpPr>
          <p:cNvPr id="32" name="Text 30"/>
          <p:cNvSpPr/>
          <p:nvPr/>
        </p:nvSpPr>
        <p:spPr>
          <a:xfrm>
            <a:off x="8894064" y="3877056"/>
            <a:ext cx="2627376" cy="475488"/>
          </a:xfrm>
          <a:prstGeom prst="rect">
            <a:avLst/>
          </a:prstGeom>
          <a:noFill/>
          <a:ln/>
        </p:spPr>
        <p:txBody>
          <a:bodyPr wrap="square" rtlCol="0" anchor="ctr"/>
          <a:lstStyle/>
          <a:p>
            <a:pPr marL="0" indent="0">
              <a:buNone/>
            </a:pPr>
            <a:r>
              <a:rPr lang="en-US" sz="1150" b="1" dirty="0">
                <a:solidFill>
                  <a:srgbClr val="162537"/>
                </a:solidFill>
                <a:latin typeface="Cambria" pitchFamily="34" charset="0"/>
                <a:ea typeface="Cambria" pitchFamily="34" charset="-122"/>
                <a:cs typeface="Cambria" pitchFamily="34" charset="-120"/>
              </a:rPr>
              <a:t>DATA VISUALIZATION Dashboard</a:t>
            </a:r>
            <a:endParaRPr lang="en-US" sz="1150" dirty="0"/>
          </a:p>
        </p:txBody>
      </p:sp>
      <p:sp>
        <p:nvSpPr>
          <p:cNvPr id="33" name="Text 31"/>
          <p:cNvSpPr/>
          <p:nvPr/>
        </p:nvSpPr>
        <p:spPr>
          <a:xfrm>
            <a:off x="8290560" y="4443984"/>
            <a:ext cx="3230880" cy="1353312"/>
          </a:xfrm>
          <a:prstGeom prst="rect">
            <a:avLst/>
          </a:prstGeom>
          <a:noFill/>
          <a:ln/>
        </p:spPr>
        <p:txBody>
          <a:bodyPr wrap="square" rtlCol="0" anchor="ctr"/>
          <a:lstStyle/>
          <a:p>
            <a:pPr marL="0" indent="0">
              <a:buNone/>
            </a:pPr>
            <a:r>
              <a:rPr lang="en-US" sz="1100" dirty="0">
                <a:latin typeface="Calibri" pitchFamily="34" charset="0"/>
                <a:ea typeface="Calibri" pitchFamily="34" charset="-122"/>
                <a:cs typeface="Calibri" pitchFamily="34" charset="-120"/>
              </a:rPr>
              <a:t>GETPIVOTDATA formulas feed 5 KPI cards. 6 native Excel charts with consistent colour scheme. Dashboard sheet serves as the project deliverable</a:t>
            </a:r>
            <a:r>
              <a:rPr lang="en-US" sz="1100" dirty="0">
                <a:solidFill>
                  <a:srgbClr val="162537"/>
                </a:solidFill>
                <a:latin typeface="Calibri" pitchFamily="34" charset="0"/>
                <a:ea typeface="Calibri" pitchFamily="34" charset="-122"/>
                <a:cs typeface="Calibri" pitchFamily="34" charset="-120"/>
              </a:rPr>
              <a: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7700" y="147878"/>
            <a:ext cx="11056620" cy="594360"/>
          </a:xfrm>
          <a:prstGeom prst="rect">
            <a:avLst/>
          </a:prstGeom>
          <a:noFill/>
          <a:ln/>
        </p:spPr>
        <p:txBody>
          <a:bodyPr wrap="square" rtlCol="0" anchor="ctr"/>
          <a:lstStyle/>
          <a:p>
            <a:pPr marL="0" indent="0">
              <a:buNone/>
            </a:pPr>
            <a:r>
              <a:rPr lang="en-US" sz="2400" b="1" dirty="0">
                <a:latin typeface="Cambria" pitchFamily="34" charset="0"/>
                <a:ea typeface="Cambria" pitchFamily="34" charset="-122"/>
                <a:cs typeface="Cambria" pitchFamily="34" charset="-120"/>
              </a:rPr>
              <a:t>Analysis 1: Gender Unemployment — Top 10 Average Unemployment</a:t>
            </a:r>
            <a:endParaRPr lang="en-US" sz="2400" dirty="0"/>
          </a:p>
        </p:txBody>
      </p:sp>
      <p:sp>
        <p:nvSpPr>
          <p:cNvPr id="3" name="Text 1"/>
          <p:cNvSpPr/>
          <p:nvPr/>
        </p:nvSpPr>
        <p:spPr>
          <a:xfrm>
            <a:off x="457200" y="850392"/>
            <a:ext cx="11247120" cy="274320"/>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Female vs male unemployment rate (%) </a:t>
            </a:r>
            <a:endParaRPr lang="en-US" sz="1200" dirty="0"/>
          </a:p>
        </p:txBody>
      </p:sp>
      <p:graphicFrame>
        <p:nvGraphicFramePr>
          <p:cNvPr id="4" name="Chart 0"/>
          <p:cNvGraphicFramePr/>
          <p:nvPr>
            <p:extLst>
              <p:ext uri="{D42A27DB-BD31-4B8C-83A1-F6EECF244321}">
                <p14:modId xmlns:p14="http://schemas.microsoft.com/office/powerpoint/2010/main" val="1749797494"/>
              </p:ext>
            </p:extLst>
          </p:nvPr>
        </p:nvGraphicFramePr>
        <p:xfrm>
          <a:off x="311285" y="1337187"/>
          <a:ext cx="7872595" cy="5264781"/>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641080" y="1417320"/>
            <a:ext cx="3063240" cy="1627632"/>
          </a:xfrm>
          <a:prstGeom prst="roundRect">
            <a:avLst>
              <a:gd name="adj" fmla="val 5618"/>
            </a:avLst>
          </a:prstGeom>
          <a:solidFill>
            <a:srgbClr val="F7FAFD"/>
          </a:solidFill>
          <a:ln w="9525">
            <a:solidFill>
              <a:srgbClr val="BDD4E6"/>
            </a:solidFill>
            <a:prstDash val="solid"/>
          </a:ln>
        </p:spPr>
      </p:sp>
      <p:sp>
        <p:nvSpPr>
          <p:cNvPr id="6" name="Text 3"/>
          <p:cNvSpPr/>
          <p:nvPr/>
        </p:nvSpPr>
        <p:spPr>
          <a:xfrm>
            <a:off x="8732520" y="1554480"/>
            <a:ext cx="2880360" cy="621792"/>
          </a:xfrm>
          <a:prstGeom prst="rect">
            <a:avLst/>
          </a:prstGeom>
          <a:noFill/>
          <a:ln/>
        </p:spPr>
        <p:txBody>
          <a:bodyPr wrap="square" lIns="0" tIns="0" rIns="0" bIns="0" rtlCol="0" anchor="ctr"/>
          <a:lstStyle/>
          <a:p>
            <a:pPr marL="0" indent="0" algn="ctr">
              <a:buNone/>
            </a:pPr>
            <a:r>
              <a:rPr lang="en-US" sz="3000" b="1" dirty="0">
                <a:solidFill>
                  <a:srgbClr val="C0392B"/>
                </a:solidFill>
                <a:latin typeface="Cambria" pitchFamily="34" charset="0"/>
                <a:ea typeface="Cambria" pitchFamily="34" charset="-122"/>
                <a:cs typeface="Cambria" pitchFamily="34" charset="-120"/>
              </a:rPr>
              <a:t>36.6%</a:t>
            </a:r>
            <a:endParaRPr lang="en-US" sz="3000" dirty="0"/>
          </a:p>
        </p:txBody>
      </p:sp>
      <p:sp>
        <p:nvSpPr>
          <p:cNvPr id="7" name="Text 4"/>
          <p:cNvSpPr/>
          <p:nvPr/>
        </p:nvSpPr>
        <p:spPr>
          <a:xfrm>
            <a:off x="8732520" y="2221992"/>
            <a:ext cx="2880360" cy="694944"/>
          </a:xfrm>
          <a:prstGeom prst="rect">
            <a:avLst/>
          </a:prstGeom>
          <a:noFill/>
          <a:ln/>
        </p:spPr>
        <p:txBody>
          <a:bodyPr wrap="square" lIns="0" tIns="0" rIns="0" bIns="0" rtlCol="0" anchor="ctr"/>
          <a:lstStyle/>
          <a:p>
            <a:pPr marL="0" indent="0" algn="ctr">
              <a:buNone/>
            </a:pPr>
            <a:r>
              <a:rPr lang="en-US" sz="1100" dirty="0">
                <a:latin typeface="Calibri" pitchFamily="34" charset="0"/>
                <a:ea typeface="Calibri" pitchFamily="34" charset="-122"/>
                <a:cs typeface="Calibri" pitchFamily="34" charset="-120"/>
              </a:rPr>
              <a:t>Djibouti female</a:t>
            </a:r>
            <a:endParaRPr lang="en-US" sz="1100" dirty="0"/>
          </a:p>
          <a:p>
            <a:pPr marL="0" indent="0" algn="ctr">
              <a:buNone/>
            </a:pPr>
            <a:r>
              <a:rPr lang="en-US" sz="1100" dirty="0">
                <a:latin typeface="Calibri" pitchFamily="34" charset="0"/>
                <a:ea typeface="Calibri" pitchFamily="34" charset="-122"/>
                <a:cs typeface="Calibri" pitchFamily="34" charset="-120"/>
              </a:rPr>
              <a:t>unemployment - highest in Africa</a:t>
            </a:r>
            <a:endParaRPr lang="en-US" sz="1100" dirty="0"/>
          </a:p>
        </p:txBody>
      </p:sp>
      <p:sp>
        <p:nvSpPr>
          <p:cNvPr id="8" name="Shape 5"/>
          <p:cNvSpPr/>
          <p:nvPr/>
        </p:nvSpPr>
        <p:spPr>
          <a:xfrm>
            <a:off x="8641080" y="3172968"/>
            <a:ext cx="3063240" cy="1627632"/>
          </a:xfrm>
          <a:prstGeom prst="roundRect">
            <a:avLst>
              <a:gd name="adj" fmla="val 5618"/>
            </a:avLst>
          </a:prstGeom>
          <a:solidFill>
            <a:srgbClr val="F7FAFD"/>
          </a:solidFill>
          <a:ln w="9525">
            <a:solidFill>
              <a:srgbClr val="BDD4E6"/>
            </a:solidFill>
            <a:prstDash val="solid"/>
          </a:ln>
        </p:spPr>
      </p:sp>
      <p:sp>
        <p:nvSpPr>
          <p:cNvPr id="9" name="Text 6"/>
          <p:cNvSpPr/>
          <p:nvPr/>
        </p:nvSpPr>
        <p:spPr>
          <a:xfrm>
            <a:off x="8732520" y="3310128"/>
            <a:ext cx="2880360" cy="621792"/>
          </a:xfrm>
          <a:prstGeom prst="rect">
            <a:avLst/>
          </a:prstGeom>
          <a:noFill/>
          <a:ln/>
        </p:spPr>
        <p:txBody>
          <a:bodyPr wrap="square" lIns="0" tIns="0" rIns="0" bIns="0" rtlCol="0" anchor="ctr"/>
          <a:lstStyle/>
          <a:p>
            <a:pPr marL="0" indent="0" algn="ctr">
              <a:buNone/>
            </a:pPr>
            <a:r>
              <a:rPr lang="en-US" sz="3000" b="1" dirty="0">
                <a:solidFill>
                  <a:srgbClr val="0E6BA8"/>
                </a:solidFill>
                <a:latin typeface="Cambria" pitchFamily="34" charset="0"/>
                <a:ea typeface="Cambria" pitchFamily="34" charset="-122"/>
                <a:cs typeface="Cambria" pitchFamily="34" charset="-120"/>
              </a:rPr>
              <a:t>23.2%</a:t>
            </a:r>
            <a:endParaRPr lang="en-US" sz="3000" dirty="0"/>
          </a:p>
        </p:txBody>
      </p:sp>
      <p:sp>
        <p:nvSpPr>
          <p:cNvPr id="10" name="Text 7"/>
          <p:cNvSpPr/>
          <p:nvPr/>
        </p:nvSpPr>
        <p:spPr>
          <a:xfrm>
            <a:off x="8732520" y="3977640"/>
            <a:ext cx="2880360" cy="694944"/>
          </a:xfrm>
          <a:prstGeom prst="rect">
            <a:avLst/>
          </a:prstGeom>
          <a:noFill/>
          <a:ln/>
        </p:spPr>
        <p:txBody>
          <a:bodyPr wrap="square" lIns="0" tIns="0" rIns="0" bIns="0" rtlCol="0" anchor="ctr"/>
          <a:lstStyle/>
          <a:p>
            <a:pPr marL="0" indent="0" algn="ctr">
              <a:buNone/>
            </a:pPr>
            <a:r>
              <a:rPr lang="en-US" sz="1100" dirty="0">
                <a:latin typeface="Calibri" pitchFamily="34" charset="0"/>
                <a:ea typeface="Calibri" pitchFamily="34" charset="-122"/>
                <a:cs typeface="Calibri" pitchFamily="34" charset="-120"/>
              </a:rPr>
              <a:t>South Africa male</a:t>
            </a:r>
            <a:endParaRPr lang="en-US" sz="1100" dirty="0"/>
          </a:p>
          <a:p>
            <a:pPr marL="0" indent="0" algn="ctr">
              <a:buNone/>
            </a:pPr>
            <a:r>
              <a:rPr lang="en-US" sz="1100" dirty="0">
                <a:latin typeface="Calibri" pitchFamily="34" charset="0"/>
                <a:ea typeface="Calibri" pitchFamily="34" charset="-122"/>
                <a:cs typeface="Calibri" pitchFamily="34" charset="-120"/>
              </a:rPr>
              <a:t>unemployment - highest male rate</a:t>
            </a:r>
            <a:endParaRPr lang="en-US" sz="1100" dirty="0"/>
          </a:p>
        </p:txBody>
      </p:sp>
      <p:sp>
        <p:nvSpPr>
          <p:cNvPr id="11" name="Shape 8"/>
          <p:cNvSpPr/>
          <p:nvPr/>
        </p:nvSpPr>
        <p:spPr>
          <a:xfrm>
            <a:off x="8641080" y="4928616"/>
            <a:ext cx="3063240" cy="1627632"/>
          </a:xfrm>
          <a:prstGeom prst="roundRect">
            <a:avLst>
              <a:gd name="adj" fmla="val 5618"/>
            </a:avLst>
          </a:prstGeom>
          <a:solidFill>
            <a:srgbClr val="F7FAFD"/>
          </a:solidFill>
          <a:ln w="9525">
            <a:solidFill>
              <a:srgbClr val="BDD4E6"/>
            </a:solidFill>
            <a:prstDash val="solid"/>
          </a:ln>
        </p:spPr>
      </p:sp>
      <p:sp>
        <p:nvSpPr>
          <p:cNvPr id="12" name="Text 9"/>
          <p:cNvSpPr/>
          <p:nvPr/>
        </p:nvSpPr>
        <p:spPr>
          <a:xfrm>
            <a:off x="8732520" y="5065776"/>
            <a:ext cx="2880360" cy="621792"/>
          </a:xfrm>
          <a:prstGeom prst="rect">
            <a:avLst/>
          </a:prstGeom>
          <a:noFill/>
          <a:ln/>
        </p:spPr>
        <p:txBody>
          <a:bodyPr wrap="square" lIns="0" tIns="0" rIns="0" bIns="0" rtlCol="0" anchor="ctr"/>
          <a:lstStyle/>
          <a:p>
            <a:pPr marL="0" indent="0" algn="ctr">
              <a:buNone/>
            </a:pPr>
            <a:r>
              <a:rPr lang="en-US" sz="3000" b="1" dirty="0">
                <a:solidFill>
                  <a:srgbClr val="D4782A"/>
                </a:solidFill>
                <a:latin typeface="Cambria" pitchFamily="34" charset="0"/>
                <a:ea typeface="Cambria" pitchFamily="34" charset="-122"/>
                <a:cs typeface="Cambria" pitchFamily="34" charset="-120"/>
              </a:rPr>
              <a:t>3.1pp</a:t>
            </a:r>
            <a:endParaRPr lang="en-US" sz="3000" dirty="0"/>
          </a:p>
        </p:txBody>
      </p:sp>
      <p:sp>
        <p:nvSpPr>
          <p:cNvPr id="13" name="Text 10"/>
          <p:cNvSpPr/>
          <p:nvPr/>
        </p:nvSpPr>
        <p:spPr>
          <a:xfrm>
            <a:off x="8732520" y="5733288"/>
            <a:ext cx="2880360" cy="694944"/>
          </a:xfrm>
          <a:prstGeom prst="rect">
            <a:avLst/>
          </a:prstGeom>
          <a:noFill/>
          <a:ln/>
        </p:spPr>
        <p:txBody>
          <a:bodyPr wrap="square" lIns="0" tIns="0" rIns="0" bIns="0" rtlCol="0" anchor="ctr"/>
          <a:lstStyle/>
          <a:p>
            <a:pPr marL="0" indent="0" algn="ctr">
              <a:buNone/>
            </a:pPr>
            <a:r>
              <a:rPr lang="en-US" sz="1050" dirty="0">
                <a:latin typeface="Calibri" pitchFamily="34" charset="0"/>
                <a:ea typeface="Calibri" pitchFamily="34" charset="-122"/>
                <a:cs typeface="Calibri" pitchFamily="34" charset="-120"/>
              </a:rPr>
              <a:t>Continental average</a:t>
            </a:r>
            <a:endParaRPr lang="en-US" sz="1050" dirty="0"/>
          </a:p>
          <a:p>
            <a:pPr marL="0" indent="0" algn="ctr">
              <a:buNone/>
            </a:pPr>
            <a:r>
              <a:rPr lang="en-US" sz="1050" dirty="0">
                <a:latin typeface="Calibri" pitchFamily="34" charset="0"/>
                <a:ea typeface="Calibri" pitchFamily="34" charset="-122"/>
                <a:cs typeface="Calibri" pitchFamily="34" charset="-120"/>
              </a:rPr>
              <a:t>gender gap (female - male)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457200" y="256032"/>
            <a:ext cx="11247120" cy="594360"/>
          </a:xfrm>
          <a:prstGeom prst="rect">
            <a:avLst/>
          </a:prstGeom>
          <a:noFill/>
          <a:ln/>
        </p:spPr>
        <p:txBody>
          <a:bodyPr wrap="square" rtlCol="0" anchor="ctr"/>
          <a:lstStyle/>
          <a:p>
            <a:pPr marL="0" indent="0">
              <a:buNone/>
            </a:pPr>
            <a:r>
              <a:rPr lang="en-US" sz="2400" b="1" dirty="0">
                <a:latin typeface="Cambria" pitchFamily="34" charset="0"/>
                <a:ea typeface="Cambria" pitchFamily="34" charset="-122"/>
                <a:cs typeface="Cambria" pitchFamily="34" charset="-120"/>
              </a:rPr>
              <a:t>Analysis 2: Gender Gap &amp; Regional Comparison</a:t>
            </a:r>
            <a:endParaRPr lang="en-US" sz="2400" dirty="0"/>
          </a:p>
        </p:txBody>
      </p:sp>
      <p:sp>
        <p:nvSpPr>
          <p:cNvPr id="3" name="Text 1"/>
          <p:cNvSpPr/>
          <p:nvPr/>
        </p:nvSpPr>
        <p:spPr>
          <a:xfrm>
            <a:off x="457200" y="850392"/>
            <a:ext cx="11247120" cy="274320"/>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Top gender disparities and how unemployment splits between Northern and Sub-Saharan Africa</a:t>
            </a:r>
            <a:endParaRPr lang="en-US" sz="1200" dirty="0"/>
          </a:p>
        </p:txBody>
      </p:sp>
      <p:graphicFrame>
        <p:nvGraphicFramePr>
          <p:cNvPr id="4" name="Chart 0"/>
          <p:cNvGraphicFramePr/>
          <p:nvPr>
            <p:extLst>
              <p:ext uri="{D42A27DB-BD31-4B8C-83A1-F6EECF244321}">
                <p14:modId xmlns:p14="http://schemas.microsoft.com/office/powerpoint/2010/main" val="919814157"/>
              </p:ext>
            </p:extLst>
          </p:nvPr>
        </p:nvGraphicFramePr>
        <p:xfrm>
          <a:off x="457200" y="1298448"/>
          <a:ext cx="6035040" cy="53035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extLst>
              <p:ext uri="{D42A27DB-BD31-4B8C-83A1-F6EECF244321}">
                <p14:modId xmlns:p14="http://schemas.microsoft.com/office/powerpoint/2010/main" val="2236708482"/>
              </p:ext>
            </p:extLst>
          </p:nvPr>
        </p:nvGraphicFramePr>
        <p:xfrm>
          <a:off x="6720840" y="1444753"/>
          <a:ext cx="4983480" cy="4562856"/>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457200" y="168484"/>
            <a:ext cx="11247120" cy="594360"/>
          </a:xfrm>
          <a:prstGeom prst="rect">
            <a:avLst/>
          </a:prstGeom>
          <a:noFill/>
          <a:ln/>
        </p:spPr>
        <p:txBody>
          <a:bodyPr wrap="square" rtlCol="0" anchor="ctr"/>
          <a:lstStyle/>
          <a:p>
            <a:pPr marL="0" indent="0">
              <a:buNone/>
            </a:pPr>
            <a:r>
              <a:rPr lang="en-US" sz="2400" b="1" dirty="0">
                <a:latin typeface="Cambria" pitchFamily="34" charset="0"/>
                <a:ea typeface="Cambria" pitchFamily="34" charset="-122"/>
                <a:cs typeface="Cambria" pitchFamily="34" charset="-120"/>
              </a:rPr>
              <a:t>Analysis 4: Education vs Unemployment</a:t>
            </a:r>
            <a:endParaRPr lang="en-US" sz="2400" dirty="0"/>
          </a:p>
        </p:txBody>
      </p:sp>
      <p:sp>
        <p:nvSpPr>
          <p:cNvPr id="3" name="Text 1"/>
          <p:cNvSpPr/>
          <p:nvPr/>
        </p:nvSpPr>
        <p:spPr>
          <a:xfrm>
            <a:off x="457200" y="870999"/>
            <a:ext cx="11247120" cy="594360"/>
          </a:xfrm>
          <a:prstGeom prst="rect">
            <a:avLst/>
          </a:prstGeom>
          <a:noFill/>
          <a:ln/>
        </p:spPr>
        <p:txBody>
          <a:bodyPr wrap="square" rtlCol="0" anchor="ctr"/>
          <a:lstStyle/>
          <a:p>
            <a:r>
              <a:rPr lang="en-US" sz="1200" dirty="0"/>
              <a:t>Education expenditure shows a weak negative relationship with unemployment (R² ≈ 0.06), suggesting that education spending alone explains little of the variation in unemployment across the analyzed countries. </a:t>
            </a:r>
          </a:p>
        </p:txBody>
      </p:sp>
      <p:graphicFrame>
        <p:nvGraphicFramePr>
          <p:cNvPr id="13" name="Chart 12">
            <a:extLst>
              <a:ext uri="{FF2B5EF4-FFF2-40B4-BE49-F238E27FC236}">
                <a16:creationId xmlns:a16="http://schemas.microsoft.com/office/drawing/2014/main" id="{13904836-0170-458E-9960-0A4DCAFBBD1D}"/>
              </a:ext>
            </a:extLst>
          </p:cNvPr>
          <p:cNvGraphicFramePr>
            <a:graphicFrameLocks/>
          </p:cNvGraphicFramePr>
          <p:nvPr>
            <p:extLst>
              <p:ext uri="{D42A27DB-BD31-4B8C-83A1-F6EECF244321}">
                <p14:modId xmlns:p14="http://schemas.microsoft.com/office/powerpoint/2010/main" val="2169962793"/>
              </p:ext>
            </p:extLst>
          </p:nvPr>
        </p:nvGraphicFramePr>
        <p:xfrm>
          <a:off x="457199" y="1901952"/>
          <a:ext cx="11247119" cy="447141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9684656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457200" y="353022"/>
            <a:ext cx="11247120" cy="487162"/>
          </a:xfrm>
          <a:prstGeom prst="rect">
            <a:avLst/>
          </a:prstGeom>
          <a:noFill/>
          <a:ln/>
        </p:spPr>
        <p:txBody>
          <a:bodyPr wrap="square" rtlCol="0" anchor="ctr"/>
          <a:lstStyle/>
          <a:p>
            <a:pPr marL="0" indent="0">
              <a:buNone/>
            </a:pPr>
            <a:r>
              <a:rPr lang="en-US" sz="2000" b="1" dirty="0">
                <a:latin typeface="Cambria" pitchFamily="34" charset="0"/>
                <a:ea typeface="Cambria" pitchFamily="34" charset="-122"/>
                <a:cs typeface="Cambria" pitchFamily="34" charset="-120"/>
              </a:rPr>
              <a:t>Analysis 5: Electricity vs Unemployment</a:t>
            </a:r>
            <a:endParaRPr lang="en-US" sz="2000" dirty="0"/>
          </a:p>
        </p:txBody>
      </p:sp>
      <p:sp>
        <p:nvSpPr>
          <p:cNvPr id="3" name="Text 1"/>
          <p:cNvSpPr/>
          <p:nvPr/>
        </p:nvSpPr>
        <p:spPr>
          <a:xfrm>
            <a:off x="457200" y="958545"/>
            <a:ext cx="11247120" cy="783855"/>
          </a:xfrm>
          <a:prstGeom prst="rect">
            <a:avLst/>
          </a:prstGeom>
          <a:noFill/>
          <a:ln/>
        </p:spPr>
        <p:txBody>
          <a:bodyPr wrap="square" rtlCol="0" anchor="ctr"/>
          <a:lstStyle/>
          <a:p>
            <a:pPr marL="0" indent="0">
              <a:buNone/>
            </a:pPr>
            <a:endParaRPr lang="en-US" sz="1200" dirty="0">
              <a:solidFill>
                <a:schemeClr val="accent1">
                  <a:lumMod val="20000"/>
                  <a:lumOff val="80000"/>
                </a:schemeClr>
              </a:solidFill>
            </a:endParaRPr>
          </a:p>
        </p:txBody>
      </p:sp>
      <p:sp>
        <p:nvSpPr>
          <p:cNvPr id="9" name="Text 5"/>
          <p:cNvSpPr/>
          <p:nvPr/>
        </p:nvSpPr>
        <p:spPr>
          <a:xfrm>
            <a:off x="6858000" y="5650992"/>
            <a:ext cx="4709160" cy="438912"/>
          </a:xfrm>
          <a:prstGeom prst="rect">
            <a:avLst/>
          </a:prstGeom>
          <a:noFill/>
          <a:ln/>
        </p:spPr>
        <p:txBody>
          <a:bodyPr wrap="square" lIns="0" tIns="0" rIns="0" bIns="0" rtlCol="0" anchor="ctr"/>
          <a:lstStyle/>
          <a:p>
            <a:pPr marL="0" indent="0">
              <a:buNone/>
            </a:pPr>
            <a:endParaRPr lang="en-US" sz="950" dirty="0"/>
          </a:p>
        </p:txBody>
      </p:sp>
      <p:graphicFrame>
        <p:nvGraphicFramePr>
          <p:cNvPr id="12" name="Chart 11">
            <a:extLst>
              <a:ext uri="{FF2B5EF4-FFF2-40B4-BE49-F238E27FC236}">
                <a16:creationId xmlns:a16="http://schemas.microsoft.com/office/drawing/2014/main" id="{098845B1-A377-4EA4-946C-2DB791EFC17F}"/>
              </a:ext>
            </a:extLst>
          </p:cNvPr>
          <p:cNvGraphicFramePr>
            <a:graphicFrameLocks/>
          </p:cNvGraphicFramePr>
          <p:nvPr>
            <p:extLst>
              <p:ext uri="{D42A27DB-BD31-4B8C-83A1-F6EECF244321}">
                <p14:modId xmlns:p14="http://schemas.microsoft.com/office/powerpoint/2010/main" val="3851251100"/>
              </p:ext>
            </p:extLst>
          </p:nvPr>
        </p:nvGraphicFramePr>
        <p:xfrm>
          <a:off x="472439" y="2018428"/>
          <a:ext cx="10922865" cy="4562856"/>
        </p:xfrm>
        <a:graphic>
          <a:graphicData uri="http://schemas.openxmlformats.org/drawingml/2006/chart">
            <c:chart xmlns:c="http://schemas.openxmlformats.org/drawingml/2006/chart" xmlns:r="http://schemas.openxmlformats.org/officeDocument/2006/relationships" r:id="rId3"/>
          </a:graphicData>
        </a:graphic>
      </p:graphicFrame>
      <p:sp>
        <p:nvSpPr>
          <p:cNvPr id="15" name="TextBox 14">
            <a:extLst>
              <a:ext uri="{FF2B5EF4-FFF2-40B4-BE49-F238E27FC236}">
                <a16:creationId xmlns:a16="http://schemas.microsoft.com/office/drawing/2014/main" id="{41EB7550-442C-4D55-90CE-304B5937AAEB}"/>
              </a:ext>
            </a:extLst>
          </p:cNvPr>
          <p:cNvSpPr txBox="1"/>
          <p:nvPr/>
        </p:nvSpPr>
        <p:spPr>
          <a:xfrm>
            <a:off x="457200" y="799684"/>
            <a:ext cx="10953345" cy="1200329"/>
          </a:xfrm>
          <a:prstGeom prst="rect">
            <a:avLst/>
          </a:prstGeom>
          <a:noFill/>
          <a:ln>
            <a:noFill/>
          </a:ln>
        </p:spPr>
        <p:txBody>
          <a:bodyPr wrap="square">
            <a:spAutoFit/>
          </a:bodyPr>
          <a:lstStyle/>
          <a:p>
            <a:r>
              <a:rPr lang="en-US" sz="1200" dirty="0"/>
              <a:t>Electricity access shows a strong positive association with unemployment. (R² ≈ 0.27). This relationship is observational and it not interpreted as evidence that electricity access increases unemployment, instead it raises questions about other structural factors.</a:t>
            </a:r>
          </a:p>
          <a:p>
            <a:r>
              <a:rPr lang="en-US" sz="1200" b="1" dirty="0"/>
              <a:t>Why is the relationship positive? </a:t>
            </a:r>
            <a:r>
              <a:rPr lang="en-US" sz="1200" dirty="0"/>
              <a:t>Reasons might include; </a:t>
            </a:r>
          </a:p>
          <a:p>
            <a:r>
              <a:rPr lang="en-US" sz="1200" dirty="0"/>
              <a:t>1) 2015 cross-sectional sample may not capture infrastructure effects over time.</a:t>
            </a:r>
          </a:p>
          <a:p>
            <a:r>
              <a:rPr lang="en-US" sz="1200" dirty="0"/>
              <a:t>2) Countries with higher infrastructure may also have large urban population and  more formal labor market pressures.</a:t>
            </a:r>
          </a:p>
          <a:p>
            <a:r>
              <a:rPr lang="en-US" sz="1200" dirty="0"/>
              <a:t>So the result should be treated as a </a:t>
            </a:r>
            <a:r>
              <a:rPr lang="en-US" sz="1200" b="1" dirty="0"/>
              <a:t>signal for further investigation</a:t>
            </a:r>
            <a:r>
              <a:rPr lang="en-US" sz="1200" dirty="0"/>
              <a:t>, not a policy conclusion.</a:t>
            </a:r>
          </a:p>
        </p:txBody>
      </p:sp>
    </p:spTree>
    <p:extLst>
      <p:ext uri="{BB962C8B-B14F-4D97-AF65-F5344CB8AC3E}">
        <p14:creationId xmlns:p14="http://schemas.microsoft.com/office/powerpoint/2010/main" val="34446763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chemeClr val="bg1">
            <a:lumMod val="95000"/>
          </a:schemeClr>
        </a:solidFill>
        <a:effectLst/>
      </p:bgPr>
    </p:bg>
    <p:spTree>
      <p:nvGrpSpPr>
        <p:cNvPr id="1" name=""/>
        <p:cNvGrpSpPr/>
        <p:nvPr/>
      </p:nvGrpSpPr>
      <p:grpSpPr>
        <a:xfrm>
          <a:off x="0" y="0"/>
          <a:ext cx="0" cy="0"/>
          <a:chOff x="0" y="0"/>
          <a:chExt cx="0" cy="0"/>
        </a:xfrm>
      </p:grpSpPr>
      <p:sp>
        <p:nvSpPr>
          <p:cNvPr id="2" name="Text 0"/>
          <p:cNvSpPr/>
          <p:nvPr/>
        </p:nvSpPr>
        <p:spPr>
          <a:xfrm>
            <a:off x="457200" y="256032"/>
            <a:ext cx="11247120" cy="594360"/>
          </a:xfrm>
          <a:prstGeom prst="rect">
            <a:avLst/>
          </a:prstGeom>
          <a:noFill/>
          <a:ln/>
        </p:spPr>
        <p:txBody>
          <a:bodyPr wrap="square" rtlCol="0" anchor="ctr"/>
          <a:lstStyle/>
          <a:p>
            <a:pPr marL="0" indent="0">
              <a:buNone/>
            </a:pPr>
            <a:r>
              <a:rPr lang="en-US" sz="2000" b="1" dirty="0">
                <a:latin typeface="Cambria" pitchFamily="34" charset="0"/>
                <a:ea typeface="Cambria" pitchFamily="34" charset="-122"/>
                <a:cs typeface="Cambria" pitchFamily="34" charset="-120"/>
              </a:rPr>
              <a:t>Analysis 6: Cross-Dataset Analysis</a:t>
            </a:r>
            <a:endParaRPr lang="en-US" sz="2000" dirty="0"/>
          </a:p>
        </p:txBody>
      </p:sp>
      <p:sp>
        <p:nvSpPr>
          <p:cNvPr id="3" name="Text 1"/>
          <p:cNvSpPr/>
          <p:nvPr/>
        </p:nvSpPr>
        <p:spPr>
          <a:xfrm>
            <a:off x="457200" y="850392"/>
            <a:ext cx="11247120" cy="274320"/>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Conditional formatting table (Excel) · Education Group &amp; Electricity Group pivot results</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298448"/>
          <a:ext cx="7040880" cy="4517136"/>
        </p:xfrm>
        <a:graphic>
          <a:graphicData uri="http://schemas.openxmlformats.org/drawingml/2006/table">
            <a:tbl>
              <a:tblPr/>
              <a:tblGrid>
                <a:gridCol w="1408176">
                  <a:extLst>
                    <a:ext uri="{9D8B030D-6E8A-4147-A177-3AD203B41FA5}">
                      <a16:colId xmlns:a16="http://schemas.microsoft.com/office/drawing/2014/main" val="20000"/>
                    </a:ext>
                  </a:extLst>
                </a:gridCol>
                <a:gridCol w="1408176">
                  <a:extLst>
                    <a:ext uri="{9D8B030D-6E8A-4147-A177-3AD203B41FA5}">
                      <a16:colId xmlns:a16="http://schemas.microsoft.com/office/drawing/2014/main" val="20001"/>
                    </a:ext>
                  </a:extLst>
                </a:gridCol>
                <a:gridCol w="1408176">
                  <a:extLst>
                    <a:ext uri="{9D8B030D-6E8A-4147-A177-3AD203B41FA5}">
                      <a16:colId xmlns:a16="http://schemas.microsoft.com/office/drawing/2014/main" val="20002"/>
                    </a:ext>
                  </a:extLst>
                </a:gridCol>
                <a:gridCol w="1408176">
                  <a:extLst>
                    <a:ext uri="{9D8B030D-6E8A-4147-A177-3AD203B41FA5}">
                      <a16:colId xmlns:a16="http://schemas.microsoft.com/office/drawing/2014/main" val="20003"/>
                    </a:ext>
                  </a:extLst>
                </a:gridCol>
                <a:gridCol w="1408176">
                  <a:extLst>
                    <a:ext uri="{9D8B030D-6E8A-4147-A177-3AD203B41FA5}">
                      <a16:colId xmlns:a16="http://schemas.microsoft.com/office/drawing/2014/main" val="20004"/>
                    </a:ext>
                  </a:extLst>
                </a:gridCol>
              </a:tblGrid>
              <a:tr h="347472">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Country</a:t>
                      </a:r>
                      <a:endParaRPr lang="en-US" sz="95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0E6BA8"/>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Avg Unemp %</a:t>
                      </a:r>
                      <a:endParaRPr lang="en-US" sz="95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0E6BA8"/>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Edu Spend %</a:t>
                      </a:r>
                      <a:endParaRPr lang="en-US" sz="95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0E6BA8"/>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Electricity %</a:t>
                      </a:r>
                      <a:endParaRPr lang="en-US" sz="95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0E6BA8"/>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Edu Group</a:t>
                      </a:r>
                      <a:endParaRPr lang="en-US" sz="95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0E6BA8"/>
                    </a:solidFill>
                  </a:tcPr>
                </a:tc>
                <a:extLst>
                  <a:ext uri="{0D108BD9-81ED-4DB2-BD59-A6C34878D82A}">
                    <a16:rowId xmlns:a16="http://schemas.microsoft.com/office/drawing/2014/main" val="10000"/>
                  </a:ext>
                </a:extLst>
              </a:tr>
              <a:tr h="347472">
                <a:tc>
                  <a:txBody>
                    <a:bodyPr/>
                    <a:lstStyle/>
                    <a:p>
                      <a:pPr marL="0" indent="0">
                        <a:buNone/>
                      </a:pPr>
                      <a:r>
                        <a:rPr lang="en-US" sz="900" b="1" dirty="0">
                          <a:solidFill>
                            <a:srgbClr val="162537"/>
                          </a:solidFill>
                          <a:latin typeface="Calibri" pitchFamily="34" charset="0"/>
                          <a:ea typeface="Calibri" pitchFamily="34" charset="-122"/>
                          <a:cs typeface="Calibri" pitchFamily="34" charset="-120"/>
                        </a:rPr>
                        <a:t>Djibouti</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tcPr>
                </a:tc>
                <a:tc>
                  <a:txBody>
                    <a:bodyPr/>
                    <a:lstStyle/>
                    <a:p>
                      <a:pPr marL="0" indent="0" algn="ctr">
                        <a:buNone/>
                      </a:pPr>
                      <a:r>
                        <a:rPr lang="en-US" sz="900" b="1" dirty="0">
                          <a:solidFill>
                            <a:srgbClr val="8B0000"/>
                          </a:solidFill>
                          <a:latin typeface="Calibri" pitchFamily="34" charset="0"/>
                          <a:ea typeface="Calibri" pitchFamily="34" charset="-122"/>
                          <a:cs typeface="Calibri" pitchFamily="34" charset="-120"/>
                        </a:rPr>
                        <a:t>29.7%</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FFDADA"/>
                    </a:solidFill>
                  </a:tcPr>
                </a:tc>
                <a:tc>
                  <a:txBody>
                    <a:bodyPr/>
                    <a:lstStyle/>
                    <a:p>
                      <a:pPr marL="0" indent="0" algn="ctr">
                        <a:buNone/>
                      </a:pPr>
                      <a:r>
                        <a:rPr lang="en-US" sz="900" dirty="0">
                          <a:solidFill>
                            <a:srgbClr val="8B0000"/>
                          </a:solidFill>
                          <a:latin typeface="Calibri" pitchFamily="34" charset="0"/>
                          <a:ea typeface="Calibri" pitchFamily="34" charset="-122"/>
                          <a:cs typeface="Calibri" pitchFamily="34" charset="-120"/>
                        </a:rPr>
                        <a:t>8.6%</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FFDADA"/>
                    </a:solidFill>
                  </a:tcPr>
                </a:tc>
                <a:tc>
                  <a:txBody>
                    <a:bodyPr/>
                    <a:lstStyle/>
                    <a:p>
                      <a:pPr marL="0" indent="0" algn="ctr">
                        <a:buNone/>
                      </a:pPr>
                      <a:r>
                        <a:rPr lang="en-US" sz="900" dirty="0">
                          <a:solidFill>
                            <a:srgbClr val="7B4500"/>
                          </a:solidFill>
                          <a:latin typeface="Calibri" pitchFamily="34" charset="0"/>
                          <a:ea typeface="Calibri" pitchFamily="34" charset="-122"/>
                          <a:cs typeface="Calibri" pitchFamily="34" charset="-120"/>
                        </a:rPr>
                        <a:t>57.6%</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FFF0DA"/>
                    </a:solidFill>
                  </a:tcPr>
                </a:tc>
                <a:tc>
                  <a:txBody>
                    <a:bodyPr/>
                    <a:lstStyle/>
                    <a:p>
                      <a:pPr marL="0" indent="0" algn="ctr">
                        <a:buNone/>
                      </a:pPr>
                      <a:r>
                        <a:rPr lang="en-US" sz="900" b="1" dirty="0">
                          <a:solidFill>
                            <a:srgbClr val="8B0000"/>
                          </a:solidFill>
                          <a:latin typeface="Calibri" pitchFamily="34" charset="0"/>
                          <a:ea typeface="Calibri" pitchFamily="34" charset="-122"/>
                          <a:cs typeface="Calibri" pitchFamily="34" charset="-120"/>
                        </a:rPr>
                        <a:t>Low Investment</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FFDADA"/>
                    </a:solidFill>
                  </a:tcPr>
                </a:tc>
                <a:extLst>
                  <a:ext uri="{0D108BD9-81ED-4DB2-BD59-A6C34878D82A}">
                    <a16:rowId xmlns:a16="http://schemas.microsoft.com/office/drawing/2014/main" val="10001"/>
                  </a:ext>
                </a:extLst>
              </a:tr>
              <a:tr h="347472">
                <a:tc>
                  <a:txBody>
                    <a:bodyPr/>
                    <a:lstStyle/>
                    <a:p>
                      <a:pPr marL="0" indent="0">
                        <a:buNone/>
                      </a:pPr>
                      <a:r>
                        <a:rPr lang="en-US" sz="900" b="1" dirty="0">
                          <a:solidFill>
                            <a:srgbClr val="162537"/>
                          </a:solidFill>
                          <a:latin typeface="Calibri" pitchFamily="34" charset="0"/>
                          <a:ea typeface="Calibri" pitchFamily="34" charset="-122"/>
                          <a:cs typeface="Calibri" pitchFamily="34" charset="-120"/>
                        </a:rPr>
                        <a:t>South Africa</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tcPr>
                </a:tc>
                <a:tc>
                  <a:txBody>
                    <a:bodyPr/>
                    <a:lstStyle/>
                    <a:p>
                      <a:pPr marL="0" indent="0" algn="ctr">
                        <a:buNone/>
                      </a:pPr>
                      <a:r>
                        <a:rPr lang="en-US" sz="900" b="1" dirty="0">
                          <a:solidFill>
                            <a:srgbClr val="8B0000"/>
                          </a:solidFill>
                          <a:latin typeface="Calibri" pitchFamily="34" charset="0"/>
                          <a:ea typeface="Calibri" pitchFamily="34" charset="-122"/>
                          <a:cs typeface="Calibri" pitchFamily="34" charset="-120"/>
                        </a:rPr>
                        <a:t>25.4%</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FFDADA"/>
                    </a:solidFill>
                  </a:tcPr>
                </a:tc>
                <a:tc>
                  <a:txBody>
                    <a:bodyPr/>
                    <a:lstStyle/>
                    <a:p>
                      <a:pPr marL="0" indent="0" algn="ctr">
                        <a:buNone/>
                      </a:pPr>
                      <a:r>
                        <a:rPr lang="en-US" sz="900" dirty="0">
                          <a:solidFill>
                            <a:srgbClr val="7B4500"/>
                          </a:solidFill>
                          <a:latin typeface="Calibri" pitchFamily="34" charset="0"/>
                          <a:ea typeface="Calibri" pitchFamily="34" charset="-122"/>
                          <a:cs typeface="Calibri" pitchFamily="34" charset="-120"/>
                        </a:rPr>
                        <a:t>18.7%</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FFF0DA"/>
                    </a:solidFill>
                  </a:tcPr>
                </a:tc>
                <a:tc>
                  <a:txBody>
                    <a:bodyPr/>
                    <a:lstStyle/>
                    <a:p>
                      <a:pPr marL="0" indent="0" algn="ctr">
                        <a:buNone/>
                      </a:pPr>
                      <a:r>
                        <a:rPr lang="en-US" sz="900" dirty="0">
                          <a:solidFill>
                            <a:srgbClr val="1A5E3A"/>
                          </a:solidFill>
                          <a:latin typeface="Calibri" pitchFamily="34" charset="0"/>
                          <a:ea typeface="Calibri" pitchFamily="34" charset="-122"/>
                          <a:cs typeface="Calibri" pitchFamily="34" charset="-120"/>
                        </a:rPr>
                        <a:t>85.3%</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DAF5E8"/>
                    </a:solidFill>
                  </a:tcPr>
                </a:tc>
                <a:tc>
                  <a:txBody>
                    <a:bodyPr/>
                    <a:lstStyle/>
                    <a:p>
                      <a:pPr marL="0" indent="0" algn="ctr">
                        <a:buNone/>
                      </a:pPr>
                      <a:r>
                        <a:rPr lang="en-US" sz="900" b="1" dirty="0">
                          <a:solidFill>
                            <a:srgbClr val="1A5E3A"/>
                          </a:solidFill>
                          <a:latin typeface="Calibri" pitchFamily="34" charset="0"/>
                          <a:ea typeface="Calibri" pitchFamily="34" charset="-122"/>
                          <a:cs typeface="Calibri" pitchFamily="34" charset="-120"/>
                        </a:rPr>
                        <a:t>HIGH Investment</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DAF5E8"/>
                    </a:solidFill>
                  </a:tcPr>
                </a:tc>
                <a:extLst>
                  <a:ext uri="{0D108BD9-81ED-4DB2-BD59-A6C34878D82A}">
                    <a16:rowId xmlns:a16="http://schemas.microsoft.com/office/drawing/2014/main" val="10002"/>
                  </a:ext>
                </a:extLst>
              </a:tr>
              <a:tr h="347472">
                <a:tc>
                  <a:txBody>
                    <a:bodyPr/>
                    <a:lstStyle/>
                    <a:p>
                      <a:pPr marL="0" indent="0">
                        <a:buNone/>
                      </a:pPr>
                      <a:r>
                        <a:rPr lang="en-US" sz="900" b="1" dirty="0">
                          <a:solidFill>
                            <a:srgbClr val="162537"/>
                          </a:solidFill>
                          <a:latin typeface="Calibri" pitchFamily="34" charset="0"/>
                          <a:ea typeface="Calibri" pitchFamily="34" charset="-122"/>
                          <a:cs typeface="Calibri" pitchFamily="34" charset="-120"/>
                        </a:rPr>
                        <a:t>Lesotho</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tcPr>
                </a:tc>
                <a:tc>
                  <a:txBody>
                    <a:bodyPr/>
                    <a:lstStyle/>
                    <a:p>
                      <a:pPr marL="0" indent="0" algn="ctr">
                        <a:buNone/>
                      </a:pPr>
                      <a:r>
                        <a:rPr lang="en-US" sz="900" b="1" dirty="0">
                          <a:solidFill>
                            <a:srgbClr val="8B0000"/>
                          </a:solidFill>
                          <a:latin typeface="Calibri" pitchFamily="34" charset="0"/>
                          <a:ea typeface="Calibri" pitchFamily="34" charset="-122"/>
                          <a:cs typeface="Calibri" pitchFamily="34" charset="-120"/>
                        </a:rPr>
                        <a:t>24.0%</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FFDADA"/>
                    </a:solidFill>
                  </a:tcPr>
                </a:tc>
                <a:tc>
                  <a:txBody>
                    <a:bodyPr/>
                    <a:lstStyle/>
                    <a:p>
                      <a:pPr marL="0" indent="0" algn="ctr">
                        <a:buNone/>
                      </a:pPr>
                      <a:r>
                        <a:rPr lang="en-US" sz="900" dirty="0">
                          <a:solidFill>
                            <a:srgbClr val="7B4500"/>
                          </a:solidFill>
                          <a:latin typeface="Calibri" pitchFamily="34" charset="0"/>
                          <a:ea typeface="Calibri" pitchFamily="34" charset="-122"/>
                          <a:cs typeface="Calibri" pitchFamily="34" charset="-120"/>
                        </a:rPr>
                        <a:t>14.0%</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FFF0DA"/>
                    </a:solidFill>
                  </a:tcPr>
                </a:tc>
                <a:tc>
                  <a:txBody>
                    <a:bodyPr/>
                    <a:lstStyle/>
                    <a:p>
                      <a:pPr marL="0" indent="0" algn="ctr">
                        <a:buNone/>
                      </a:pPr>
                      <a:r>
                        <a:rPr lang="en-US" sz="900" dirty="0">
                          <a:solidFill>
                            <a:srgbClr val="8B0000"/>
                          </a:solidFill>
                          <a:latin typeface="Calibri" pitchFamily="34" charset="0"/>
                          <a:ea typeface="Calibri" pitchFamily="34" charset="-122"/>
                          <a:cs typeface="Calibri" pitchFamily="34" charset="-120"/>
                        </a:rPr>
                        <a:t>31.7%</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FFDADA"/>
                    </a:solidFill>
                  </a:tcPr>
                </a:tc>
                <a:tc>
                  <a:txBody>
                    <a:bodyPr/>
                    <a:lstStyle/>
                    <a:p>
                      <a:pPr marL="0" indent="0" algn="ctr">
                        <a:buNone/>
                      </a:pPr>
                      <a:r>
                        <a:rPr lang="en-US" sz="900" b="1" dirty="0">
                          <a:solidFill>
                            <a:srgbClr val="8B0000"/>
                          </a:solidFill>
                          <a:latin typeface="Calibri" pitchFamily="34" charset="0"/>
                          <a:ea typeface="Calibri" pitchFamily="34" charset="-122"/>
                          <a:cs typeface="Calibri" pitchFamily="34" charset="-120"/>
                        </a:rPr>
                        <a:t>Low Investment</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FFDADA"/>
                    </a:solidFill>
                  </a:tcPr>
                </a:tc>
                <a:extLst>
                  <a:ext uri="{0D108BD9-81ED-4DB2-BD59-A6C34878D82A}">
                    <a16:rowId xmlns:a16="http://schemas.microsoft.com/office/drawing/2014/main" val="10003"/>
                  </a:ext>
                </a:extLst>
              </a:tr>
              <a:tr h="347472">
                <a:tc>
                  <a:txBody>
                    <a:bodyPr/>
                    <a:lstStyle/>
                    <a:p>
                      <a:pPr marL="0" indent="0">
                        <a:buNone/>
                      </a:pPr>
                      <a:r>
                        <a:rPr lang="en-US" sz="900" b="1" dirty="0">
                          <a:solidFill>
                            <a:srgbClr val="162537"/>
                          </a:solidFill>
                          <a:latin typeface="Calibri" pitchFamily="34" charset="0"/>
                          <a:ea typeface="Calibri" pitchFamily="34" charset="-122"/>
                          <a:cs typeface="Calibri" pitchFamily="34" charset="-120"/>
                        </a:rPr>
                        <a:t>Gabon</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tcPr>
                </a:tc>
                <a:tc>
                  <a:txBody>
                    <a:bodyPr/>
                    <a:lstStyle/>
                    <a:p>
                      <a:pPr marL="0" indent="0" algn="ctr">
                        <a:buNone/>
                      </a:pPr>
                      <a:r>
                        <a:rPr lang="en-US" sz="900" b="1" dirty="0">
                          <a:solidFill>
                            <a:srgbClr val="8B0000"/>
                          </a:solidFill>
                          <a:latin typeface="Calibri" pitchFamily="34" charset="0"/>
                          <a:ea typeface="Calibri" pitchFamily="34" charset="-122"/>
                          <a:cs typeface="Calibri" pitchFamily="34" charset="-120"/>
                        </a:rPr>
                        <a:t>21.9%</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FFDADA"/>
                    </a:solidFill>
                  </a:tcPr>
                </a:tc>
                <a:tc>
                  <a:txBody>
                    <a:bodyPr/>
                    <a:lstStyle/>
                    <a:p>
                      <a:pPr marL="0" indent="0" algn="ctr">
                        <a:buNone/>
                      </a:pPr>
                      <a:r>
                        <a:rPr lang="en-US" sz="900" dirty="0">
                          <a:solidFill>
                            <a:srgbClr val="7B4500"/>
                          </a:solidFill>
                          <a:latin typeface="Calibri" pitchFamily="34" charset="0"/>
                          <a:ea typeface="Calibri" pitchFamily="34" charset="-122"/>
                          <a:cs typeface="Calibri" pitchFamily="34" charset="-120"/>
                        </a:rPr>
                        <a:t>10.9%</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FFF0DA"/>
                    </a:solidFill>
                  </a:tcPr>
                </a:tc>
                <a:tc>
                  <a:txBody>
                    <a:bodyPr/>
                    <a:lstStyle/>
                    <a:p>
                      <a:pPr marL="0" indent="0" algn="ctr">
                        <a:buNone/>
                      </a:pPr>
                      <a:r>
                        <a:rPr lang="en-US" sz="900" dirty="0">
                          <a:solidFill>
                            <a:srgbClr val="1A5E3A"/>
                          </a:solidFill>
                          <a:latin typeface="Calibri" pitchFamily="34" charset="0"/>
                          <a:ea typeface="Calibri" pitchFamily="34" charset="-122"/>
                          <a:cs typeface="Calibri" pitchFamily="34" charset="-120"/>
                        </a:rPr>
                        <a:t>87.4%</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DAF5E8"/>
                    </a:solidFill>
                  </a:tcPr>
                </a:tc>
                <a:tc>
                  <a:txBody>
                    <a:bodyPr/>
                    <a:lstStyle/>
                    <a:p>
                      <a:pPr marL="0" indent="0" algn="ctr">
                        <a:buNone/>
                      </a:pPr>
                      <a:r>
                        <a:rPr lang="en-US" sz="900" b="1" dirty="0">
                          <a:solidFill>
                            <a:srgbClr val="8B0000"/>
                          </a:solidFill>
                          <a:latin typeface="Calibri" pitchFamily="34" charset="0"/>
                          <a:ea typeface="Calibri" pitchFamily="34" charset="-122"/>
                          <a:cs typeface="Calibri" pitchFamily="34" charset="-120"/>
                        </a:rPr>
                        <a:t>Low Investment</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FFDADA"/>
                    </a:solidFill>
                  </a:tcPr>
                </a:tc>
                <a:extLst>
                  <a:ext uri="{0D108BD9-81ED-4DB2-BD59-A6C34878D82A}">
                    <a16:rowId xmlns:a16="http://schemas.microsoft.com/office/drawing/2014/main" val="10004"/>
                  </a:ext>
                </a:extLst>
              </a:tr>
              <a:tr h="347472">
                <a:tc>
                  <a:txBody>
                    <a:bodyPr/>
                    <a:lstStyle/>
                    <a:p>
                      <a:pPr marL="0" indent="0">
                        <a:buNone/>
                      </a:pPr>
                      <a:r>
                        <a:rPr lang="en-US" sz="900" b="1" dirty="0">
                          <a:solidFill>
                            <a:srgbClr val="162537"/>
                          </a:solidFill>
                          <a:latin typeface="Calibri" pitchFamily="34" charset="0"/>
                          <a:ea typeface="Calibri" pitchFamily="34" charset="-122"/>
                          <a:cs typeface="Calibri" pitchFamily="34" charset="-120"/>
                        </a:rPr>
                        <a:t>Egypt</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tcPr>
                </a:tc>
                <a:tc>
                  <a:txBody>
                    <a:bodyPr/>
                    <a:lstStyle/>
                    <a:p>
                      <a:pPr marL="0" indent="0" algn="ctr">
                        <a:buNone/>
                      </a:pPr>
                      <a:r>
                        <a:rPr lang="en-US" sz="900" b="1" dirty="0">
                          <a:solidFill>
                            <a:srgbClr val="7B4500"/>
                          </a:solidFill>
                          <a:latin typeface="Calibri" pitchFamily="34" charset="0"/>
                          <a:ea typeface="Calibri" pitchFamily="34" charset="-122"/>
                          <a:cs typeface="Calibri" pitchFamily="34" charset="-120"/>
                        </a:rPr>
                        <a:t>17.0%</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FFF0DA"/>
                    </a:solidFill>
                  </a:tcPr>
                </a:tc>
                <a:tc>
                  <a:txBody>
                    <a:bodyPr/>
                    <a:lstStyle/>
                    <a:p>
                      <a:pPr marL="0" indent="0" algn="ctr">
                        <a:buNone/>
                      </a:pPr>
                      <a:r>
                        <a:rPr lang="en-US" sz="900" dirty="0">
                          <a:solidFill>
                            <a:srgbClr val="7B4500"/>
                          </a:solidFill>
                          <a:latin typeface="Calibri" pitchFamily="34" charset="0"/>
                          <a:ea typeface="Calibri" pitchFamily="34" charset="-122"/>
                          <a:cs typeface="Calibri" pitchFamily="34" charset="-120"/>
                        </a:rPr>
                        <a:t>11.9%</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FFF0DA"/>
                    </a:solidFill>
                  </a:tcPr>
                </a:tc>
                <a:tc>
                  <a:txBody>
                    <a:bodyPr/>
                    <a:lstStyle/>
                    <a:p>
                      <a:pPr marL="0" indent="0" algn="ctr">
                        <a:buNone/>
                      </a:pPr>
                      <a:r>
                        <a:rPr lang="en-US" sz="900" dirty="0">
                          <a:solidFill>
                            <a:srgbClr val="1A5E3A"/>
                          </a:solidFill>
                          <a:latin typeface="Calibri" pitchFamily="34" charset="0"/>
                          <a:ea typeface="Calibri" pitchFamily="34" charset="-122"/>
                          <a:cs typeface="Calibri" pitchFamily="34" charset="-120"/>
                        </a:rPr>
                        <a:t>99.3%</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DAF5E8"/>
                    </a:solidFill>
                  </a:tcPr>
                </a:tc>
                <a:tc>
                  <a:txBody>
                    <a:bodyPr/>
                    <a:lstStyle/>
                    <a:p>
                      <a:pPr marL="0" indent="0" algn="ctr">
                        <a:buNone/>
                      </a:pPr>
                      <a:r>
                        <a:rPr lang="en-US" sz="900" b="1" dirty="0">
                          <a:solidFill>
                            <a:srgbClr val="8B0000"/>
                          </a:solidFill>
                          <a:latin typeface="Calibri" pitchFamily="34" charset="0"/>
                          <a:ea typeface="Calibri" pitchFamily="34" charset="-122"/>
                          <a:cs typeface="Calibri" pitchFamily="34" charset="-120"/>
                        </a:rPr>
                        <a:t>Low Investment</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FFDADA"/>
                    </a:solidFill>
                  </a:tcPr>
                </a:tc>
                <a:extLst>
                  <a:ext uri="{0D108BD9-81ED-4DB2-BD59-A6C34878D82A}">
                    <a16:rowId xmlns:a16="http://schemas.microsoft.com/office/drawing/2014/main" val="10005"/>
                  </a:ext>
                </a:extLst>
              </a:tr>
              <a:tr h="347472">
                <a:tc>
                  <a:txBody>
                    <a:bodyPr/>
                    <a:lstStyle/>
                    <a:p>
                      <a:pPr marL="0" indent="0">
                        <a:buNone/>
                      </a:pPr>
                      <a:r>
                        <a:rPr lang="en-US" sz="900" b="1" dirty="0">
                          <a:solidFill>
                            <a:srgbClr val="162537"/>
                          </a:solidFill>
                          <a:latin typeface="Calibri" pitchFamily="34" charset="0"/>
                          <a:ea typeface="Calibri" pitchFamily="34" charset="-122"/>
                          <a:cs typeface="Calibri" pitchFamily="34" charset="-120"/>
                        </a:rPr>
                        <a:t>Cape Verde</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tcPr>
                </a:tc>
                <a:tc>
                  <a:txBody>
                    <a:bodyPr/>
                    <a:lstStyle/>
                    <a:p>
                      <a:pPr marL="0" indent="0" algn="ctr">
                        <a:buNone/>
                      </a:pPr>
                      <a:r>
                        <a:rPr lang="en-US" sz="900" b="1" dirty="0">
                          <a:solidFill>
                            <a:srgbClr val="7B4500"/>
                          </a:solidFill>
                          <a:latin typeface="Calibri" pitchFamily="34" charset="0"/>
                          <a:ea typeface="Calibri" pitchFamily="34" charset="-122"/>
                          <a:cs typeface="Calibri" pitchFamily="34" charset="-120"/>
                        </a:rPr>
                        <a:t>11.9%</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FFF0DA"/>
                    </a:solidFill>
                  </a:tcPr>
                </a:tc>
                <a:tc>
                  <a:txBody>
                    <a:bodyPr/>
                    <a:lstStyle/>
                    <a:p>
                      <a:pPr marL="0" indent="0" algn="ctr">
                        <a:buNone/>
                      </a:pPr>
                      <a:r>
                        <a:rPr lang="en-US" sz="900" dirty="0">
                          <a:solidFill>
                            <a:srgbClr val="7B4500"/>
                          </a:solidFill>
                          <a:latin typeface="Calibri" pitchFamily="34" charset="0"/>
                          <a:ea typeface="Calibri" pitchFamily="34" charset="-122"/>
                          <a:cs typeface="Calibri" pitchFamily="34" charset="-120"/>
                        </a:rPr>
                        <a:t>16.8%</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FFF0DA"/>
                    </a:solidFill>
                  </a:tcPr>
                </a:tc>
                <a:tc>
                  <a:txBody>
                    <a:bodyPr/>
                    <a:lstStyle/>
                    <a:p>
                      <a:pPr marL="0" indent="0" algn="ctr">
                        <a:buNone/>
                      </a:pPr>
                      <a:r>
                        <a:rPr lang="en-US" sz="900" dirty="0">
                          <a:solidFill>
                            <a:srgbClr val="1A5E3A"/>
                          </a:solidFill>
                          <a:latin typeface="Calibri" pitchFamily="34" charset="0"/>
                          <a:ea typeface="Calibri" pitchFamily="34" charset="-122"/>
                          <a:cs typeface="Calibri" pitchFamily="34" charset="-120"/>
                        </a:rPr>
                        <a:t>86.4%</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DAF5E8"/>
                    </a:solidFill>
                  </a:tcPr>
                </a:tc>
                <a:tc>
                  <a:txBody>
                    <a:bodyPr/>
                    <a:lstStyle/>
                    <a:p>
                      <a:pPr marL="0" indent="0" algn="ctr">
                        <a:buNone/>
                      </a:pPr>
                      <a:r>
                        <a:rPr lang="en-US" sz="900" b="1" dirty="0">
                          <a:solidFill>
                            <a:srgbClr val="1A5E3A"/>
                          </a:solidFill>
                          <a:latin typeface="Calibri" pitchFamily="34" charset="0"/>
                          <a:ea typeface="Calibri" pitchFamily="34" charset="-122"/>
                          <a:cs typeface="Calibri" pitchFamily="34" charset="-120"/>
                        </a:rPr>
                        <a:t>HIGH Investment</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DAF5E8"/>
                    </a:solidFill>
                  </a:tcPr>
                </a:tc>
                <a:extLst>
                  <a:ext uri="{0D108BD9-81ED-4DB2-BD59-A6C34878D82A}">
                    <a16:rowId xmlns:a16="http://schemas.microsoft.com/office/drawing/2014/main" val="10006"/>
                  </a:ext>
                </a:extLst>
              </a:tr>
              <a:tr h="347472">
                <a:tc>
                  <a:txBody>
                    <a:bodyPr/>
                    <a:lstStyle/>
                    <a:p>
                      <a:pPr marL="0" indent="0">
                        <a:buNone/>
                      </a:pPr>
                      <a:r>
                        <a:rPr lang="en-US" sz="900" b="1" dirty="0">
                          <a:solidFill>
                            <a:srgbClr val="162537"/>
                          </a:solidFill>
                          <a:latin typeface="Calibri" pitchFamily="34" charset="0"/>
                          <a:ea typeface="Calibri" pitchFamily="34" charset="-122"/>
                          <a:cs typeface="Calibri" pitchFamily="34" charset="-120"/>
                        </a:rPr>
                        <a:t>Morocco</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tcPr>
                </a:tc>
                <a:tc>
                  <a:txBody>
                    <a:bodyPr/>
                    <a:lstStyle/>
                    <a:p>
                      <a:pPr marL="0" indent="0" algn="ctr">
                        <a:buNone/>
                      </a:pPr>
                      <a:r>
                        <a:rPr lang="en-US" sz="900" b="1" dirty="0">
                          <a:solidFill>
                            <a:srgbClr val="1A5E3A"/>
                          </a:solidFill>
                          <a:latin typeface="Calibri" pitchFamily="34" charset="0"/>
                          <a:ea typeface="Calibri" pitchFamily="34" charset="-122"/>
                          <a:cs typeface="Calibri" pitchFamily="34" charset="-120"/>
                        </a:rPr>
                        <a:t>9.8%</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DAF5E8"/>
                    </a:solidFill>
                  </a:tcPr>
                </a:tc>
                <a:tc>
                  <a:txBody>
                    <a:bodyPr/>
                    <a:lstStyle/>
                    <a:p>
                      <a:pPr marL="0" indent="0" algn="ctr">
                        <a:buNone/>
                      </a:pPr>
                      <a:r>
                        <a:rPr lang="en-US" sz="900" dirty="0">
                          <a:solidFill>
                            <a:srgbClr val="8B0000"/>
                          </a:solidFill>
                          <a:latin typeface="Calibri" pitchFamily="34" charset="0"/>
                          <a:ea typeface="Calibri" pitchFamily="34" charset="-122"/>
                          <a:cs typeface="Calibri" pitchFamily="34" charset="-120"/>
                        </a:rPr>
                        <a:t>4.7%</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FFDADA"/>
                    </a:solidFill>
                  </a:tcPr>
                </a:tc>
                <a:tc>
                  <a:txBody>
                    <a:bodyPr/>
                    <a:lstStyle/>
                    <a:p>
                      <a:pPr marL="0" indent="0" algn="ctr">
                        <a:buNone/>
                      </a:pPr>
                      <a:r>
                        <a:rPr lang="en-US" sz="900" dirty="0">
                          <a:solidFill>
                            <a:srgbClr val="1A5E3A"/>
                          </a:solidFill>
                          <a:latin typeface="Calibri" pitchFamily="34" charset="0"/>
                          <a:ea typeface="Calibri" pitchFamily="34" charset="-122"/>
                          <a:cs typeface="Calibri" pitchFamily="34" charset="-120"/>
                        </a:rPr>
                        <a:t>97.3%</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DAF5E8"/>
                    </a:solidFill>
                  </a:tcPr>
                </a:tc>
                <a:tc>
                  <a:txBody>
                    <a:bodyPr/>
                    <a:lstStyle/>
                    <a:p>
                      <a:pPr marL="0" indent="0" algn="ctr">
                        <a:buNone/>
                      </a:pPr>
                      <a:r>
                        <a:rPr lang="en-US" sz="900" b="1" dirty="0">
                          <a:solidFill>
                            <a:srgbClr val="8B0000"/>
                          </a:solidFill>
                          <a:latin typeface="Calibri" pitchFamily="34" charset="0"/>
                          <a:ea typeface="Calibri" pitchFamily="34" charset="-122"/>
                          <a:cs typeface="Calibri" pitchFamily="34" charset="-120"/>
                        </a:rPr>
                        <a:t>Low Investment</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FFDADA"/>
                    </a:solidFill>
                  </a:tcPr>
                </a:tc>
                <a:extLst>
                  <a:ext uri="{0D108BD9-81ED-4DB2-BD59-A6C34878D82A}">
                    <a16:rowId xmlns:a16="http://schemas.microsoft.com/office/drawing/2014/main" val="10007"/>
                  </a:ext>
                </a:extLst>
              </a:tr>
              <a:tr h="347472">
                <a:tc>
                  <a:txBody>
                    <a:bodyPr/>
                    <a:lstStyle/>
                    <a:p>
                      <a:pPr marL="0" indent="0">
                        <a:buNone/>
                      </a:pPr>
                      <a:r>
                        <a:rPr lang="en-US" sz="900" b="1" dirty="0">
                          <a:solidFill>
                            <a:srgbClr val="162537"/>
                          </a:solidFill>
                          <a:latin typeface="Calibri" pitchFamily="34" charset="0"/>
                          <a:ea typeface="Calibri" pitchFamily="34" charset="-122"/>
                          <a:cs typeface="Calibri" pitchFamily="34" charset="-120"/>
                        </a:rPr>
                        <a:t>Ghana</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tcPr>
                </a:tc>
                <a:tc>
                  <a:txBody>
                    <a:bodyPr/>
                    <a:lstStyle/>
                    <a:p>
                      <a:pPr marL="0" indent="0" algn="ctr">
                        <a:buNone/>
                      </a:pPr>
                      <a:r>
                        <a:rPr lang="en-US" sz="900" b="1" dirty="0">
                          <a:solidFill>
                            <a:srgbClr val="1A5E3A"/>
                          </a:solidFill>
                          <a:latin typeface="Calibri" pitchFamily="34" charset="0"/>
                          <a:ea typeface="Calibri" pitchFamily="34" charset="-122"/>
                          <a:cs typeface="Calibri" pitchFamily="34" charset="-120"/>
                        </a:rPr>
                        <a:t>6.8%</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DAF5E8"/>
                    </a:solidFill>
                  </a:tcPr>
                </a:tc>
                <a:tc>
                  <a:txBody>
                    <a:bodyPr/>
                    <a:lstStyle/>
                    <a:p>
                      <a:pPr marL="0" indent="0" algn="ctr">
                        <a:buNone/>
                      </a:pPr>
                      <a:r>
                        <a:rPr lang="en-US" sz="900" dirty="0">
                          <a:solidFill>
                            <a:srgbClr val="1A5E3A"/>
                          </a:solidFill>
                          <a:latin typeface="Calibri" pitchFamily="34" charset="0"/>
                          <a:ea typeface="Calibri" pitchFamily="34" charset="-122"/>
                          <a:cs typeface="Calibri" pitchFamily="34" charset="-120"/>
                        </a:rPr>
                        <a:t>23.8%</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DAF5E8"/>
                    </a:solidFill>
                  </a:tcPr>
                </a:tc>
                <a:tc>
                  <a:txBody>
                    <a:bodyPr/>
                    <a:lstStyle/>
                    <a:p>
                      <a:pPr marL="0" indent="0" algn="ctr">
                        <a:buNone/>
                      </a:pPr>
                      <a:r>
                        <a:rPr lang="en-US" sz="900" dirty="0">
                          <a:solidFill>
                            <a:srgbClr val="1A5E3A"/>
                          </a:solidFill>
                          <a:latin typeface="Calibri" pitchFamily="34" charset="0"/>
                          <a:ea typeface="Calibri" pitchFamily="34" charset="-122"/>
                          <a:cs typeface="Calibri" pitchFamily="34" charset="-120"/>
                        </a:rPr>
                        <a:t>74.1%</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DAF5E8"/>
                    </a:solidFill>
                  </a:tcPr>
                </a:tc>
                <a:tc>
                  <a:txBody>
                    <a:bodyPr/>
                    <a:lstStyle/>
                    <a:p>
                      <a:pPr marL="0" indent="0" algn="ctr">
                        <a:buNone/>
                      </a:pPr>
                      <a:r>
                        <a:rPr lang="en-US" sz="900" b="1" dirty="0">
                          <a:solidFill>
                            <a:srgbClr val="1A5E3A"/>
                          </a:solidFill>
                          <a:latin typeface="Calibri" pitchFamily="34" charset="0"/>
                          <a:ea typeface="Calibri" pitchFamily="34" charset="-122"/>
                          <a:cs typeface="Calibri" pitchFamily="34" charset="-120"/>
                        </a:rPr>
                        <a:t>HIGH Investment</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DAF5E8"/>
                    </a:solidFill>
                  </a:tcPr>
                </a:tc>
                <a:extLst>
                  <a:ext uri="{0D108BD9-81ED-4DB2-BD59-A6C34878D82A}">
                    <a16:rowId xmlns:a16="http://schemas.microsoft.com/office/drawing/2014/main" val="10008"/>
                  </a:ext>
                </a:extLst>
              </a:tr>
              <a:tr h="347472">
                <a:tc>
                  <a:txBody>
                    <a:bodyPr/>
                    <a:lstStyle/>
                    <a:p>
                      <a:pPr marL="0" indent="0">
                        <a:buNone/>
                      </a:pPr>
                      <a:r>
                        <a:rPr lang="en-US" sz="900" b="1" dirty="0">
                          <a:solidFill>
                            <a:srgbClr val="162537"/>
                          </a:solidFill>
                          <a:latin typeface="Calibri" pitchFamily="34" charset="0"/>
                          <a:ea typeface="Calibri" pitchFamily="34" charset="-122"/>
                          <a:cs typeface="Calibri" pitchFamily="34" charset="-120"/>
                        </a:rPr>
                        <a:t>Kenya</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tcPr>
                </a:tc>
                <a:tc>
                  <a:txBody>
                    <a:bodyPr/>
                    <a:lstStyle/>
                    <a:p>
                      <a:pPr marL="0" indent="0" algn="ctr">
                        <a:buNone/>
                      </a:pPr>
                      <a:r>
                        <a:rPr lang="en-US" sz="900" b="1" dirty="0">
                          <a:solidFill>
                            <a:srgbClr val="1A5E3A"/>
                          </a:solidFill>
                          <a:latin typeface="Calibri" pitchFamily="34" charset="0"/>
                          <a:ea typeface="Calibri" pitchFamily="34" charset="-122"/>
                          <a:cs typeface="Calibri" pitchFamily="34" charset="-120"/>
                        </a:rPr>
                        <a:t>2.8%</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DAF5E8"/>
                    </a:solidFill>
                  </a:tcPr>
                </a:tc>
                <a:tc>
                  <a:txBody>
                    <a:bodyPr/>
                    <a:lstStyle/>
                    <a:p>
                      <a:pPr marL="0" indent="0" algn="ctr">
                        <a:buNone/>
                      </a:pPr>
                      <a:r>
                        <a:rPr lang="en-US" sz="900" dirty="0">
                          <a:solidFill>
                            <a:srgbClr val="7B4500"/>
                          </a:solidFill>
                          <a:latin typeface="Calibri" pitchFamily="34" charset="0"/>
                          <a:ea typeface="Calibri" pitchFamily="34" charset="-122"/>
                          <a:cs typeface="Calibri" pitchFamily="34" charset="-120"/>
                        </a:rPr>
                        <a:t>16.7%</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FFF0DA"/>
                    </a:solidFill>
                  </a:tcPr>
                </a:tc>
                <a:tc>
                  <a:txBody>
                    <a:bodyPr/>
                    <a:lstStyle/>
                    <a:p>
                      <a:pPr marL="0" indent="0" algn="ctr">
                        <a:buNone/>
                      </a:pPr>
                      <a:r>
                        <a:rPr lang="en-US" sz="900" dirty="0">
                          <a:solidFill>
                            <a:srgbClr val="7B4500"/>
                          </a:solidFill>
                          <a:latin typeface="Calibri" pitchFamily="34" charset="0"/>
                          <a:ea typeface="Calibri" pitchFamily="34" charset="-122"/>
                          <a:cs typeface="Calibri" pitchFamily="34" charset="-120"/>
                        </a:rPr>
                        <a:t>41.6%</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FFF0DA"/>
                    </a:solidFill>
                  </a:tcPr>
                </a:tc>
                <a:tc>
                  <a:txBody>
                    <a:bodyPr/>
                    <a:lstStyle/>
                    <a:p>
                      <a:pPr marL="0" indent="0" algn="ctr">
                        <a:buNone/>
                      </a:pPr>
                      <a:r>
                        <a:rPr lang="en-US" sz="900" b="1" dirty="0">
                          <a:solidFill>
                            <a:srgbClr val="1A5E3A"/>
                          </a:solidFill>
                          <a:latin typeface="Calibri" pitchFamily="34" charset="0"/>
                          <a:ea typeface="Calibri" pitchFamily="34" charset="-122"/>
                          <a:cs typeface="Calibri" pitchFamily="34" charset="-120"/>
                        </a:rPr>
                        <a:t>HIGH Investment</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DAF5E8"/>
                    </a:solidFill>
                  </a:tcPr>
                </a:tc>
                <a:extLst>
                  <a:ext uri="{0D108BD9-81ED-4DB2-BD59-A6C34878D82A}">
                    <a16:rowId xmlns:a16="http://schemas.microsoft.com/office/drawing/2014/main" val="10009"/>
                  </a:ext>
                </a:extLst>
              </a:tr>
              <a:tr h="347472">
                <a:tc>
                  <a:txBody>
                    <a:bodyPr/>
                    <a:lstStyle/>
                    <a:p>
                      <a:pPr marL="0" indent="0">
                        <a:buNone/>
                      </a:pPr>
                      <a:r>
                        <a:rPr lang="en-US" sz="900" b="1" dirty="0">
                          <a:solidFill>
                            <a:srgbClr val="162537"/>
                          </a:solidFill>
                          <a:latin typeface="Calibri" pitchFamily="34" charset="0"/>
                          <a:ea typeface="Calibri" pitchFamily="34" charset="-122"/>
                          <a:cs typeface="Calibri" pitchFamily="34" charset="-120"/>
                        </a:rPr>
                        <a:t>Ethiopia</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tcPr>
                </a:tc>
                <a:tc>
                  <a:txBody>
                    <a:bodyPr/>
                    <a:lstStyle/>
                    <a:p>
                      <a:pPr marL="0" indent="0" algn="ctr">
                        <a:buNone/>
                      </a:pPr>
                      <a:r>
                        <a:rPr lang="en-US" sz="900" b="1" dirty="0">
                          <a:solidFill>
                            <a:srgbClr val="1A5E3A"/>
                          </a:solidFill>
                          <a:latin typeface="Calibri" pitchFamily="34" charset="0"/>
                          <a:ea typeface="Calibri" pitchFamily="34" charset="-122"/>
                          <a:cs typeface="Calibri" pitchFamily="34" charset="-120"/>
                        </a:rPr>
                        <a:t>2.3%</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DAF5E8"/>
                    </a:solidFill>
                  </a:tcPr>
                </a:tc>
                <a:tc>
                  <a:txBody>
                    <a:bodyPr/>
                    <a:lstStyle/>
                    <a:p>
                      <a:pPr marL="0" indent="0" algn="ctr">
                        <a:buNone/>
                      </a:pPr>
                      <a:r>
                        <a:rPr lang="en-US" sz="900" dirty="0">
                          <a:solidFill>
                            <a:srgbClr val="1A5E3A"/>
                          </a:solidFill>
                          <a:latin typeface="Calibri" pitchFamily="34" charset="0"/>
                          <a:ea typeface="Calibri" pitchFamily="34" charset="-122"/>
                          <a:cs typeface="Calibri" pitchFamily="34" charset="-120"/>
                        </a:rPr>
                        <a:t>27.1%</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DAF5E8"/>
                    </a:solidFill>
                  </a:tcPr>
                </a:tc>
                <a:tc>
                  <a:txBody>
                    <a:bodyPr/>
                    <a:lstStyle/>
                    <a:p>
                      <a:pPr marL="0" indent="0" algn="ctr">
                        <a:buNone/>
                      </a:pPr>
                      <a:r>
                        <a:rPr lang="en-US" sz="900" dirty="0">
                          <a:solidFill>
                            <a:srgbClr val="8B0000"/>
                          </a:solidFill>
                          <a:latin typeface="Calibri" pitchFamily="34" charset="0"/>
                          <a:ea typeface="Calibri" pitchFamily="34" charset="-122"/>
                          <a:cs typeface="Calibri" pitchFamily="34" charset="-120"/>
                        </a:rPr>
                        <a:t>29.0%</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FFDADA"/>
                    </a:solidFill>
                  </a:tcPr>
                </a:tc>
                <a:tc>
                  <a:txBody>
                    <a:bodyPr/>
                    <a:lstStyle/>
                    <a:p>
                      <a:pPr marL="0" indent="0" algn="ctr">
                        <a:buNone/>
                      </a:pPr>
                      <a:r>
                        <a:rPr lang="en-US" sz="900" b="1" dirty="0">
                          <a:solidFill>
                            <a:srgbClr val="1A5E3A"/>
                          </a:solidFill>
                          <a:latin typeface="Calibri" pitchFamily="34" charset="0"/>
                          <a:ea typeface="Calibri" pitchFamily="34" charset="-122"/>
                          <a:cs typeface="Calibri" pitchFamily="34" charset="-120"/>
                        </a:rPr>
                        <a:t>HIGH Investment</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DAF5E8"/>
                    </a:solidFill>
                  </a:tcPr>
                </a:tc>
                <a:extLst>
                  <a:ext uri="{0D108BD9-81ED-4DB2-BD59-A6C34878D82A}">
                    <a16:rowId xmlns:a16="http://schemas.microsoft.com/office/drawing/2014/main" val="10010"/>
                  </a:ext>
                </a:extLst>
              </a:tr>
              <a:tr h="347472">
                <a:tc>
                  <a:txBody>
                    <a:bodyPr/>
                    <a:lstStyle/>
                    <a:p>
                      <a:pPr marL="0" indent="0">
                        <a:buNone/>
                      </a:pPr>
                      <a:r>
                        <a:rPr lang="en-US" sz="900" b="1" dirty="0">
                          <a:solidFill>
                            <a:srgbClr val="162537"/>
                          </a:solidFill>
                          <a:latin typeface="Calibri" pitchFamily="34" charset="0"/>
                          <a:ea typeface="Calibri" pitchFamily="34" charset="-122"/>
                          <a:cs typeface="Calibri" pitchFamily="34" charset="-120"/>
                        </a:rPr>
                        <a:t>Niger</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tcPr>
                </a:tc>
                <a:tc>
                  <a:txBody>
                    <a:bodyPr/>
                    <a:lstStyle/>
                    <a:p>
                      <a:pPr marL="0" indent="0" algn="ctr">
                        <a:buNone/>
                      </a:pPr>
                      <a:r>
                        <a:rPr lang="en-US" sz="900" b="1" dirty="0">
                          <a:solidFill>
                            <a:srgbClr val="1A5E3A"/>
                          </a:solidFill>
                          <a:latin typeface="Calibri" pitchFamily="34" charset="0"/>
                          <a:ea typeface="Calibri" pitchFamily="34" charset="-122"/>
                          <a:cs typeface="Calibri" pitchFamily="34" charset="-120"/>
                        </a:rPr>
                        <a:t>0.5%</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DAF5E8"/>
                    </a:solidFill>
                  </a:tcPr>
                </a:tc>
                <a:tc>
                  <a:txBody>
                    <a:bodyPr/>
                    <a:lstStyle/>
                    <a:p>
                      <a:pPr marL="0" indent="0" algn="ctr">
                        <a:buNone/>
                      </a:pPr>
                      <a:r>
                        <a:rPr lang="en-US" sz="900" dirty="0">
                          <a:solidFill>
                            <a:srgbClr val="7B4500"/>
                          </a:solidFill>
                          <a:latin typeface="Calibri" pitchFamily="34" charset="0"/>
                          <a:ea typeface="Calibri" pitchFamily="34" charset="-122"/>
                          <a:cs typeface="Calibri" pitchFamily="34" charset="-120"/>
                        </a:rPr>
                        <a:t>18.5%</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FFF0DA"/>
                    </a:solidFill>
                  </a:tcPr>
                </a:tc>
                <a:tc>
                  <a:txBody>
                    <a:bodyPr/>
                    <a:lstStyle/>
                    <a:p>
                      <a:pPr marL="0" indent="0" algn="ctr">
                        <a:buNone/>
                      </a:pPr>
                      <a:r>
                        <a:rPr lang="en-US" sz="900" dirty="0">
                          <a:solidFill>
                            <a:srgbClr val="8B0000"/>
                          </a:solidFill>
                          <a:latin typeface="Calibri" pitchFamily="34" charset="0"/>
                          <a:ea typeface="Calibri" pitchFamily="34" charset="-122"/>
                          <a:cs typeface="Calibri" pitchFamily="34" charset="-120"/>
                        </a:rPr>
                        <a:t>16.6%</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FFDADA"/>
                    </a:solidFill>
                  </a:tcPr>
                </a:tc>
                <a:tc>
                  <a:txBody>
                    <a:bodyPr/>
                    <a:lstStyle/>
                    <a:p>
                      <a:pPr marL="0" indent="0" algn="ctr">
                        <a:buNone/>
                      </a:pPr>
                      <a:r>
                        <a:rPr lang="en-US" sz="900" b="1" dirty="0">
                          <a:solidFill>
                            <a:srgbClr val="1A5E3A"/>
                          </a:solidFill>
                          <a:latin typeface="Calibri" pitchFamily="34" charset="0"/>
                          <a:ea typeface="Calibri" pitchFamily="34" charset="-122"/>
                          <a:cs typeface="Calibri" pitchFamily="34" charset="-120"/>
                        </a:rPr>
                        <a:t>HIGH Investment</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DAF5E8"/>
                    </a:solidFill>
                  </a:tcPr>
                </a:tc>
                <a:extLst>
                  <a:ext uri="{0D108BD9-81ED-4DB2-BD59-A6C34878D82A}">
                    <a16:rowId xmlns:a16="http://schemas.microsoft.com/office/drawing/2014/main" val="10011"/>
                  </a:ext>
                </a:extLst>
              </a:tr>
              <a:tr h="347472">
                <a:tc>
                  <a:txBody>
                    <a:bodyPr/>
                    <a:lstStyle/>
                    <a:p>
                      <a:pPr marL="0" indent="0">
                        <a:buNone/>
                      </a:pPr>
                      <a:r>
                        <a:rPr lang="en-US" sz="900" b="1" dirty="0">
                          <a:solidFill>
                            <a:srgbClr val="162537"/>
                          </a:solidFill>
                          <a:latin typeface="Calibri" pitchFamily="34" charset="0"/>
                          <a:ea typeface="Calibri" pitchFamily="34" charset="-122"/>
                          <a:cs typeface="Calibri" pitchFamily="34" charset="-120"/>
                        </a:rPr>
                        <a:t>Burundi</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tcPr>
                </a:tc>
                <a:tc>
                  <a:txBody>
                    <a:bodyPr/>
                    <a:lstStyle/>
                    <a:p>
                      <a:pPr marL="0" indent="0" algn="ctr">
                        <a:buNone/>
                      </a:pPr>
                      <a:r>
                        <a:rPr lang="en-US" sz="900" b="1" dirty="0">
                          <a:solidFill>
                            <a:srgbClr val="1A5E3A"/>
                          </a:solidFill>
                          <a:latin typeface="Calibri" pitchFamily="34" charset="0"/>
                          <a:ea typeface="Calibri" pitchFamily="34" charset="-122"/>
                          <a:cs typeface="Calibri" pitchFamily="34" charset="-120"/>
                        </a:rPr>
                        <a:t>1.6%</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DAF5E8"/>
                    </a:solidFill>
                  </a:tcPr>
                </a:tc>
                <a:tc>
                  <a:txBody>
                    <a:bodyPr/>
                    <a:lstStyle/>
                    <a:p>
                      <a:pPr marL="0" indent="0" algn="ctr">
                        <a:buNone/>
                      </a:pPr>
                      <a:r>
                        <a:rPr lang="en-US" sz="900" dirty="0">
                          <a:solidFill>
                            <a:srgbClr val="1A5E3A"/>
                          </a:solidFill>
                          <a:latin typeface="Calibri" pitchFamily="34" charset="0"/>
                          <a:ea typeface="Calibri" pitchFamily="34" charset="-122"/>
                          <a:cs typeface="Calibri" pitchFamily="34" charset="-120"/>
                        </a:rPr>
                        <a:t>27.5%</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DAF5E8"/>
                    </a:solidFill>
                  </a:tcPr>
                </a:tc>
                <a:tc>
                  <a:txBody>
                    <a:bodyPr/>
                    <a:lstStyle/>
                    <a:p>
                      <a:pPr marL="0" indent="0" algn="ctr">
                        <a:buNone/>
                      </a:pPr>
                      <a:r>
                        <a:rPr lang="en-US" sz="900" dirty="0">
                          <a:solidFill>
                            <a:srgbClr val="8B0000"/>
                          </a:solidFill>
                          <a:latin typeface="Calibri" pitchFamily="34" charset="0"/>
                          <a:ea typeface="Calibri" pitchFamily="34" charset="-122"/>
                          <a:cs typeface="Calibri" pitchFamily="34" charset="-120"/>
                        </a:rPr>
                        <a:t>8.4%</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FFDADA"/>
                    </a:solidFill>
                  </a:tcPr>
                </a:tc>
                <a:tc>
                  <a:txBody>
                    <a:bodyPr/>
                    <a:lstStyle/>
                    <a:p>
                      <a:pPr marL="0" indent="0" algn="ctr">
                        <a:buNone/>
                      </a:pPr>
                      <a:r>
                        <a:rPr lang="en-US" sz="900" b="1" dirty="0">
                          <a:solidFill>
                            <a:srgbClr val="1A5E3A"/>
                          </a:solidFill>
                          <a:latin typeface="Calibri" pitchFamily="34" charset="0"/>
                          <a:ea typeface="Calibri" pitchFamily="34" charset="-122"/>
                          <a:cs typeface="Calibri" pitchFamily="34" charset="-120"/>
                        </a:rPr>
                        <a:t>HIGH Investment</a:t>
                      </a:r>
                      <a:endParaRPr lang="en-US" sz="900" dirty="0">
                        <a:latin typeface="Calibri" charset="0"/>
                        <a:ea typeface="Calibri" charset="0"/>
                        <a:cs typeface="Calibri" charset="0"/>
                      </a:endParaRPr>
                    </a:p>
                  </a:txBody>
                  <a:tcPr anchor="ctr">
                    <a:lnL w="6350" cap="flat" cmpd="sng" algn="ctr">
                      <a:solidFill>
                        <a:srgbClr val="BDD4E6"/>
                      </a:solidFill>
                      <a:prstDash val="solid"/>
                      <a:round/>
                      <a:headEnd type="none" w="med" len="med"/>
                      <a:tailEnd type="none" w="med" len="med"/>
                    </a:lnL>
                    <a:lnR w="6350" cap="flat" cmpd="sng" algn="ctr">
                      <a:solidFill>
                        <a:srgbClr val="BDD4E6"/>
                      </a:solidFill>
                      <a:prstDash val="solid"/>
                      <a:round/>
                      <a:headEnd type="none" w="med" len="med"/>
                      <a:tailEnd type="none" w="med" len="med"/>
                    </a:lnR>
                    <a:lnT w="6350" cap="flat" cmpd="sng" algn="ctr">
                      <a:solidFill>
                        <a:srgbClr val="BDD4E6"/>
                      </a:solidFill>
                      <a:prstDash val="solid"/>
                      <a:round/>
                      <a:headEnd type="none" w="med" len="med"/>
                      <a:tailEnd type="none" w="med" len="med"/>
                    </a:lnT>
                    <a:lnB w="6350" cap="flat" cmpd="sng" algn="ctr">
                      <a:solidFill>
                        <a:srgbClr val="BDD4E6"/>
                      </a:solidFill>
                      <a:prstDash val="solid"/>
                      <a:round/>
                      <a:headEnd type="none" w="med" len="med"/>
                      <a:tailEnd type="none" w="med" len="med"/>
                    </a:lnB>
                    <a:solidFill>
                      <a:srgbClr val="DAF5E8"/>
                    </a:solidFill>
                  </a:tcPr>
                </a:tc>
                <a:extLst>
                  <a:ext uri="{0D108BD9-81ED-4DB2-BD59-A6C34878D82A}">
                    <a16:rowId xmlns:a16="http://schemas.microsoft.com/office/drawing/2014/main" val="10012"/>
                  </a:ext>
                </a:extLst>
              </a:tr>
            </a:tbl>
          </a:graphicData>
        </a:graphic>
      </p:graphicFrame>
      <p:sp>
        <p:nvSpPr>
          <p:cNvPr id="5" name="Shape 2"/>
          <p:cNvSpPr/>
          <p:nvPr/>
        </p:nvSpPr>
        <p:spPr>
          <a:xfrm>
            <a:off x="457200" y="5760720"/>
            <a:ext cx="7040880" cy="475488"/>
          </a:xfrm>
          <a:prstGeom prst="roundRect">
            <a:avLst>
              <a:gd name="adj" fmla="val 11538"/>
            </a:avLst>
          </a:prstGeom>
          <a:solidFill>
            <a:srgbClr val="F7FAFD"/>
          </a:solidFill>
          <a:ln w="6350">
            <a:solidFill>
              <a:srgbClr val="BDD4E6"/>
            </a:solidFill>
            <a:prstDash val="solid"/>
          </a:ln>
        </p:spPr>
      </p:sp>
      <p:sp>
        <p:nvSpPr>
          <p:cNvPr id="6" name="Text 3"/>
          <p:cNvSpPr/>
          <p:nvPr/>
        </p:nvSpPr>
        <p:spPr>
          <a:xfrm>
            <a:off x="566928" y="5870448"/>
            <a:ext cx="1828800" cy="274320"/>
          </a:xfrm>
          <a:prstGeom prst="rect">
            <a:avLst/>
          </a:prstGeom>
          <a:noFill/>
          <a:ln/>
        </p:spPr>
        <p:txBody>
          <a:bodyPr wrap="square" lIns="0" tIns="0" rIns="0" bIns="0" rtlCol="0" anchor="ctr"/>
          <a:lstStyle/>
          <a:p>
            <a:pPr marL="0" indent="0">
              <a:buNone/>
            </a:pPr>
            <a:r>
              <a:rPr lang="en-US" sz="900" b="1" dirty="0">
                <a:solidFill>
                  <a:srgbClr val="162537"/>
                </a:solidFill>
                <a:latin typeface="Calibri" pitchFamily="34" charset="0"/>
                <a:ea typeface="Calibri" pitchFamily="34" charset="-122"/>
                <a:cs typeface="Calibri" pitchFamily="34" charset="-120"/>
              </a:rPr>
              <a:t>Conditional Formatting Key:</a:t>
            </a:r>
            <a:endParaRPr lang="en-US" sz="900" dirty="0"/>
          </a:p>
        </p:txBody>
      </p:sp>
      <p:sp>
        <p:nvSpPr>
          <p:cNvPr id="7" name="Shape 4"/>
          <p:cNvSpPr/>
          <p:nvPr/>
        </p:nvSpPr>
        <p:spPr>
          <a:xfrm>
            <a:off x="2468880" y="5852160"/>
            <a:ext cx="1572768" cy="310896"/>
          </a:xfrm>
          <a:prstGeom prst="roundRect">
            <a:avLst>
              <a:gd name="adj" fmla="val 11765"/>
            </a:avLst>
          </a:prstGeom>
          <a:solidFill>
            <a:srgbClr val="FFDADA"/>
          </a:solidFill>
          <a:ln w="12700">
            <a:solidFill>
              <a:srgbClr val="FFDADA"/>
            </a:solidFill>
            <a:prstDash val="solid"/>
          </a:ln>
        </p:spPr>
      </p:sp>
      <p:sp>
        <p:nvSpPr>
          <p:cNvPr id="4" name="Text 5"/>
          <p:cNvSpPr/>
          <p:nvPr/>
        </p:nvSpPr>
        <p:spPr>
          <a:xfrm>
            <a:off x="2468880" y="5870448"/>
            <a:ext cx="1572768" cy="274320"/>
          </a:xfrm>
          <a:prstGeom prst="rect">
            <a:avLst/>
          </a:prstGeom>
          <a:noFill/>
          <a:ln/>
        </p:spPr>
        <p:txBody>
          <a:bodyPr wrap="square" lIns="0" tIns="0" rIns="0" bIns="0" rtlCol="0" anchor="ctr"/>
          <a:lstStyle/>
          <a:p>
            <a:pPr marL="0" indent="0" algn="ctr">
              <a:buNone/>
            </a:pPr>
            <a:r>
              <a:rPr lang="en-US" sz="850" b="1" dirty="0">
                <a:solidFill>
                  <a:srgbClr val="8B0000"/>
                </a:solidFill>
                <a:latin typeface="Calibri" pitchFamily="34" charset="0"/>
                <a:ea typeface="Calibri" pitchFamily="34" charset="-122"/>
                <a:cs typeface="Calibri" pitchFamily="34" charset="-120"/>
              </a:rPr>
              <a:t>&gt; 16%  High risk</a:t>
            </a:r>
            <a:endParaRPr lang="en-US" sz="850" dirty="0"/>
          </a:p>
        </p:txBody>
      </p:sp>
      <p:sp>
        <p:nvSpPr>
          <p:cNvPr id="9" name="Shape 6"/>
          <p:cNvSpPr/>
          <p:nvPr/>
        </p:nvSpPr>
        <p:spPr>
          <a:xfrm>
            <a:off x="4160520" y="5852160"/>
            <a:ext cx="1572768" cy="310896"/>
          </a:xfrm>
          <a:prstGeom prst="roundRect">
            <a:avLst>
              <a:gd name="adj" fmla="val 11765"/>
            </a:avLst>
          </a:prstGeom>
          <a:solidFill>
            <a:srgbClr val="FFF0DA"/>
          </a:solidFill>
          <a:ln w="12700">
            <a:solidFill>
              <a:srgbClr val="FFF0DA"/>
            </a:solidFill>
            <a:prstDash val="solid"/>
          </a:ln>
        </p:spPr>
      </p:sp>
      <p:sp>
        <p:nvSpPr>
          <p:cNvPr id="10" name="Text 7"/>
          <p:cNvSpPr/>
          <p:nvPr/>
        </p:nvSpPr>
        <p:spPr>
          <a:xfrm>
            <a:off x="4160520" y="5870448"/>
            <a:ext cx="1572768" cy="274320"/>
          </a:xfrm>
          <a:prstGeom prst="rect">
            <a:avLst/>
          </a:prstGeom>
          <a:noFill/>
          <a:ln/>
        </p:spPr>
        <p:txBody>
          <a:bodyPr wrap="square" lIns="0" tIns="0" rIns="0" bIns="0" rtlCol="0" anchor="ctr"/>
          <a:lstStyle/>
          <a:p>
            <a:pPr marL="0" indent="0" algn="ctr">
              <a:buNone/>
            </a:pPr>
            <a:r>
              <a:rPr lang="en-US" sz="850" b="1" dirty="0">
                <a:solidFill>
                  <a:srgbClr val="7B4500"/>
                </a:solidFill>
                <a:latin typeface="Calibri" pitchFamily="34" charset="0"/>
                <a:ea typeface="Calibri" pitchFamily="34" charset="-122"/>
                <a:cs typeface="Calibri" pitchFamily="34" charset="-120"/>
              </a:rPr>
              <a:t>10–20%  Moderate</a:t>
            </a:r>
            <a:endParaRPr lang="en-US" sz="850" dirty="0"/>
          </a:p>
        </p:txBody>
      </p:sp>
      <p:sp>
        <p:nvSpPr>
          <p:cNvPr id="11" name="Shape 8"/>
          <p:cNvSpPr/>
          <p:nvPr/>
        </p:nvSpPr>
        <p:spPr>
          <a:xfrm>
            <a:off x="5852160" y="5852160"/>
            <a:ext cx="1572768" cy="310896"/>
          </a:xfrm>
          <a:prstGeom prst="roundRect">
            <a:avLst>
              <a:gd name="adj" fmla="val 11765"/>
            </a:avLst>
          </a:prstGeom>
          <a:solidFill>
            <a:srgbClr val="DAF5E8"/>
          </a:solidFill>
          <a:ln w="12700">
            <a:solidFill>
              <a:srgbClr val="DAF5E8"/>
            </a:solidFill>
            <a:prstDash val="solid"/>
          </a:ln>
        </p:spPr>
      </p:sp>
      <p:sp>
        <p:nvSpPr>
          <p:cNvPr id="12" name="Text 9"/>
          <p:cNvSpPr/>
          <p:nvPr/>
        </p:nvSpPr>
        <p:spPr>
          <a:xfrm>
            <a:off x="5852160" y="5870448"/>
            <a:ext cx="1572768" cy="274320"/>
          </a:xfrm>
          <a:prstGeom prst="rect">
            <a:avLst/>
          </a:prstGeom>
          <a:noFill/>
          <a:ln/>
        </p:spPr>
        <p:txBody>
          <a:bodyPr wrap="square" lIns="0" tIns="0" rIns="0" bIns="0" rtlCol="0" anchor="ctr"/>
          <a:lstStyle/>
          <a:p>
            <a:pPr marL="0" indent="0" algn="ctr">
              <a:buNone/>
            </a:pPr>
            <a:r>
              <a:rPr lang="en-US" sz="850" b="1" dirty="0">
                <a:solidFill>
                  <a:srgbClr val="1A5E3A"/>
                </a:solidFill>
                <a:latin typeface="Calibri" pitchFamily="34" charset="0"/>
                <a:ea typeface="Calibri" pitchFamily="34" charset="-122"/>
                <a:cs typeface="Calibri" pitchFamily="34" charset="-120"/>
              </a:rPr>
              <a:t>&lt; 10%  Low</a:t>
            </a:r>
            <a:endParaRPr lang="en-US" sz="850" dirty="0"/>
          </a:p>
        </p:txBody>
      </p:sp>
      <p:graphicFrame>
        <p:nvGraphicFramePr>
          <p:cNvPr id="13" name="Chart 0"/>
          <p:cNvGraphicFramePr/>
          <p:nvPr/>
        </p:nvGraphicFramePr>
        <p:xfrm>
          <a:off x="7699248" y="1298448"/>
          <a:ext cx="4005072" cy="23774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1"/>
          <p:cNvGraphicFramePr/>
          <p:nvPr>
            <p:extLst>
              <p:ext uri="{D42A27DB-BD31-4B8C-83A1-F6EECF244321}">
                <p14:modId xmlns:p14="http://schemas.microsoft.com/office/powerpoint/2010/main" val="2417395355"/>
              </p:ext>
            </p:extLst>
          </p:nvPr>
        </p:nvGraphicFramePr>
        <p:xfrm>
          <a:off x="7699248" y="3858768"/>
          <a:ext cx="4005072" cy="237744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11247120" cy="594360"/>
          </a:xfrm>
          <a:prstGeom prst="rect">
            <a:avLst/>
          </a:prstGeom>
          <a:noFill/>
          <a:ln/>
        </p:spPr>
        <p:txBody>
          <a:bodyPr wrap="square" rtlCol="0" anchor="ctr"/>
          <a:lstStyle/>
          <a:p>
            <a:pPr marL="0" indent="0">
              <a:buNone/>
            </a:pPr>
            <a:r>
              <a:rPr lang="en-US" sz="2000" b="1" dirty="0">
                <a:latin typeface="Cambria" pitchFamily="34" charset="0"/>
                <a:ea typeface="Cambria" pitchFamily="34" charset="-122"/>
                <a:cs typeface="Cambria" pitchFamily="34" charset="-120"/>
              </a:rPr>
              <a:t>Analysis 7: Extreme Gender Gap</a:t>
            </a:r>
            <a:endParaRPr lang="en-US" sz="2000" dirty="0"/>
          </a:p>
        </p:txBody>
      </p:sp>
      <p:sp>
        <p:nvSpPr>
          <p:cNvPr id="3" name="Text 1"/>
          <p:cNvSpPr/>
          <p:nvPr/>
        </p:nvSpPr>
        <p:spPr>
          <a:xfrm>
            <a:off x="457200" y="913829"/>
            <a:ext cx="11247120" cy="334326"/>
          </a:xfrm>
          <a:prstGeom prst="rect">
            <a:avLst/>
          </a:prstGeom>
          <a:noFill/>
          <a:ln/>
        </p:spPr>
        <p:txBody>
          <a:bodyPr wrap="square" rtlCol="0" anchor="ctr"/>
          <a:lstStyle/>
          <a:p>
            <a:r>
              <a:rPr lang="en-US" sz="1400" dirty="0">
                <a:latin typeface="Calibri" pitchFamily="34" charset="0"/>
                <a:ea typeface="Calibri" pitchFamily="34" charset="-122"/>
                <a:cs typeface="Calibri" pitchFamily="34" charset="-120"/>
              </a:rPr>
              <a:t>Conditional formatting table (Excel) · 9 Countries with extreme gender gap  value (outliers) are number of men more unemployed than women</a:t>
            </a:r>
            <a:endParaRPr lang="en-US" sz="1400" dirty="0"/>
          </a:p>
          <a:p>
            <a:pPr marL="0" indent="0">
              <a:buNone/>
            </a:pP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9828934"/>
              </p:ext>
            </p:extLst>
          </p:nvPr>
        </p:nvGraphicFramePr>
        <p:xfrm>
          <a:off x="463296" y="1319232"/>
          <a:ext cx="5632704" cy="3493008"/>
        </p:xfrm>
        <a:graphic>
          <a:graphicData uri="http://schemas.openxmlformats.org/drawingml/2006/table">
            <a:tbl>
              <a:tblPr>
                <a:tableStyleId>{16D9F66E-5EB9-4882-86FB-DCBF35E3C3E4}</a:tableStyleId>
              </a:tblPr>
              <a:tblGrid>
                <a:gridCol w="1408176">
                  <a:extLst>
                    <a:ext uri="{9D8B030D-6E8A-4147-A177-3AD203B41FA5}">
                      <a16:colId xmlns:a16="http://schemas.microsoft.com/office/drawing/2014/main" val="20000"/>
                    </a:ext>
                  </a:extLst>
                </a:gridCol>
                <a:gridCol w="1408176">
                  <a:extLst>
                    <a:ext uri="{9D8B030D-6E8A-4147-A177-3AD203B41FA5}">
                      <a16:colId xmlns:a16="http://schemas.microsoft.com/office/drawing/2014/main" val="20001"/>
                    </a:ext>
                  </a:extLst>
                </a:gridCol>
                <a:gridCol w="1408176">
                  <a:extLst>
                    <a:ext uri="{9D8B030D-6E8A-4147-A177-3AD203B41FA5}">
                      <a16:colId xmlns:a16="http://schemas.microsoft.com/office/drawing/2014/main" val="20002"/>
                    </a:ext>
                  </a:extLst>
                </a:gridCol>
                <a:gridCol w="1408176">
                  <a:extLst>
                    <a:ext uri="{9D8B030D-6E8A-4147-A177-3AD203B41FA5}">
                      <a16:colId xmlns:a16="http://schemas.microsoft.com/office/drawing/2014/main" val="20003"/>
                    </a:ext>
                  </a:extLst>
                </a:gridCol>
              </a:tblGrid>
              <a:tr h="347472">
                <a:tc>
                  <a:txBody>
                    <a:bodyPr/>
                    <a:lstStyle/>
                    <a:p>
                      <a:pPr marL="0" indent="0" algn="ctr">
                        <a:buNone/>
                      </a:pPr>
                      <a:r>
                        <a:rPr lang="en-US" sz="1100" b="1" dirty="0">
                          <a:solidFill>
                            <a:schemeClr val="tx1"/>
                          </a:solidFill>
                        </a:rPr>
                        <a:t>Country</a:t>
                      </a:r>
                      <a:endParaRPr lang="en-US" sz="1100" b="1" dirty="0">
                        <a:solidFill>
                          <a:schemeClr val="tx1"/>
                        </a:solidFill>
                        <a:latin typeface="Arial" panose="020B0604020202020204" pitchFamily="34" charset="0"/>
                        <a:ea typeface="Calibri" charset="0"/>
                        <a:cs typeface="Arial" panose="020B0604020202020204" pitchFamily="34" charset="0"/>
                      </a:endParaRPr>
                    </a:p>
                  </a:txBody>
                  <a:tcPr anchor="ctr"/>
                </a:tc>
                <a:tc>
                  <a:txBody>
                    <a:bodyPr/>
                    <a:lstStyle/>
                    <a:p>
                      <a:pPr marL="0" indent="0" algn="ctr">
                        <a:buNone/>
                      </a:pPr>
                      <a:r>
                        <a:rPr lang="en-US" sz="1050" b="1" dirty="0">
                          <a:solidFill>
                            <a:schemeClr val="tx1"/>
                          </a:solidFill>
                        </a:rPr>
                        <a:t>Avg </a:t>
                      </a:r>
                      <a:r>
                        <a:rPr lang="en-US" sz="1050" b="1" dirty="0" err="1">
                          <a:solidFill>
                            <a:schemeClr val="tx1"/>
                          </a:solidFill>
                        </a:rPr>
                        <a:t>Unemp</a:t>
                      </a:r>
                      <a:r>
                        <a:rPr lang="en-US" sz="1050" b="1" dirty="0">
                          <a:solidFill>
                            <a:schemeClr val="tx1"/>
                          </a:solidFill>
                        </a:rPr>
                        <a:t> % Female</a:t>
                      </a:r>
                      <a:endParaRPr lang="en-US" sz="1050" dirty="0">
                        <a:solidFill>
                          <a:schemeClr val="tx1"/>
                        </a:solidFill>
                        <a:latin typeface="Arial" panose="020B0604020202020204" pitchFamily="34" charset="0"/>
                        <a:ea typeface="Calibri" charset="0"/>
                        <a:cs typeface="Arial" panose="020B0604020202020204" pitchFamily="34" charset="0"/>
                      </a:endParaRPr>
                    </a:p>
                  </a:txBody>
                  <a:tcPr anchor="ctr"/>
                </a:tc>
                <a:tc>
                  <a:txBody>
                    <a:bodyPr/>
                    <a:lstStyle/>
                    <a:p>
                      <a:pPr marL="0" indent="0" algn="ctr">
                        <a:buNone/>
                      </a:pPr>
                      <a:r>
                        <a:rPr lang="en-US" sz="1050" b="1" dirty="0">
                          <a:solidFill>
                            <a:schemeClr val="tx1"/>
                          </a:solidFill>
                        </a:rPr>
                        <a:t>Avg </a:t>
                      </a:r>
                      <a:r>
                        <a:rPr lang="en-US" sz="1050" b="1" dirty="0" err="1">
                          <a:solidFill>
                            <a:schemeClr val="tx1"/>
                          </a:solidFill>
                        </a:rPr>
                        <a:t>Unemp</a:t>
                      </a:r>
                      <a:r>
                        <a:rPr lang="en-US" sz="1050" b="1" dirty="0">
                          <a:solidFill>
                            <a:schemeClr val="tx1"/>
                          </a:solidFill>
                        </a:rPr>
                        <a:t> % male</a:t>
                      </a:r>
                      <a:endParaRPr lang="en-US" sz="1050" dirty="0">
                        <a:solidFill>
                          <a:schemeClr val="tx1"/>
                        </a:solidFill>
                        <a:latin typeface="Arial" panose="020B0604020202020204" pitchFamily="34" charset="0"/>
                        <a:ea typeface="Calibri" charset="0"/>
                        <a:cs typeface="Arial" panose="020B0604020202020204" pitchFamily="34" charset="0"/>
                      </a:endParaRPr>
                    </a:p>
                  </a:txBody>
                  <a:tcPr anchor="ctr"/>
                </a:tc>
                <a:tc>
                  <a:txBody>
                    <a:bodyPr/>
                    <a:lstStyle/>
                    <a:p>
                      <a:pPr marL="0" indent="0" algn="ctr">
                        <a:buNone/>
                      </a:pPr>
                      <a:r>
                        <a:rPr lang="en-US" sz="1050" b="1" dirty="0">
                          <a:solidFill>
                            <a:schemeClr val="tx1"/>
                          </a:solidFill>
                        </a:rPr>
                        <a:t>Gender Gap (pp)</a:t>
                      </a:r>
                      <a:endParaRPr lang="en-US" sz="1050" dirty="0">
                        <a:solidFill>
                          <a:schemeClr val="tx1"/>
                        </a:solidFill>
                        <a:latin typeface="Arial" panose="020B0604020202020204" pitchFamily="34" charset="0"/>
                        <a:ea typeface="Calibri" charset="0"/>
                        <a:cs typeface="Arial" panose="020B0604020202020204" pitchFamily="34" charset="0"/>
                      </a:endParaRPr>
                    </a:p>
                  </a:txBody>
                  <a:tcPr anchor="ctr"/>
                </a:tc>
                <a:extLst>
                  <a:ext uri="{0D108BD9-81ED-4DB2-BD59-A6C34878D82A}">
                    <a16:rowId xmlns:a16="http://schemas.microsoft.com/office/drawing/2014/main" val="10000"/>
                  </a:ext>
                </a:extLst>
              </a:tr>
              <a:tr h="347472">
                <a:tc>
                  <a:txBody>
                    <a:bodyPr/>
                    <a:lstStyle/>
                    <a:p>
                      <a:pPr marL="0" indent="0">
                        <a:buNone/>
                      </a:pPr>
                      <a:r>
                        <a:rPr lang="en-US" sz="900" b="1" dirty="0">
                          <a:solidFill>
                            <a:srgbClr val="162537"/>
                          </a:solidFill>
                        </a:rPr>
                        <a:t>Niger</a:t>
                      </a:r>
                      <a:endParaRPr lang="en-US" sz="900" dirty="0">
                        <a:latin typeface="Calibri" charset="0"/>
                        <a:ea typeface="Calibri" charset="0"/>
                        <a:cs typeface="Calibri" charset="0"/>
                      </a:endParaRPr>
                    </a:p>
                  </a:txBody>
                  <a:tcPr anchor="ctr"/>
                </a:tc>
                <a:tc>
                  <a:txBody>
                    <a:bodyPr/>
                    <a:lstStyle/>
                    <a:p>
                      <a:pPr algn="ctr" fontAlgn="b"/>
                      <a:r>
                        <a:rPr lang="en-US" sz="1100" u="none" strike="noStrike" dirty="0">
                          <a:effectLst/>
                        </a:rPr>
                        <a:t>0.44</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100" u="none" strike="noStrike" dirty="0">
                          <a:effectLst/>
                        </a:rPr>
                        <a:t>0.60</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100" u="none" strike="noStrike">
                          <a:effectLst/>
                        </a:rPr>
                        <a:t>-0.16</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001"/>
                  </a:ext>
                </a:extLst>
              </a:tr>
              <a:tr h="347472">
                <a:tc>
                  <a:txBody>
                    <a:bodyPr/>
                    <a:lstStyle/>
                    <a:p>
                      <a:pPr marL="0" indent="0">
                        <a:buNone/>
                      </a:pPr>
                      <a:r>
                        <a:rPr lang="en-US" sz="900" b="1" dirty="0">
                          <a:solidFill>
                            <a:srgbClr val="162537"/>
                          </a:solidFill>
                        </a:rPr>
                        <a:t>Ghana</a:t>
                      </a:r>
                      <a:endParaRPr lang="en-US" sz="900" dirty="0">
                        <a:latin typeface="Calibri" charset="0"/>
                        <a:ea typeface="Calibri" charset="0"/>
                        <a:cs typeface="Calibri" charset="0"/>
                      </a:endParaRPr>
                    </a:p>
                  </a:txBody>
                  <a:tcPr anchor="ctr"/>
                </a:tc>
                <a:tc>
                  <a:txBody>
                    <a:bodyPr/>
                    <a:lstStyle/>
                    <a:p>
                      <a:pPr algn="ctr" fontAlgn="b"/>
                      <a:r>
                        <a:rPr lang="en-US" sz="1100" u="none" strike="noStrike" dirty="0">
                          <a:effectLst/>
                        </a:rPr>
                        <a:t>6.58</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100" u="none" strike="noStrike" dirty="0">
                          <a:effectLst/>
                        </a:rPr>
                        <a:t>7.01</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100" u="none" strike="noStrike" dirty="0">
                          <a:effectLst/>
                        </a:rPr>
                        <a:t>-0.44</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002"/>
                  </a:ext>
                </a:extLst>
              </a:tr>
              <a:tr h="347472">
                <a:tc>
                  <a:txBody>
                    <a:bodyPr/>
                    <a:lstStyle/>
                    <a:p>
                      <a:pPr marL="0" indent="0">
                        <a:buNone/>
                      </a:pPr>
                      <a:r>
                        <a:rPr lang="en-US" sz="900" b="1" dirty="0">
                          <a:solidFill>
                            <a:srgbClr val="162537"/>
                          </a:solidFill>
                        </a:rPr>
                        <a:t>Guinea</a:t>
                      </a:r>
                      <a:endParaRPr lang="en-US" sz="900" dirty="0">
                        <a:latin typeface="Calibri" charset="0"/>
                        <a:ea typeface="Calibri" charset="0"/>
                        <a:cs typeface="Calibri" charset="0"/>
                      </a:endParaRPr>
                    </a:p>
                  </a:txBody>
                  <a:tcPr anchor="ctr"/>
                </a:tc>
                <a:tc>
                  <a:txBody>
                    <a:bodyPr/>
                    <a:lstStyle/>
                    <a:p>
                      <a:pPr algn="ctr" fontAlgn="b"/>
                      <a:r>
                        <a:rPr lang="en-US" sz="1100" u="none" strike="noStrike" dirty="0">
                          <a:effectLst/>
                        </a:rPr>
                        <a:t>4.71</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100" u="none" strike="noStrike" dirty="0">
                          <a:effectLst/>
                        </a:rPr>
                        <a:t>5.17</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100" u="none" strike="noStrike" dirty="0">
                          <a:effectLst/>
                        </a:rPr>
                        <a:t>-0.46</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003"/>
                  </a:ext>
                </a:extLst>
              </a:tr>
              <a:tr h="347472">
                <a:tc>
                  <a:txBody>
                    <a:bodyPr/>
                    <a:lstStyle/>
                    <a:p>
                      <a:pPr marL="0" indent="0">
                        <a:buNone/>
                      </a:pPr>
                      <a:r>
                        <a:rPr lang="en-US" sz="900" b="1" dirty="0">
                          <a:solidFill>
                            <a:srgbClr val="162537"/>
                          </a:solidFill>
                        </a:rPr>
                        <a:t>Liberia</a:t>
                      </a:r>
                      <a:endParaRPr lang="en-US" sz="900" dirty="0">
                        <a:latin typeface="Calibri" charset="0"/>
                        <a:ea typeface="Calibri" charset="0"/>
                        <a:cs typeface="Calibri" charset="0"/>
                      </a:endParaRPr>
                    </a:p>
                  </a:txBody>
                  <a:tcPr anchor="ctr"/>
                </a:tc>
                <a:tc>
                  <a:txBody>
                    <a:bodyPr/>
                    <a:lstStyle/>
                    <a:p>
                      <a:pPr algn="ctr" fontAlgn="b"/>
                      <a:r>
                        <a:rPr lang="en-US" sz="1100" u="none" strike="noStrike" dirty="0">
                          <a:effectLst/>
                        </a:rPr>
                        <a:t>1.79</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100" u="none" strike="noStrike" dirty="0">
                          <a:effectLst/>
                        </a:rPr>
                        <a:t>2.34</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100" u="none" strike="noStrike" dirty="0">
                          <a:effectLst/>
                        </a:rPr>
                        <a:t>-0.56</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004"/>
                  </a:ext>
                </a:extLst>
              </a:tr>
              <a:tr h="347472">
                <a:tc>
                  <a:txBody>
                    <a:bodyPr/>
                    <a:lstStyle/>
                    <a:p>
                      <a:pPr marL="0" indent="0">
                        <a:buNone/>
                      </a:pPr>
                      <a:r>
                        <a:rPr lang="en-US" sz="900" b="1" dirty="0">
                          <a:solidFill>
                            <a:srgbClr val="162537"/>
                          </a:solidFill>
                        </a:rPr>
                        <a:t>Chad</a:t>
                      </a:r>
                      <a:endParaRPr lang="en-US" sz="900" dirty="0">
                        <a:latin typeface="Calibri" charset="0"/>
                        <a:ea typeface="Calibri" charset="0"/>
                        <a:cs typeface="Calibri" charset="0"/>
                      </a:endParaRPr>
                    </a:p>
                  </a:txBody>
                  <a:tcPr anchor="ctr"/>
                </a:tc>
                <a:tc>
                  <a:txBody>
                    <a:bodyPr/>
                    <a:lstStyle/>
                    <a:p>
                      <a:pPr algn="ctr" fontAlgn="b"/>
                      <a:r>
                        <a:rPr lang="en-US" sz="1100" u="none" strike="noStrike" dirty="0">
                          <a:effectLst/>
                        </a:rPr>
                        <a:t>0.70</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100" u="none" strike="noStrike">
                          <a:effectLst/>
                        </a:rPr>
                        <a:t>1.33</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100" u="none" strike="noStrike" dirty="0">
                          <a:effectLst/>
                        </a:rPr>
                        <a:t>-0.64</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005"/>
                  </a:ext>
                </a:extLst>
              </a:tr>
              <a:tr h="347472">
                <a:tc>
                  <a:txBody>
                    <a:bodyPr/>
                    <a:lstStyle/>
                    <a:p>
                      <a:pPr marL="0" indent="0">
                        <a:buNone/>
                      </a:pPr>
                      <a:r>
                        <a:rPr lang="en-US" sz="900" b="1" dirty="0">
                          <a:solidFill>
                            <a:srgbClr val="162537"/>
                          </a:solidFill>
                        </a:rPr>
                        <a:t>Burundi</a:t>
                      </a:r>
                      <a:endParaRPr lang="en-US" sz="900" b="1" dirty="0">
                        <a:solidFill>
                          <a:srgbClr val="162537"/>
                        </a:solidFill>
                        <a:latin typeface="Calibri" pitchFamily="34" charset="0"/>
                        <a:ea typeface="Calibri" pitchFamily="34" charset="-122"/>
                        <a:cs typeface="Calibri" pitchFamily="34" charset="-120"/>
                      </a:endParaRPr>
                    </a:p>
                  </a:txBody>
                  <a:tcPr anchor="ctr"/>
                </a:tc>
                <a:tc>
                  <a:txBody>
                    <a:bodyPr/>
                    <a:lstStyle/>
                    <a:p>
                      <a:pPr algn="ctr" fontAlgn="b"/>
                      <a:r>
                        <a:rPr lang="en-US" sz="1100" u="none" strike="noStrike" dirty="0">
                          <a:effectLst/>
                        </a:rPr>
                        <a:t>1.19</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100" u="none" strike="noStrike">
                          <a:effectLst/>
                        </a:rPr>
                        <a:t>2.04</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100" u="none" strike="noStrike" dirty="0">
                          <a:effectLst/>
                        </a:rPr>
                        <a:t>-0.86</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006"/>
                  </a:ext>
                </a:extLst>
              </a:tr>
              <a:tr h="347472">
                <a:tc>
                  <a:txBody>
                    <a:bodyPr/>
                    <a:lstStyle/>
                    <a:p>
                      <a:pPr marL="0" indent="0">
                        <a:buNone/>
                      </a:pPr>
                      <a:r>
                        <a:rPr lang="en-US" sz="900" b="1" dirty="0">
                          <a:solidFill>
                            <a:srgbClr val="162537"/>
                          </a:solidFill>
                        </a:rPr>
                        <a:t>Togo</a:t>
                      </a:r>
                      <a:endParaRPr lang="en-US" sz="900" dirty="0">
                        <a:latin typeface="Calibri" charset="0"/>
                        <a:ea typeface="Calibri" charset="0"/>
                        <a:cs typeface="Calibri" charset="0"/>
                      </a:endParaRPr>
                    </a:p>
                  </a:txBody>
                  <a:tcPr anchor="ctr"/>
                </a:tc>
                <a:tc>
                  <a:txBody>
                    <a:bodyPr/>
                    <a:lstStyle/>
                    <a:p>
                      <a:pPr algn="ctr" fontAlgn="b"/>
                      <a:r>
                        <a:rPr lang="en-US" sz="1100" u="none" strike="noStrike" dirty="0">
                          <a:effectLst/>
                        </a:rPr>
                        <a:t>1.68</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100" u="none" strike="noStrike">
                          <a:effectLst/>
                        </a:rPr>
                        <a:t>2.68</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100" u="none" strike="noStrike" dirty="0">
                          <a:effectLst/>
                        </a:rPr>
                        <a:t>-1.00</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007"/>
                  </a:ext>
                </a:extLst>
              </a:tr>
              <a:tr h="347472">
                <a:tc>
                  <a:txBody>
                    <a:bodyPr/>
                    <a:lstStyle/>
                    <a:p>
                      <a:pPr marL="0" indent="0">
                        <a:buNone/>
                      </a:pPr>
                      <a:r>
                        <a:rPr lang="en-US" sz="900" b="1" dirty="0">
                          <a:solidFill>
                            <a:srgbClr val="162537"/>
                          </a:solidFill>
                        </a:rPr>
                        <a:t>Democratic Republic of Congo</a:t>
                      </a:r>
                      <a:endParaRPr lang="en-US" sz="900" dirty="0">
                        <a:latin typeface="Calibri" charset="0"/>
                        <a:ea typeface="Calibri" charset="0"/>
                        <a:cs typeface="Calibri" charset="0"/>
                      </a:endParaRPr>
                    </a:p>
                  </a:txBody>
                  <a:tcPr anchor="ctr"/>
                </a:tc>
                <a:tc>
                  <a:txBody>
                    <a:bodyPr/>
                    <a:lstStyle/>
                    <a:p>
                      <a:pPr algn="ctr" fontAlgn="b"/>
                      <a:r>
                        <a:rPr lang="en-US" sz="1100" u="none" strike="noStrike" dirty="0">
                          <a:effectLst/>
                        </a:rPr>
                        <a:t>3.67</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100" u="none" strike="noStrike">
                          <a:effectLst/>
                        </a:rPr>
                        <a:t>5.19</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100" u="none" strike="noStrike" dirty="0">
                          <a:effectLst/>
                        </a:rPr>
                        <a:t>-1.52</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008"/>
                  </a:ext>
                </a:extLst>
              </a:tr>
              <a:tr h="347472">
                <a:tc>
                  <a:txBody>
                    <a:bodyPr/>
                    <a:lstStyle/>
                    <a:p>
                      <a:pPr marL="0" indent="0">
                        <a:buNone/>
                      </a:pPr>
                      <a:r>
                        <a:rPr lang="en-US" sz="900" b="1" dirty="0">
                          <a:solidFill>
                            <a:srgbClr val="162537"/>
                          </a:solidFill>
                        </a:rPr>
                        <a:t>Sierra Leone</a:t>
                      </a:r>
                      <a:endParaRPr lang="en-US" sz="900" dirty="0">
                        <a:latin typeface="Calibri" charset="0"/>
                        <a:ea typeface="Calibri" charset="0"/>
                        <a:cs typeface="Calibri" charset="0"/>
                      </a:endParaRPr>
                    </a:p>
                  </a:txBody>
                  <a:tcPr anchor="ctr"/>
                </a:tc>
                <a:tc>
                  <a:txBody>
                    <a:bodyPr/>
                    <a:lstStyle/>
                    <a:p>
                      <a:pPr algn="ctr" fontAlgn="b"/>
                      <a:r>
                        <a:rPr lang="en-US" sz="1100" u="none" strike="noStrike" dirty="0">
                          <a:effectLst/>
                        </a:rPr>
                        <a:t>3.91</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100" u="none" strike="noStrike">
                          <a:effectLst/>
                        </a:rPr>
                        <a:t>5.57</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100" u="none" strike="noStrike" dirty="0">
                          <a:effectLst/>
                        </a:rPr>
                        <a:t>-1.66</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009"/>
                  </a:ext>
                </a:extLst>
              </a:tr>
            </a:tbl>
          </a:graphicData>
        </a:graphic>
      </p:graphicFrame>
      <p:sp>
        <p:nvSpPr>
          <p:cNvPr id="17" name="Shape 2">
            <a:extLst>
              <a:ext uri="{FF2B5EF4-FFF2-40B4-BE49-F238E27FC236}">
                <a16:creationId xmlns:a16="http://schemas.microsoft.com/office/drawing/2014/main" id="{A78901CF-3144-48F6-8B51-8919F025373E}"/>
              </a:ext>
            </a:extLst>
          </p:cNvPr>
          <p:cNvSpPr/>
          <p:nvPr/>
        </p:nvSpPr>
        <p:spPr>
          <a:xfrm>
            <a:off x="6720840" y="4709160"/>
            <a:ext cx="4983480" cy="1481328"/>
          </a:xfrm>
          <a:prstGeom prst="roundRect">
            <a:avLst>
              <a:gd name="adj" fmla="val 4938"/>
            </a:avLst>
          </a:prstGeom>
          <a:solidFill>
            <a:srgbClr val="0A2240"/>
          </a:solidFill>
          <a:ln w="9525">
            <a:solidFill>
              <a:srgbClr val="1D4A70"/>
            </a:solidFill>
            <a:prstDash val="solid"/>
          </a:ln>
        </p:spPr>
      </p:sp>
      <p:sp>
        <p:nvSpPr>
          <p:cNvPr id="19" name="Text 4">
            <a:extLst>
              <a:ext uri="{FF2B5EF4-FFF2-40B4-BE49-F238E27FC236}">
                <a16:creationId xmlns:a16="http://schemas.microsoft.com/office/drawing/2014/main" id="{389BF741-CDD2-4C32-9CF0-1FE2A5C88905}"/>
              </a:ext>
            </a:extLst>
          </p:cNvPr>
          <p:cNvSpPr/>
          <p:nvPr/>
        </p:nvSpPr>
        <p:spPr>
          <a:xfrm>
            <a:off x="6858000" y="5102352"/>
            <a:ext cx="4709160" cy="530352"/>
          </a:xfrm>
          <a:prstGeom prst="rect">
            <a:avLst/>
          </a:prstGeom>
          <a:noFill/>
          <a:ln/>
        </p:spPr>
        <p:txBody>
          <a:bodyPr wrap="square" lIns="0" tIns="0" rIns="0" bIns="0" rtlCol="0" anchor="ctr"/>
          <a:lstStyle/>
          <a:p>
            <a:pPr marL="0" indent="0">
              <a:buNone/>
            </a:pPr>
            <a:r>
              <a:rPr lang="en-US" sz="1000" dirty="0">
                <a:solidFill>
                  <a:srgbClr val="AACCDF"/>
                </a:solidFill>
                <a:latin typeface="Calibri" pitchFamily="34" charset="0"/>
                <a:ea typeface="Calibri" pitchFamily="34" charset="-122"/>
                <a:cs typeface="Calibri" pitchFamily="34" charset="-120"/>
              </a:rPr>
              <a:t>Niger · Ghana · Guinea · Liberia · Chad · Burundi · Togo · DR Congo · Sierra Leone</a:t>
            </a:r>
            <a:endParaRPr lang="en-US" sz="1000" dirty="0"/>
          </a:p>
        </p:txBody>
      </p:sp>
      <p:sp>
        <p:nvSpPr>
          <p:cNvPr id="20" name="Text 3">
            <a:extLst>
              <a:ext uri="{FF2B5EF4-FFF2-40B4-BE49-F238E27FC236}">
                <a16:creationId xmlns:a16="http://schemas.microsoft.com/office/drawing/2014/main" id="{4C69642B-2324-4D2A-9B01-752E393C2F85}"/>
              </a:ext>
            </a:extLst>
          </p:cNvPr>
          <p:cNvSpPr/>
          <p:nvPr/>
        </p:nvSpPr>
        <p:spPr>
          <a:xfrm>
            <a:off x="6858000" y="4852416"/>
            <a:ext cx="4709160" cy="292608"/>
          </a:xfrm>
          <a:prstGeom prst="rect">
            <a:avLst/>
          </a:prstGeom>
          <a:noFill/>
          <a:ln/>
        </p:spPr>
        <p:txBody>
          <a:bodyPr wrap="square" lIns="0" tIns="0" rIns="0" bIns="0" rtlCol="0" anchor="ctr"/>
          <a:lstStyle/>
          <a:p>
            <a:pPr marL="0" indent="0">
              <a:buNone/>
            </a:pPr>
            <a:r>
              <a:rPr lang="en-US" sz="1050" b="1" dirty="0">
                <a:solidFill>
                  <a:srgbClr val="D4782A"/>
                </a:solidFill>
                <a:latin typeface="Calibri" pitchFamily="34" charset="0"/>
                <a:ea typeface="Calibri" pitchFamily="34" charset="-122"/>
                <a:cs typeface="Calibri" pitchFamily="34" charset="-120"/>
              </a:rPr>
              <a:t>9 Countries with Reversed Gap — men more unemployed than women</a:t>
            </a:r>
            <a:endParaRPr lang="en-US" sz="1050" dirty="0"/>
          </a:p>
        </p:txBody>
      </p:sp>
      <p:sp>
        <p:nvSpPr>
          <p:cNvPr id="21" name="Text 5">
            <a:extLst>
              <a:ext uri="{FF2B5EF4-FFF2-40B4-BE49-F238E27FC236}">
                <a16:creationId xmlns:a16="http://schemas.microsoft.com/office/drawing/2014/main" id="{BF17AFB8-656C-45B6-8ABE-94AC0074C758}"/>
              </a:ext>
            </a:extLst>
          </p:cNvPr>
          <p:cNvSpPr/>
          <p:nvPr/>
        </p:nvSpPr>
        <p:spPr>
          <a:xfrm>
            <a:off x="6858000" y="5650992"/>
            <a:ext cx="4709160" cy="438912"/>
          </a:xfrm>
          <a:prstGeom prst="rect">
            <a:avLst/>
          </a:prstGeom>
          <a:noFill/>
          <a:ln/>
        </p:spPr>
        <p:txBody>
          <a:bodyPr wrap="square" lIns="0" tIns="0" rIns="0" bIns="0" rtlCol="0" anchor="ctr"/>
          <a:lstStyle/>
          <a:p>
            <a:pPr marL="0" indent="0">
              <a:buNone/>
            </a:pPr>
            <a:r>
              <a:rPr lang="en-US" sz="950" i="1" dirty="0">
                <a:solidFill>
                  <a:srgbClr val="7AACCA"/>
                </a:solidFill>
                <a:latin typeface="Calibri" pitchFamily="34" charset="0"/>
                <a:ea typeface="Calibri" pitchFamily="34" charset="-122"/>
                <a:cs typeface="Calibri" pitchFamily="34" charset="-120"/>
              </a:rPr>
              <a:t>Likely reflects female participation in informal/agricultural labour invisible to ILO formal measurement</a:t>
            </a:r>
            <a:endParaRPr lang="en-US" sz="950" dirty="0"/>
          </a:p>
        </p:txBody>
      </p:sp>
    </p:spTree>
    <p:extLst>
      <p:ext uri="{BB962C8B-B14F-4D97-AF65-F5344CB8AC3E}">
        <p14:creationId xmlns:p14="http://schemas.microsoft.com/office/powerpoint/2010/main" val="3083535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ACBD9CF-165D-4154-8FE1-87DE7B1A1450}"/>
              </a:ext>
            </a:extLst>
          </p:cNvPr>
          <p:cNvPicPr>
            <a:picLocks noChangeAspect="1"/>
          </p:cNvPicPr>
          <p:nvPr/>
        </p:nvPicPr>
        <p:blipFill>
          <a:blip r:embed="rId3"/>
          <a:stretch>
            <a:fillRect/>
          </a:stretch>
        </p:blipFill>
        <p:spPr>
          <a:xfrm>
            <a:off x="255639" y="570271"/>
            <a:ext cx="11513574" cy="5928851"/>
          </a:xfrm>
          <a:prstGeom prst="rect">
            <a:avLst/>
          </a:prstGeom>
        </p:spPr>
      </p:pic>
      <p:sp>
        <p:nvSpPr>
          <p:cNvPr id="11" name="Text 0">
            <a:extLst>
              <a:ext uri="{FF2B5EF4-FFF2-40B4-BE49-F238E27FC236}">
                <a16:creationId xmlns:a16="http://schemas.microsoft.com/office/drawing/2014/main" id="{F3BE0242-062C-4686-98A2-4B1D1F4BACEA}"/>
              </a:ext>
            </a:extLst>
          </p:cNvPr>
          <p:cNvSpPr/>
          <p:nvPr/>
        </p:nvSpPr>
        <p:spPr>
          <a:xfrm>
            <a:off x="255639" y="61698"/>
            <a:ext cx="11247120" cy="594360"/>
          </a:xfrm>
          <a:prstGeom prst="rect">
            <a:avLst/>
          </a:prstGeom>
          <a:noFill/>
          <a:ln/>
        </p:spPr>
        <p:txBody>
          <a:bodyPr wrap="square" rtlCol="0" anchor="ctr"/>
          <a:lstStyle/>
          <a:p>
            <a:pPr marL="0" indent="0">
              <a:buNone/>
            </a:pPr>
            <a:r>
              <a:rPr lang="en-US" sz="2000" b="1" dirty="0">
                <a:latin typeface="Cambria" pitchFamily="34" charset="0"/>
                <a:ea typeface="Cambria" pitchFamily="34" charset="-122"/>
                <a:cs typeface="Cambria" pitchFamily="34" charset="-120"/>
              </a:rPr>
              <a:t>EXCEL DASHBOARD</a:t>
            </a:r>
            <a:endParaRPr lang="en-US" sz="2000" dirty="0"/>
          </a:p>
        </p:txBody>
      </p:sp>
    </p:spTree>
    <p:extLst>
      <p:ext uri="{BB962C8B-B14F-4D97-AF65-F5344CB8AC3E}">
        <p14:creationId xmlns:p14="http://schemas.microsoft.com/office/powerpoint/2010/main" val="19078617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chemeClr val="bg1">
            <a:lumMod val="95000"/>
          </a:schemeClr>
        </a:solidFill>
        <a:effectLst/>
      </p:bgPr>
    </p:bg>
    <p:spTree>
      <p:nvGrpSpPr>
        <p:cNvPr id="1" name=""/>
        <p:cNvGrpSpPr/>
        <p:nvPr/>
      </p:nvGrpSpPr>
      <p:grpSpPr>
        <a:xfrm>
          <a:off x="0" y="0"/>
          <a:ext cx="0" cy="0"/>
          <a:chOff x="0" y="0"/>
          <a:chExt cx="0" cy="0"/>
        </a:xfrm>
      </p:grpSpPr>
      <p:sp>
        <p:nvSpPr>
          <p:cNvPr id="2" name="Text 0"/>
          <p:cNvSpPr/>
          <p:nvPr/>
        </p:nvSpPr>
        <p:spPr>
          <a:xfrm>
            <a:off x="472440" y="289707"/>
            <a:ext cx="11247120" cy="594360"/>
          </a:xfrm>
          <a:prstGeom prst="rect">
            <a:avLst/>
          </a:prstGeom>
          <a:noFill/>
          <a:ln/>
        </p:spPr>
        <p:txBody>
          <a:bodyPr wrap="square" rtlCol="0" anchor="ctr"/>
          <a:lstStyle/>
          <a:p>
            <a:pPr marL="0" indent="0">
              <a:buNone/>
            </a:pPr>
            <a:r>
              <a:rPr lang="en-US" sz="2000" b="1" dirty="0">
                <a:latin typeface="Cambria" pitchFamily="34" charset="0"/>
                <a:ea typeface="Cambria" pitchFamily="34" charset="-122"/>
                <a:cs typeface="Cambria" pitchFamily="34" charset="-120"/>
              </a:rPr>
              <a:t>Key Insights</a:t>
            </a:r>
            <a:endParaRPr lang="en-US" sz="2000" dirty="0"/>
          </a:p>
        </p:txBody>
      </p:sp>
      <p:sp>
        <p:nvSpPr>
          <p:cNvPr id="3" name="Text 1"/>
          <p:cNvSpPr/>
          <p:nvPr/>
        </p:nvSpPr>
        <p:spPr>
          <a:xfrm>
            <a:off x="457200" y="850392"/>
            <a:ext cx="11247120" cy="274320"/>
          </a:xfrm>
          <a:prstGeom prst="rect">
            <a:avLst/>
          </a:prstGeom>
          <a:noFill/>
          <a:ln/>
        </p:spPr>
        <p:txBody>
          <a:bodyPr wrap="square" rtlCol="0" anchor="ctr"/>
          <a:lstStyle/>
          <a:p>
            <a:pPr marL="0" indent="0">
              <a:buNone/>
            </a:pPr>
            <a:r>
              <a:rPr lang="en-US" sz="1400" dirty="0">
                <a:latin typeface="Calibri" pitchFamily="34" charset="0"/>
                <a:ea typeface="Calibri" pitchFamily="34" charset="-122"/>
                <a:cs typeface="Calibri" pitchFamily="34" charset="-120"/>
              </a:rPr>
              <a:t>Six evidence-grounded findings from the Africa 2015 analysis</a:t>
            </a:r>
            <a:endParaRPr lang="en-US" sz="1400" dirty="0"/>
          </a:p>
        </p:txBody>
      </p:sp>
      <p:sp>
        <p:nvSpPr>
          <p:cNvPr id="4" name="Shape 2"/>
          <p:cNvSpPr/>
          <p:nvPr/>
        </p:nvSpPr>
        <p:spPr>
          <a:xfrm>
            <a:off x="457200" y="1298448"/>
            <a:ext cx="5486400" cy="1554480"/>
          </a:xfrm>
          <a:prstGeom prst="roundRect">
            <a:avLst>
              <a:gd name="adj" fmla="val 4706"/>
            </a:avLst>
          </a:prstGeom>
          <a:solidFill>
            <a:schemeClr val="bg1">
              <a:lumMod val="85000"/>
            </a:schemeClr>
          </a:solidFill>
          <a:ln w="9525">
            <a:solidFill>
              <a:srgbClr val="1D4A70"/>
            </a:solidFill>
            <a:prstDash val="solid"/>
          </a:ln>
        </p:spPr>
      </p:sp>
      <p:sp>
        <p:nvSpPr>
          <p:cNvPr id="5" name="Shape 3"/>
          <p:cNvSpPr/>
          <p:nvPr/>
        </p:nvSpPr>
        <p:spPr>
          <a:xfrm>
            <a:off x="621792" y="1847088"/>
            <a:ext cx="475488" cy="475488"/>
          </a:xfrm>
          <a:prstGeom prst="ellipse">
            <a:avLst/>
          </a:prstGeom>
          <a:solidFill>
            <a:srgbClr val="C0392B"/>
          </a:solidFill>
          <a:ln w="12700">
            <a:solidFill>
              <a:srgbClr val="C0392B"/>
            </a:solidFill>
            <a:prstDash val="solid"/>
          </a:ln>
        </p:spPr>
      </p:sp>
      <p:sp>
        <p:nvSpPr>
          <p:cNvPr id="6" name="Text 4"/>
          <p:cNvSpPr/>
          <p:nvPr/>
        </p:nvSpPr>
        <p:spPr>
          <a:xfrm>
            <a:off x="621792" y="1929384"/>
            <a:ext cx="475488"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7" name="Text 5"/>
          <p:cNvSpPr/>
          <p:nvPr/>
        </p:nvSpPr>
        <p:spPr>
          <a:xfrm>
            <a:off x="1234440" y="1463040"/>
            <a:ext cx="4526280" cy="1225296"/>
          </a:xfrm>
          <a:prstGeom prst="rect">
            <a:avLst/>
          </a:prstGeom>
          <a:noFill/>
          <a:ln/>
        </p:spPr>
        <p:txBody>
          <a:bodyPr wrap="square" lIns="0" tIns="0" rIns="0" bIns="0" rtlCol="0" anchor="ctr"/>
          <a:lstStyle/>
          <a:p>
            <a:pPr marL="0" indent="0">
              <a:buNone/>
            </a:pPr>
            <a:r>
              <a:rPr lang="en-US" sz="1400" dirty="0">
                <a:solidFill>
                  <a:srgbClr val="002060"/>
                </a:solidFill>
                <a:latin typeface="Calibri" pitchFamily="34" charset="0"/>
                <a:ea typeface="Calibri" pitchFamily="34" charset="-122"/>
                <a:cs typeface="Calibri" pitchFamily="34" charset="-120"/>
              </a:rPr>
              <a:t>Women bear a 3pp higher unemployment burden (11.2% female vs 8.2% male) across all 53 African countries in 2015.</a:t>
            </a:r>
            <a:endParaRPr lang="en-US" sz="1400" dirty="0">
              <a:solidFill>
                <a:srgbClr val="002060"/>
              </a:solidFill>
            </a:endParaRPr>
          </a:p>
        </p:txBody>
      </p:sp>
      <p:sp>
        <p:nvSpPr>
          <p:cNvPr id="8" name="Shape 6"/>
          <p:cNvSpPr/>
          <p:nvPr/>
        </p:nvSpPr>
        <p:spPr>
          <a:xfrm>
            <a:off x="457200" y="2980944"/>
            <a:ext cx="5486400" cy="1554480"/>
          </a:xfrm>
          <a:prstGeom prst="roundRect">
            <a:avLst>
              <a:gd name="adj" fmla="val 4706"/>
            </a:avLst>
          </a:prstGeom>
          <a:solidFill>
            <a:schemeClr val="bg1">
              <a:lumMod val="85000"/>
            </a:schemeClr>
          </a:solidFill>
          <a:ln w="9525">
            <a:solidFill>
              <a:srgbClr val="1D4A70"/>
            </a:solidFill>
            <a:prstDash val="solid"/>
          </a:ln>
        </p:spPr>
      </p:sp>
      <p:sp>
        <p:nvSpPr>
          <p:cNvPr id="9" name="Shape 7"/>
          <p:cNvSpPr/>
          <p:nvPr/>
        </p:nvSpPr>
        <p:spPr>
          <a:xfrm>
            <a:off x="621792" y="3529584"/>
            <a:ext cx="475488" cy="475488"/>
          </a:xfrm>
          <a:prstGeom prst="ellipse">
            <a:avLst/>
          </a:prstGeom>
          <a:solidFill>
            <a:srgbClr val="B52B2B"/>
          </a:solidFill>
          <a:ln w="12700">
            <a:solidFill>
              <a:srgbClr val="B52B2B"/>
            </a:solidFill>
            <a:prstDash val="solid"/>
          </a:ln>
        </p:spPr>
      </p:sp>
      <p:sp>
        <p:nvSpPr>
          <p:cNvPr id="10" name="Text 8"/>
          <p:cNvSpPr/>
          <p:nvPr/>
        </p:nvSpPr>
        <p:spPr>
          <a:xfrm>
            <a:off x="621792" y="3611880"/>
            <a:ext cx="475488"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1" name="Text 9"/>
          <p:cNvSpPr/>
          <p:nvPr/>
        </p:nvSpPr>
        <p:spPr>
          <a:xfrm>
            <a:off x="1234440" y="3145536"/>
            <a:ext cx="4526280" cy="1225296"/>
          </a:xfrm>
          <a:prstGeom prst="rect">
            <a:avLst/>
          </a:prstGeom>
          <a:noFill/>
          <a:ln/>
        </p:spPr>
        <p:txBody>
          <a:bodyPr wrap="square" lIns="0" tIns="0" rIns="0" bIns="0" rtlCol="0" anchor="ctr"/>
          <a:lstStyle/>
          <a:p>
            <a:pPr marL="0" indent="0">
              <a:buNone/>
            </a:pPr>
            <a:r>
              <a:rPr lang="en-US" sz="1400" dirty="0">
                <a:solidFill>
                  <a:srgbClr val="002060"/>
                </a:solidFill>
                <a:latin typeface="Calibri" pitchFamily="34" charset="0"/>
                <a:ea typeface="Calibri" pitchFamily="34" charset="-122"/>
                <a:cs typeface="Calibri" pitchFamily="34" charset="-120"/>
              </a:rPr>
              <a:t>Djibouti's average unemployment of 29.7% is 3× the continental baseline  female at 36.6%, male at 22.8% - a structural crisis.</a:t>
            </a:r>
            <a:endParaRPr lang="en-US" sz="1400" dirty="0">
              <a:solidFill>
                <a:srgbClr val="002060"/>
              </a:solidFill>
            </a:endParaRPr>
          </a:p>
        </p:txBody>
      </p:sp>
      <p:sp>
        <p:nvSpPr>
          <p:cNvPr id="12" name="Shape 10"/>
          <p:cNvSpPr/>
          <p:nvPr/>
        </p:nvSpPr>
        <p:spPr>
          <a:xfrm>
            <a:off x="457200" y="4663440"/>
            <a:ext cx="5486400" cy="1554480"/>
          </a:xfrm>
          <a:prstGeom prst="roundRect">
            <a:avLst>
              <a:gd name="adj" fmla="val 4706"/>
            </a:avLst>
          </a:prstGeom>
          <a:solidFill>
            <a:schemeClr val="bg1">
              <a:lumMod val="85000"/>
            </a:schemeClr>
          </a:solidFill>
          <a:ln w="9525">
            <a:solidFill>
              <a:srgbClr val="1D4A70"/>
            </a:solidFill>
            <a:prstDash val="solid"/>
          </a:ln>
        </p:spPr>
      </p:sp>
      <p:sp>
        <p:nvSpPr>
          <p:cNvPr id="13" name="Shape 11"/>
          <p:cNvSpPr/>
          <p:nvPr/>
        </p:nvSpPr>
        <p:spPr>
          <a:xfrm>
            <a:off x="621792" y="5212080"/>
            <a:ext cx="475488" cy="475488"/>
          </a:xfrm>
          <a:prstGeom prst="ellipse">
            <a:avLst/>
          </a:prstGeom>
          <a:solidFill>
            <a:srgbClr val="C0392B"/>
          </a:solidFill>
          <a:ln w="12700">
            <a:solidFill>
              <a:srgbClr val="C0392B"/>
            </a:solidFill>
            <a:prstDash val="solid"/>
          </a:ln>
        </p:spPr>
      </p:sp>
      <p:sp>
        <p:nvSpPr>
          <p:cNvPr id="14" name="Text 12"/>
          <p:cNvSpPr/>
          <p:nvPr/>
        </p:nvSpPr>
        <p:spPr>
          <a:xfrm>
            <a:off x="621792" y="5294376"/>
            <a:ext cx="475488"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5" name="Text 13"/>
          <p:cNvSpPr/>
          <p:nvPr/>
        </p:nvSpPr>
        <p:spPr>
          <a:xfrm>
            <a:off x="1234440" y="4828032"/>
            <a:ext cx="4526280" cy="1225296"/>
          </a:xfrm>
          <a:prstGeom prst="rect">
            <a:avLst/>
          </a:prstGeom>
          <a:noFill/>
          <a:ln/>
        </p:spPr>
        <p:txBody>
          <a:bodyPr wrap="square" lIns="0" tIns="0" rIns="0" bIns="0" rtlCol="0" anchor="ctr"/>
          <a:lstStyle/>
          <a:p>
            <a:pPr marL="0" indent="0">
              <a:buNone/>
            </a:pPr>
            <a:r>
              <a:rPr lang="en-US" sz="1400" dirty="0">
                <a:solidFill>
                  <a:srgbClr val="002060"/>
                </a:solidFill>
                <a:latin typeface="Calibri" pitchFamily="34" charset="0"/>
                <a:ea typeface="Calibri" pitchFamily="34" charset="-122"/>
                <a:cs typeface="Calibri" pitchFamily="34" charset="-120"/>
              </a:rPr>
              <a:t>Sudan's gender gap of 16.7pp is Africa's widest. Egypt follows at 15.3pp, pointing to severe female formal employment barriers in Northern Africa.</a:t>
            </a:r>
            <a:endParaRPr lang="en-US" sz="1400" dirty="0">
              <a:solidFill>
                <a:srgbClr val="002060"/>
              </a:solidFill>
            </a:endParaRPr>
          </a:p>
        </p:txBody>
      </p:sp>
      <p:sp>
        <p:nvSpPr>
          <p:cNvPr id="16" name="Shape 14"/>
          <p:cNvSpPr/>
          <p:nvPr/>
        </p:nvSpPr>
        <p:spPr>
          <a:xfrm>
            <a:off x="6217920" y="1298448"/>
            <a:ext cx="5486400" cy="1554480"/>
          </a:xfrm>
          <a:prstGeom prst="roundRect">
            <a:avLst>
              <a:gd name="adj" fmla="val 4706"/>
            </a:avLst>
          </a:prstGeom>
          <a:solidFill>
            <a:schemeClr val="bg1">
              <a:lumMod val="85000"/>
            </a:schemeClr>
          </a:solidFill>
          <a:ln w="9525">
            <a:solidFill>
              <a:srgbClr val="1D4A70"/>
            </a:solidFill>
            <a:prstDash val="solid"/>
          </a:ln>
        </p:spPr>
      </p:sp>
      <p:sp>
        <p:nvSpPr>
          <p:cNvPr id="17" name="Shape 15"/>
          <p:cNvSpPr/>
          <p:nvPr/>
        </p:nvSpPr>
        <p:spPr>
          <a:xfrm>
            <a:off x="6382512" y="1847088"/>
            <a:ext cx="475488" cy="475488"/>
          </a:xfrm>
          <a:prstGeom prst="ellipse">
            <a:avLst/>
          </a:prstGeom>
          <a:solidFill>
            <a:srgbClr val="D4782A"/>
          </a:solidFill>
          <a:ln w="12700">
            <a:solidFill>
              <a:srgbClr val="D4782A"/>
            </a:solidFill>
            <a:prstDash val="solid"/>
          </a:ln>
        </p:spPr>
      </p:sp>
      <p:sp>
        <p:nvSpPr>
          <p:cNvPr id="18" name="Text 16"/>
          <p:cNvSpPr/>
          <p:nvPr/>
        </p:nvSpPr>
        <p:spPr>
          <a:xfrm>
            <a:off x="6382512" y="1929384"/>
            <a:ext cx="475488"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19" name="Text 17"/>
          <p:cNvSpPr/>
          <p:nvPr/>
        </p:nvSpPr>
        <p:spPr>
          <a:xfrm>
            <a:off x="6995160" y="1463040"/>
            <a:ext cx="4526280" cy="1225296"/>
          </a:xfrm>
          <a:prstGeom prst="rect">
            <a:avLst/>
          </a:prstGeom>
          <a:noFill/>
          <a:ln/>
        </p:spPr>
        <p:txBody>
          <a:bodyPr wrap="square" lIns="0" tIns="0" rIns="0" bIns="0" rtlCol="0" anchor="ctr"/>
          <a:lstStyle/>
          <a:p>
            <a:pPr marL="0" indent="0">
              <a:buNone/>
            </a:pPr>
            <a:r>
              <a:rPr lang="en-US" sz="1400" dirty="0">
                <a:solidFill>
                  <a:srgbClr val="1A366E"/>
                </a:solidFill>
                <a:latin typeface="Calibri" pitchFamily="34" charset="0"/>
                <a:ea typeface="Calibri" pitchFamily="34" charset="-122"/>
                <a:cs typeface="Calibri" pitchFamily="34" charset="-120"/>
              </a:rPr>
              <a:t>Northern</a:t>
            </a:r>
            <a:r>
              <a:rPr lang="en-US" sz="1400" dirty="0">
                <a:solidFill>
                  <a:srgbClr val="002060"/>
                </a:solidFill>
                <a:latin typeface="Calibri" pitchFamily="34" charset="0"/>
                <a:ea typeface="Calibri" pitchFamily="34" charset="-122"/>
                <a:cs typeface="Calibri" pitchFamily="34" charset="-120"/>
              </a:rPr>
              <a:t> Africa female unemployment (21.4%) is more than 2× Sub-Saharan Africa (9.9%) - despite stronger youth strategy frameworks in the North</a:t>
            </a:r>
            <a:r>
              <a:rPr lang="en-US" sz="1400" dirty="0">
                <a:solidFill>
                  <a:srgbClr val="AACCDF"/>
                </a:solidFill>
                <a:latin typeface="Calibri" pitchFamily="34" charset="0"/>
                <a:ea typeface="Calibri" pitchFamily="34" charset="-122"/>
                <a:cs typeface="Calibri" pitchFamily="34" charset="-120"/>
              </a:rPr>
              <a:t>.</a:t>
            </a:r>
            <a:endParaRPr lang="en-US" sz="1400" dirty="0"/>
          </a:p>
        </p:txBody>
      </p:sp>
      <p:sp>
        <p:nvSpPr>
          <p:cNvPr id="20" name="Shape 18"/>
          <p:cNvSpPr/>
          <p:nvPr/>
        </p:nvSpPr>
        <p:spPr>
          <a:xfrm>
            <a:off x="6217920" y="2980944"/>
            <a:ext cx="5486400" cy="1554480"/>
          </a:xfrm>
          <a:prstGeom prst="roundRect">
            <a:avLst>
              <a:gd name="adj" fmla="val 4706"/>
            </a:avLst>
          </a:prstGeom>
          <a:solidFill>
            <a:schemeClr val="bg1">
              <a:lumMod val="85000"/>
            </a:schemeClr>
          </a:solidFill>
          <a:ln w="9525">
            <a:solidFill>
              <a:srgbClr val="1D4A70"/>
            </a:solidFill>
            <a:prstDash val="solid"/>
          </a:ln>
        </p:spPr>
      </p:sp>
      <p:sp>
        <p:nvSpPr>
          <p:cNvPr id="21" name="Shape 19"/>
          <p:cNvSpPr/>
          <p:nvPr/>
        </p:nvSpPr>
        <p:spPr>
          <a:xfrm>
            <a:off x="6382512" y="3529584"/>
            <a:ext cx="475488" cy="475488"/>
          </a:xfrm>
          <a:prstGeom prst="ellipse">
            <a:avLst/>
          </a:prstGeom>
          <a:solidFill>
            <a:srgbClr val="1A7A50"/>
          </a:solidFill>
          <a:ln w="12700">
            <a:solidFill>
              <a:srgbClr val="1A7A50"/>
            </a:solidFill>
            <a:prstDash val="solid"/>
          </a:ln>
        </p:spPr>
      </p:sp>
      <p:sp>
        <p:nvSpPr>
          <p:cNvPr id="22" name="Text 20"/>
          <p:cNvSpPr/>
          <p:nvPr/>
        </p:nvSpPr>
        <p:spPr>
          <a:xfrm>
            <a:off x="6382512" y="3611880"/>
            <a:ext cx="475488"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5</a:t>
            </a:r>
            <a:endParaRPr lang="en-US" sz="1200" dirty="0"/>
          </a:p>
        </p:txBody>
      </p:sp>
      <p:sp>
        <p:nvSpPr>
          <p:cNvPr id="23" name="Text 21"/>
          <p:cNvSpPr/>
          <p:nvPr/>
        </p:nvSpPr>
        <p:spPr>
          <a:xfrm>
            <a:off x="6995160" y="3145536"/>
            <a:ext cx="4526280" cy="1225296"/>
          </a:xfrm>
          <a:prstGeom prst="rect">
            <a:avLst/>
          </a:prstGeom>
          <a:noFill/>
          <a:ln/>
        </p:spPr>
        <p:txBody>
          <a:bodyPr wrap="square" lIns="0" tIns="0" rIns="0" bIns="0" rtlCol="0" anchor="ctr"/>
          <a:lstStyle/>
          <a:p>
            <a:pPr rtl="0"/>
            <a:r>
              <a:rPr lang="en-US" sz="1400" b="0" i="0" u="none" strike="noStrike" kern="1200" baseline="0" dirty="0">
                <a:solidFill>
                  <a:srgbClr val="1A366E"/>
                </a:solidFill>
                <a:latin typeface="Calibri" panose="020F0502020204030204" pitchFamily="34" charset="0"/>
              </a:rPr>
              <a:t>The effectiveness of education investment may depend on factors beyond spending levels - such as education quality, skills alignment, economic structure and the availability of jobs cause the relationship on the chart poses a weak evidence.</a:t>
            </a:r>
          </a:p>
        </p:txBody>
      </p:sp>
      <p:sp>
        <p:nvSpPr>
          <p:cNvPr id="24" name="Shape 22"/>
          <p:cNvSpPr/>
          <p:nvPr/>
        </p:nvSpPr>
        <p:spPr>
          <a:xfrm>
            <a:off x="6217920" y="4663440"/>
            <a:ext cx="5486400" cy="1554480"/>
          </a:xfrm>
          <a:prstGeom prst="roundRect">
            <a:avLst>
              <a:gd name="adj" fmla="val 4706"/>
            </a:avLst>
          </a:prstGeom>
          <a:solidFill>
            <a:schemeClr val="bg1">
              <a:lumMod val="85000"/>
            </a:schemeClr>
          </a:solidFill>
          <a:ln w="9525">
            <a:solidFill>
              <a:srgbClr val="1D4A70"/>
            </a:solidFill>
            <a:prstDash val="solid"/>
          </a:ln>
        </p:spPr>
      </p:sp>
      <p:sp>
        <p:nvSpPr>
          <p:cNvPr id="25" name="Shape 23"/>
          <p:cNvSpPr/>
          <p:nvPr/>
        </p:nvSpPr>
        <p:spPr>
          <a:xfrm>
            <a:off x="6382512" y="5212080"/>
            <a:ext cx="475488" cy="475488"/>
          </a:xfrm>
          <a:prstGeom prst="ellipse">
            <a:avLst/>
          </a:prstGeom>
          <a:solidFill>
            <a:srgbClr val="1A8FBF"/>
          </a:solidFill>
          <a:ln w="12700">
            <a:solidFill>
              <a:srgbClr val="1A8FBF"/>
            </a:solidFill>
            <a:prstDash val="solid"/>
          </a:ln>
        </p:spPr>
      </p:sp>
      <p:sp>
        <p:nvSpPr>
          <p:cNvPr id="26" name="Text 24"/>
          <p:cNvSpPr/>
          <p:nvPr/>
        </p:nvSpPr>
        <p:spPr>
          <a:xfrm>
            <a:off x="6382512" y="5294376"/>
            <a:ext cx="475488"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6</a:t>
            </a:r>
            <a:endParaRPr lang="en-US" sz="1200" dirty="0"/>
          </a:p>
        </p:txBody>
      </p:sp>
      <p:sp>
        <p:nvSpPr>
          <p:cNvPr id="27" name="Text 25"/>
          <p:cNvSpPr/>
          <p:nvPr/>
        </p:nvSpPr>
        <p:spPr>
          <a:xfrm>
            <a:off x="6995160" y="4828032"/>
            <a:ext cx="4526280" cy="1225296"/>
          </a:xfrm>
          <a:prstGeom prst="rect">
            <a:avLst/>
          </a:prstGeom>
          <a:noFill/>
          <a:ln/>
        </p:spPr>
        <p:txBody>
          <a:bodyPr wrap="square" lIns="0" tIns="0" rIns="0" bIns="0" rtlCol="0" anchor="ctr"/>
          <a:lstStyle/>
          <a:p>
            <a:pPr marL="0" indent="0">
              <a:buNone/>
            </a:pPr>
            <a:r>
              <a:rPr lang="en-US" sz="1400" dirty="0">
                <a:solidFill>
                  <a:srgbClr val="002060"/>
                </a:solidFill>
                <a:latin typeface="Calibri" pitchFamily="34" charset="0"/>
                <a:ea typeface="Calibri" pitchFamily="34" charset="-122"/>
                <a:cs typeface="Calibri" pitchFamily="34" charset="-120"/>
              </a:rPr>
              <a:t>Electricity access shows counterintuitive, high-access countries have larger formal economies where unemployment is formally measured and captured</a:t>
            </a:r>
            <a:r>
              <a:rPr lang="en-US" sz="1400" dirty="0">
                <a:solidFill>
                  <a:srgbClr val="AACCDF"/>
                </a:solidFill>
                <a:latin typeface="Calibri" pitchFamily="34" charset="0"/>
                <a:ea typeface="Calibri" pitchFamily="34" charset="-122"/>
                <a:cs typeface="Calibri" pitchFamily="34" charset="-120"/>
              </a:rPr>
              <a:t>.</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72440" y="233172"/>
            <a:ext cx="11247120" cy="594360"/>
          </a:xfrm>
          <a:prstGeom prst="rect">
            <a:avLst/>
          </a:prstGeom>
          <a:noFill/>
          <a:ln/>
        </p:spPr>
        <p:txBody>
          <a:bodyPr wrap="square" rtlCol="0" anchor="ctr"/>
          <a:lstStyle/>
          <a:p>
            <a:pPr marL="0" indent="0">
              <a:buNone/>
            </a:pPr>
            <a:r>
              <a:rPr lang="en-US" sz="2400" b="1" dirty="0">
                <a:latin typeface="Cambria" pitchFamily="34" charset="0"/>
                <a:ea typeface="Cambria" pitchFamily="34" charset="-122"/>
                <a:cs typeface="Cambria" pitchFamily="34" charset="-120"/>
              </a:rPr>
              <a:t>Recommendations</a:t>
            </a:r>
            <a:endParaRPr lang="en-US" sz="2800" dirty="0"/>
          </a:p>
        </p:txBody>
      </p:sp>
      <p:sp>
        <p:nvSpPr>
          <p:cNvPr id="3" name="Text 1"/>
          <p:cNvSpPr/>
          <p:nvPr/>
        </p:nvSpPr>
        <p:spPr>
          <a:xfrm>
            <a:off x="457200" y="735896"/>
            <a:ext cx="11247120" cy="274320"/>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Four data-grounded policy </a:t>
            </a:r>
            <a:r>
              <a:rPr lang="en-US" sz="1200" dirty="0">
                <a:latin typeface="Cambria" panose="02040503050406030204" pitchFamily="18" charset="0"/>
                <a:ea typeface="Cambria" panose="02040503050406030204" pitchFamily="18" charset="0"/>
                <a:cs typeface="Calibri" pitchFamily="34" charset="-120"/>
              </a:rPr>
              <a:t>recommendations</a:t>
            </a:r>
            <a:r>
              <a:rPr lang="en-US" sz="1200" dirty="0">
                <a:latin typeface="Calibri" pitchFamily="34" charset="0"/>
                <a:ea typeface="Calibri" pitchFamily="34" charset="-122"/>
                <a:cs typeface="Calibri" pitchFamily="34" charset="-120"/>
              </a:rPr>
              <a:t> for governments and development stakeholders</a:t>
            </a:r>
            <a:endParaRPr lang="en-US" sz="1200" dirty="0"/>
          </a:p>
        </p:txBody>
      </p:sp>
      <p:sp>
        <p:nvSpPr>
          <p:cNvPr id="4" name="Shape 2"/>
          <p:cNvSpPr/>
          <p:nvPr/>
        </p:nvSpPr>
        <p:spPr>
          <a:xfrm>
            <a:off x="457200" y="1298448"/>
            <a:ext cx="2708910" cy="5468112"/>
          </a:xfrm>
          <a:prstGeom prst="roundRect">
            <a:avLst>
              <a:gd name="adj" fmla="val 3376"/>
            </a:avLst>
          </a:prstGeom>
          <a:solidFill>
            <a:srgbClr val="F7FAFD"/>
          </a:solidFill>
          <a:ln w="9525">
            <a:solidFill>
              <a:srgbClr val="BDD4E6"/>
            </a:solidFill>
            <a:prstDash val="solid"/>
          </a:ln>
        </p:spPr>
      </p:sp>
      <p:sp>
        <p:nvSpPr>
          <p:cNvPr id="5" name="Shape 3"/>
          <p:cNvSpPr/>
          <p:nvPr/>
        </p:nvSpPr>
        <p:spPr>
          <a:xfrm>
            <a:off x="621792" y="1417320"/>
            <a:ext cx="457200" cy="457200"/>
          </a:xfrm>
          <a:prstGeom prst="roundRect">
            <a:avLst>
              <a:gd name="adj" fmla="val 12000"/>
            </a:avLst>
          </a:prstGeom>
          <a:solidFill>
            <a:srgbClr val="C0392B"/>
          </a:solidFill>
          <a:ln w="12700">
            <a:solidFill>
              <a:srgbClr val="C0392B"/>
            </a:solidFill>
            <a:prstDash val="solid"/>
          </a:ln>
        </p:spPr>
      </p:sp>
      <p:sp>
        <p:nvSpPr>
          <p:cNvPr id="6" name="Text 4"/>
          <p:cNvSpPr/>
          <p:nvPr/>
        </p:nvSpPr>
        <p:spPr>
          <a:xfrm>
            <a:off x="621792" y="1453896"/>
            <a:ext cx="45720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01</a:t>
            </a:r>
            <a:endParaRPr lang="en-US" sz="1200" dirty="0"/>
          </a:p>
        </p:txBody>
      </p:sp>
      <p:sp>
        <p:nvSpPr>
          <p:cNvPr id="7" name="Text 5"/>
          <p:cNvSpPr/>
          <p:nvPr/>
        </p:nvSpPr>
        <p:spPr>
          <a:xfrm>
            <a:off x="594360" y="1956816"/>
            <a:ext cx="2434590" cy="274320"/>
          </a:xfrm>
          <a:prstGeom prst="rect">
            <a:avLst/>
          </a:prstGeom>
          <a:noFill/>
          <a:ln/>
        </p:spPr>
        <p:txBody>
          <a:bodyPr wrap="square" lIns="0" tIns="0" rIns="0" bIns="0" rtlCol="0" anchor="ctr"/>
          <a:lstStyle/>
          <a:p>
            <a:pPr marL="0" indent="0">
              <a:buNone/>
            </a:pPr>
            <a:r>
              <a:rPr lang="en-US" sz="850" i="1" dirty="0">
                <a:solidFill>
                  <a:srgbClr val="5F7A8A"/>
                </a:solidFill>
                <a:latin typeface="Calibri" pitchFamily="34" charset="0"/>
                <a:ea typeface="Calibri" pitchFamily="34" charset="-122"/>
                <a:cs typeface="Calibri" pitchFamily="34" charset="-120"/>
              </a:rPr>
              <a:t>High-gap country governments</a:t>
            </a:r>
            <a:endParaRPr lang="en-US" sz="850" dirty="0"/>
          </a:p>
        </p:txBody>
      </p:sp>
      <p:sp>
        <p:nvSpPr>
          <p:cNvPr id="8" name="Text 6"/>
          <p:cNvSpPr/>
          <p:nvPr/>
        </p:nvSpPr>
        <p:spPr>
          <a:xfrm>
            <a:off x="594360" y="2249424"/>
            <a:ext cx="2434590" cy="822960"/>
          </a:xfrm>
          <a:prstGeom prst="rect">
            <a:avLst/>
          </a:prstGeom>
          <a:noFill/>
          <a:ln/>
        </p:spPr>
        <p:txBody>
          <a:bodyPr wrap="square" rtlCol="0" anchor="ctr"/>
          <a:lstStyle/>
          <a:p>
            <a:pPr marL="0" indent="0">
              <a:buNone/>
            </a:pPr>
            <a:r>
              <a:rPr lang="en-US" sz="1200" b="1" dirty="0">
                <a:solidFill>
                  <a:schemeClr val="tx1">
                    <a:lumMod val="95000"/>
                    <a:lumOff val="5000"/>
                  </a:schemeClr>
                </a:solidFill>
                <a:latin typeface="Cambria" pitchFamily="34" charset="0"/>
                <a:ea typeface="Cambria" pitchFamily="34" charset="-122"/>
                <a:cs typeface="Cambria" pitchFamily="34" charset="-120"/>
              </a:rPr>
              <a:t>Target female employment barriers in highest gender-gap countries</a:t>
            </a:r>
            <a:endParaRPr lang="en-US" sz="1200" dirty="0">
              <a:solidFill>
                <a:schemeClr val="tx1">
                  <a:lumMod val="95000"/>
                  <a:lumOff val="5000"/>
                </a:schemeClr>
              </a:solidFill>
            </a:endParaRPr>
          </a:p>
        </p:txBody>
      </p:sp>
      <p:sp>
        <p:nvSpPr>
          <p:cNvPr id="9" name="Text 7"/>
          <p:cNvSpPr/>
          <p:nvPr/>
        </p:nvSpPr>
        <p:spPr>
          <a:xfrm>
            <a:off x="594360" y="3154680"/>
            <a:ext cx="2434590" cy="2304288"/>
          </a:xfrm>
          <a:prstGeom prst="rect">
            <a:avLst/>
          </a:prstGeom>
          <a:noFill/>
          <a:ln/>
        </p:spPr>
        <p:txBody>
          <a:bodyPr wrap="square" lIns="0" tIns="0" rIns="0" bIns="0" rtlCol="0" anchor="ctr"/>
          <a:lstStyle/>
          <a:p>
            <a:pPr marL="0" indent="0">
              <a:buNone/>
            </a:pPr>
            <a:endParaRPr lang="en-US" sz="1050" dirty="0">
              <a:solidFill>
                <a:schemeClr val="tx1">
                  <a:lumMod val="95000"/>
                  <a:lumOff val="5000"/>
                </a:schemeClr>
              </a:solidFill>
              <a:ea typeface="Calibri" pitchFamily="34" charset="-122"/>
              <a:cs typeface="Calibri" pitchFamily="34" charset="-120"/>
            </a:endParaRPr>
          </a:p>
          <a:p>
            <a:pPr marL="0" indent="0">
              <a:buNone/>
            </a:pPr>
            <a:r>
              <a:rPr lang="en-US" sz="1050" dirty="0"/>
              <a:t>Because female unemployment is consistently higher than male unemployment, policymakers should investigate barriers affecting women's labor force participation, employment access and retention.</a:t>
            </a:r>
            <a:endParaRPr lang="en-US" sz="1050" dirty="0">
              <a:solidFill>
                <a:schemeClr val="tx1">
                  <a:lumMod val="95000"/>
                  <a:lumOff val="5000"/>
                </a:schemeClr>
              </a:solidFill>
              <a:ea typeface="Calibri" pitchFamily="34" charset="-122"/>
              <a:cs typeface="Calibri" pitchFamily="34" charset="-120"/>
            </a:endParaRPr>
          </a:p>
          <a:p>
            <a:pPr marL="0" indent="0">
              <a:buNone/>
            </a:pPr>
            <a:endParaRPr lang="en-US" sz="1050" dirty="0">
              <a:solidFill>
                <a:schemeClr val="tx1">
                  <a:lumMod val="95000"/>
                  <a:lumOff val="5000"/>
                </a:schemeClr>
              </a:solidFill>
              <a:ea typeface="Calibri" pitchFamily="34" charset="-122"/>
              <a:cs typeface="Calibri" pitchFamily="34" charset="-120"/>
            </a:endParaRPr>
          </a:p>
          <a:p>
            <a:pPr marL="0" indent="0">
              <a:buNone/>
            </a:pPr>
            <a:r>
              <a:rPr lang="en-US" sz="1050" dirty="0">
                <a:solidFill>
                  <a:schemeClr val="tx1">
                    <a:lumMod val="95000"/>
                    <a:lumOff val="5000"/>
                  </a:schemeClr>
                </a:solidFill>
                <a:ea typeface="Calibri" pitchFamily="34" charset="-122"/>
                <a:cs typeface="Calibri" pitchFamily="34" charset="-120"/>
              </a:rPr>
              <a:t>Sudan (16.7pp), Egypt (15.3pp) and Djibouti (13.7pp) require gender-responsive interventions: subsidised childcare, legal reforms removing employment restrictions, and vocational training for women entering formal work.</a:t>
            </a:r>
            <a:endParaRPr lang="en-US" sz="1050" dirty="0">
              <a:solidFill>
                <a:schemeClr val="tx1">
                  <a:lumMod val="95000"/>
                  <a:lumOff val="5000"/>
                </a:schemeClr>
              </a:solidFill>
            </a:endParaRPr>
          </a:p>
        </p:txBody>
      </p:sp>
      <p:sp>
        <p:nvSpPr>
          <p:cNvPr id="12" name="Shape 10"/>
          <p:cNvSpPr/>
          <p:nvPr/>
        </p:nvSpPr>
        <p:spPr>
          <a:xfrm>
            <a:off x="3303270" y="1298448"/>
            <a:ext cx="2708910" cy="5468112"/>
          </a:xfrm>
          <a:prstGeom prst="roundRect">
            <a:avLst>
              <a:gd name="adj" fmla="val 3376"/>
            </a:avLst>
          </a:prstGeom>
          <a:solidFill>
            <a:srgbClr val="F7FAFD"/>
          </a:solidFill>
          <a:ln w="9525">
            <a:solidFill>
              <a:srgbClr val="BDD4E6"/>
            </a:solidFill>
            <a:prstDash val="solid"/>
          </a:ln>
        </p:spPr>
        <p:txBody>
          <a:bodyPr/>
          <a:lstStyle/>
          <a:p>
            <a:endParaRPr lang="en-US" dirty="0"/>
          </a:p>
        </p:txBody>
      </p:sp>
      <p:sp>
        <p:nvSpPr>
          <p:cNvPr id="13" name="Shape 11"/>
          <p:cNvSpPr/>
          <p:nvPr/>
        </p:nvSpPr>
        <p:spPr>
          <a:xfrm>
            <a:off x="3467862" y="1417320"/>
            <a:ext cx="457200" cy="457200"/>
          </a:xfrm>
          <a:prstGeom prst="roundRect">
            <a:avLst>
              <a:gd name="adj" fmla="val 12000"/>
            </a:avLst>
          </a:prstGeom>
          <a:solidFill>
            <a:srgbClr val="1A7A50"/>
          </a:solidFill>
          <a:ln w="12700">
            <a:solidFill>
              <a:srgbClr val="1A7A50"/>
            </a:solidFill>
            <a:prstDash val="solid"/>
          </a:ln>
        </p:spPr>
      </p:sp>
      <p:sp>
        <p:nvSpPr>
          <p:cNvPr id="14" name="Text 12"/>
          <p:cNvSpPr/>
          <p:nvPr/>
        </p:nvSpPr>
        <p:spPr>
          <a:xfrm>
            <a:off x="3467862" y="1453896"/>
            <a:ext cx="45720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02</a:t>
            </a:r>
            <a:endParaRPr lang="en-US" sz="1200" dirty="0"/>
          </a:p>
        </p:txBody>
      </p:sp>
      <p:sp>
        <p:nvSpPr>
          <p:cNvPr id="15" name="Text 13"/>
          <p:cNvSpPr/>
          <p:nvPr/>
        </p:nvSpPr>
        <p:spPr>
          <a:xfrm>
            <a:off x="3440430" y="1956816"/>
            <a:ext cx="2434590" cy="274320"/>
          </a:xfrm>
          <a:prstGeom prst="rect">
            <a:avLst/>
          </a:prstGeom>
          <a:noFill/>
          <a:ln/>
        </p:spPr>
        <p:txBody>
          <a:bodyPr wrap="square" lIns="0" tIns="0" rIns="0" bIns="0" rtlCol="0" anchor="ctr"/>
          <a:lstStyle/>
          <a:p>
            <a:pPr marL="0" indent="0">
              <a:buNone/>
            </a:pPr>
            <a:endParaRPr lang="en-US" sz="850" dirty="0"/>
          </a:p>
        </p:txBody>
      </p:sp>
      <p:sp>
        <p:nvSpPr>
          <p:cNvPr id="16" name="Text 14"/>
          <p:cNvSpPr/>
          <p:nvPr/>
        </p:nvSpPr>
        <p:spPr>
          <a:xfrm>
            <a:off x="3440430" y="2249424"/>
            <a:ext cx="2434590" cy="822960"/>
          </a:xfrm>
          <a:prstGeom prst="rect">
            <a:avLst/>
          </a:prstGeom>
          <a:noFill/>
          <a:ln/>
        </p:spPr>
        <p:txBody>
          <a:bodyPr wrap="square" rtlCol="0" anchor="ctr"/>
          <a:lstStyle/>
          <a:p>
            <a:pPr marL="0" indent="0">
              <a:buNone/>
            </a:pPr>
            <a:r>
              <a:rPr lang="en-US" sz="1200" b="1" dirty="0">
                <a:solidFill>
                  <a:schemeClr val="tx1">
                    <a:lumMod val="95000"/>
                    <a:lumOff val="5000"/>
                  </a:schemeClr>
                </a:solidFill>
                <a:latin typeface="Cambria" panose="02040503050406030204" pitchFamily="18" charset="0"/>
                <a:ea typeface="Cambria" panose="02040503050406030204" pitchFamily="18" charset="0"/>
              </a:rPr>
              <a:t>Focus on education quality, not just expenditure</a:t>
            </a:r>
          </a:p>
        </p:txBody>
      </p:sp>
      <p:sp>
        <p:nvSpPr>
          <p:cNvPr id="17" name="Text 15"/>
          <p:cNvSpPr/>
          <p:nvPr/>
        </p:nvSpPr>
        <p:spPr>
          <a:xfrm>
            <a:off x="3440430" y="3154680"/>
            <a:ext cx="2434590" cy="2304288"/>
          </a:xfrm>
          <a:prstGeom prst="rect">
            <a:avLst/>
          </a:prstGeom>
          <a:noFill/>
          <a:ln/>
        </p:spPr>
        <p:txBody>
          <a:bodyPr wrap="square" lIns="0" tIns="0" rIns="0" bIns="0" rtlCol="0" anchor="ctr"/>
          <a:lstStyle/>
          <a:p>
            <a:r>
              <a:rPr lang="en-US" sz="1100" dirty="0"/>
              <a:t>The weak education vs unemployment relationship suggests that spending levels alone may not translate into employment outcomes. </a:t>
            </a:r>
            <a:r>
              <a:rPr lang="en-US" sz="1100" dirty="0">
                <a:solidFill>
                  <a:schemeClr val="tx1">
                    <a:lumMod val="95000"/>
                    <a:lumOff val="5000"/>
                  </a:schemeClr>
                </a:solidFill>
                <a:ea typeface="Calibri" pitchFamily="34" charset="-122"/>
                <a:cs typeface="Calibri" pitchFamily="34" charset="-120"/>
              </a:rPr>
              <a:t>Africa spends 15.4% of govt budgets on education  matching the global average yet unemployment persists</a:t>
            </a:r>
          </a:p>
          <a:p>
            <a:endParaRPr lang="en-US" sz="1100" dirty="0">
              <a:solidFill>
                <a:schemeClr val="tx1">
                  <a:lumMod val="95000"/>
                  <a:lumOff val="5000"/>
                </a:schemeClr>
              </a:solidFill>
            </a:endParaRPr>
          </a:p>
          <a:p>
            <a:r>
              <a:rPr lang="en-US" sz="1100" dirty="0"/>
              <a:t>Future analysis should examine:</a:t>
            </a:r>
          </a:p>
          <a:p>
            <a:pPr>
              <a:buFont typeface="Arial" panose="020B0604020202020204" pitchFamily="34" charset="0"/>
              <a:buChar char="•"/>
            </a:pPr>
            <a:r>
              <a:rPr lang="en-US" sz="1100" dirty="0"/>
              <a:t>vocational training </a:t>
            </a:r>
          </a:p>
          <a:p>
            <a:pPr>
              <a:buFont typeface="Arial" panose="020B0604020202020204" pitchFamily="34" charset="0"/>
              <a:buChar char="•"/>
            </a:pPr>
            <a:r>
              <a:rPr lang="en-US" sz="1100" dirty="0"/>
              <a:t>STEM participation </a:t>
            </a:r>
          </a:p>
          <a:p>
            <a:pPr>
              <a:buFont typeface="Arial" panose="020B0604020202020204" pitchFamily="34" charset="0"/>
              <a:buChar char="•"/>
            </a:pPr>
            <a:r>
              <a:rPr lang="en-US" sz="1100" dirty="0"/>
              <a:t>employability skills </a:t>
            </a:r>
          </a:p>
          <a:p>
            <a:pPr>
              <a:buFont typeface="Arial" panose="020B0604020202020204" pitchFamily="34" charset="0"/>
              <a:buChar char="•"/>
            </a:pPr>
            <a:r>
              <a:rPr lang="en-US" sz="1100" dirty="0"/>
              <a:t>education quality </a:t>
            </a:r>
          </a:p>
          <a:p>
            <a:pPr>
              <a:buFont typeface="Arial" panose="020B0604020202020204" pitchFamily="34" charset="0"/>
              <a:buChar char="•"/>
            </a:pPr>
            <a:r>
              <a:rPr lang="en-US" sz="1100" dirty="0"/>
              <a:t>school-to-work transition</a:t>
            </a:r>
          </a:p>
        </p:txBody>
      </p:sp>
      <p:sp>
        <p:nvSpPr>
          <p:cNvPr id="20" name="Shape 18"/>
          <p:cNvSpPr/>
          <p:nvPr/>
        </p:nvSpPr>
        <p:spPr>
          <a:xfrm>
            <a:off x="6149340" y="1298448"/>
            <a:ext cx="2708910" cy="5468112"/>
          </a:xfrm>
          <a:prstGeom prst="roundRect">
            <a:avLst>
              <a:gd name="adj" fmla="val 3376"/>
            </a:avLst>
          </a:prstGeom>
          <a:solidFill>
            <a:srgbClr val="F7FAFD"/>
          </a:solidFill>
          <a:ln w="9525">
            <a:solidFill>
              <a:srgbClr val="BDD4E6"/>
            </a:solidFill>
            <a:prstDash val="solid"/>
          </a:ln>
        </p:spPr>
      </p:sp>
      <p:sp>
        <p:nvSpPr>
          <p:cNvPr id="21" name="Shape 19"/>
          <p:cNvSpPr/>
          <p:nvPr/>
        </p:nvSpPr>
        <p:spPr>
          <a:xfrm>
            <a:off x="6313932" y="1417320"/>
            <a:ext cx="457200" cy="457200"/>
          </a:xfrm>
          <a:prstGeom prst="roundRect">
            <a:avLst>
              <a:gd name="adj" fmla="val 12000"/>
            </a:avLst>
          </a:prstGeom>
          <a:solidFill>
            <a:srgbClr val="D4782A"/>
          </a:solidFill>
          <a:ln w="12700">
            <a:solidFill>
              <a:srgbClr val="D4782A"/>
            </a:solidFill>
            <a:prstDash val="solid"/>
          </a:ln>
        </p:spPr>
      </p:sp>
      <p:sp>
        <p:nvSpPr>
          <p:cNvPr id="22" name="Text 20"/>
          <p:cNvSpPr/>
          <p:nvPr/>
        </p:nvSpPr>
        <p:spPr>
          <a:xfrm>
            <a:off x="6313932" y="1453896"/>
            <a:ext cx="45720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03</a:t>
            </a:r>
            <a:endParaRPr lang="en-US" sz="1200" dirty="0"/>
          </a:p>
        </p:txBody>
      </p:sp>
      <p:sp>
        <p:nvSpPr>
          <p:cNvPr id="23" name="Text 21"/>
          <p:cNvSpPr/>
          <p:nvPr/>
        </p:nvSpPr>
        <p:spPr>
          <a:xfrm>
            <a:off x="6286500" y="1956816"/>
            <a:ext cx="2434590" cy="274320"/>
          </a:xfrm>
          <a:prstGeom prst="rect">
            <a:avLst/>
          </a:prstGeom>
          <a:noFill/>
          <a:ln/>
        </p:spPr>
        <p:txBody>
          <a:bodyPr wrap="square" lIns="0" tIns="0" rIns="0" bIns="0" rtlCol="0" anchor="ctr"/>
          <a:lstStyle/>
          <a:p>
            <a:pPr marL="0" indent="0">
              <a:buNone/>
            </a:pPr>
            <a:r>
              <a:rPr lang="en-US" sz="850" i="1" dirty="0">
                <a:solidFill>
                  <a:srgbClr val="5F7A8A"/>
                </a:solidFill>
                <a:latin typeface="Calibri" pitchFamily="34" charset="0"/>
                <a:ea typeface="Calibri" pitchFamily="34" charset="-122"/>
                <a:cs typeface="Calibri" pitchFamily="34" charset="-120"/>
              </a:rPr>
              <a:t>Govts &amp; electricity access</a:t>
            </a:r>
            <a:endParaRPr lang="en-US" sz="850" dirty="0"/>
          </a:p>
        </p:txBody>
      </p:sp>
      <p:sp>
        <p:nvSpPr>
          <p:cNvPr id="24" name="Text 22"/>
          <p:cNvSpPr/>
          <p:nvPr/>
        </p:nvSpPr>
        <p:spPr>
          <a:xfrm>
            <a:off x="6286500" y="2249424"/>
            <a:ext cx="2434590" cy="822960"/>
          </a:xfrm>
          <a:prstGeom prst="rect">
            <a:avLst/>
          </a:prstGeom>
          <a:noFill/>
          <a:ln/>
        </p:spPr>
        <p:txBody>
          <a:bodyPr wrap="square" rtlCol="0" anchor="ctr"/>
          <a:lstStyle/>
          <a:p>
            <a:pPr marL="0" indent="0">
              <a:buNone/>
            </a:pPr>
            <a:r>
              <a:rPr lang="en-US" sz="1200" b="1" dirty="0">
                <a:solidFill>
                  <a:schemeClr val="tx1">
                    <a:lumMod val="95000"/>
                    <a:lumOff val="5000"/>
                  </a:schemeClr>
                </a:solidFill>
                <a:latin typeface="Cambria" pitchFamily="34" charset="0"/>
                <a:ea typeface="Cambria" pitchFamily="34" charset="-122"/>
                <a:cs typeface="Cambria" pitchFamily="34" charset="-120"/>
              </a:rPr>
              <a:t>Invest in electricity access as employment infrastructure</a:t>
            </a:r>
            <a:endParaRPr lang="en-US" sz="1200" dirty="0">
              <a:solidFill>
                <a:schemeClr val="tx1">
                  <a:lumMod val="95000"/>
                  <a:lumOff val="5000"/>
                </a:schemeClr>
              </a:solidFill>
            </a:endParaRPr>
          </a:p>
        </p:txBody>
      </p:sp>
      <p:sp>
        <p:nvSpPr>
          <p:cNvPr id="25" name="Text 23"/>
          <p:cNvSpPr/>
          <p:nvPr/>
        </p:nvSpPr>
        <p:spPr>
          <a:xfrm>
            <a:off x="6286500" y="3154680"/>
            <a:ext cx="2434590" cy="2304288"/>
          </a:xfrm>
          <a:prstGeom prst="rect">
            <a:avLst/>
          </a:prstGeom>
          <a:noFill/>
          <a:ln/>
        </p:spPr>
        <p:txBody>
          <a:bodyPr wrap="square" lIns="0" tIns="0" rIns="0" bIns="0" rtlCol="0" anchor="ctr"/>
          <a:lstStyle/>
          <a:p>
            <a:pPr marL="0" indent="0">
              <a:buNone/>
            </a:pPr>
            <a:endParaRPr lang="en-US" sz="1100" dirty="0">
              <a:solidFill>
                <a:srgbClr val="162537"/>
              </a:solidFill>
              <a:ea typeface="Calibri" pitchFamily="34" charset="-122"/>
              <a:cs typeface="Calibri" pitchFamily="34" charset="-120"/>
            </a:endParaRPr>
          </a:p>
          <a:p>
            <a:r>
              <a:rPr lang="en-US" sz="1100" dirty="0"/>
              <a:t>The unexpected positive electricity relationship deserves deeper investigation rather than immediate policy conclusions.</a:t>
            </a:r>
          </a:p>
          <a:p>
            <a:endParaRPr lang="en-US" sz="1100" dirty="0"/>
          </a:p>
          <a:p>
            <a:r>
              <a:rPr lang="en-US" sz="1100" dirty="0"/>
              <a:t>Future analysis should incorporate:</a:t>
            </a:r>
          </a:p>
          <a:p>
            <a:pPr>
              <a:buFont typeface="Arial" panose="020B0604020202020204" pitchFamily="34" charset="0"/>
              <a:buChar char="•"/>
            </a:pPr>
            <a:r>
              <a:rPr lang="en-US" sz="1100" dirty="0"/>
              <a:t>GDP per capita </a:t>
            </a:r>
          </a:p>
          <a:p>
            <a:pPr>
              <a:buFont typeface="Arial" panose="020B0604020202020204" pitchFamily="34" charset="0"/>
              <a:buChar char="•"/>
            </a:pPr>
            <a:r>
              <a:rPr lang="en-US" sz="1100" dirty="0"/>
              <a:t>industrialization </a:t>
            </a:r>
          </a:p>
          <a:p>
            <a:pPr>
              <a:buFont typeface="Arial" panose="020B0604020202020204" pitchFamily="34" charset="0"/>
              <a:buChar char="•"/>
            </a:pPr>
            <a:r>
              <a:rPr lang="en-US" sz="1100" dirty="0"/>
              <a:t>urbanization </a:t>
            </a:r>
          </a:p>
          <a:p>
            <a:pPr>
              <a:buFont typeface="Arial" panose="020B0604020202020204" pitchFamily="34" charset="0"/>
              <a:buChar char="•"/>
            </a:pPr>
            <a:r>
              <a:rPr lang="en-US" sz="1100" dirty="0"/>
              <a:t>electricity reliability </a:t>
            </a:r>
          </a:p>
          <a:p>
            <a:pPr>
              <a:buFont typeface="Arial" panose="020B0604020202020204" pitchFamily="34" charset="0"/>
              <a:buChar char="•"/>
            </a:pPr>
            <a:r>
              <a:rPr lang="en-US" sz="1100" dirty="0"/>
              <a:t>manufacturing employment </a:t>
            </a:r>
          </a:p>
          <a:p>
            <a:pPr>
              <a:buFont typeface="Arial" panose="020B0604020202020204" pitchFamily="34" charset="0"/>
              <a:buChar char="•"/>
            </a:pPr>
            <a:r>
              <a:rPr lang="en-US" sz="1100" dirty="0"/>
              <a:t>labor-force participation</a:t>
            </a:r>
          </a:p>
          <a:p>
            <a:pPr marL="0" indent="0">
              <a:buNone/>
            </a:pPr>
            <a:endParaRPr lang="en-US" sz="1100" dirty="0"/>
          </a:p>
        </p:txBody>
      </p:sp>
      <p:sp>
        <p:nvSpPr>
          <p:cNvPr id="28" name="Shape 26"/>
          <p:cNvSpPr/>
          <p:nvPr/>
        </p:nvSpPr>
        <p:spPr>
          <a:xfrm>
            <a:off x="8995410" y="1298448"/>
            <a:ext cx="2708910" cy="5468112"/>
          </a:xfrm>
          <a:prstGeom prst="roundRect">
            <a:avLst>
              <a:gd name="adj" fmla="val 3376"/>
            </a:avLst>
          </a:prstGeom>
          <a:solidFill>
            <a:srgbClr val="F7FAFD"/>
          </a:solidFill>
          <a:ln w="9525">
            <a:solidFill>
              <a:srgbClr val="BDD4E6"/>
            </a:solidFill>
            <a:prstDash val="solid"/>
          </a:ln>
        </p:spPr>
        <p:txBody>
          <a:bodyPr/>
          <a:lstStyle/>
          <a:p>
            <a:endParaRPr lang="en-US" dirty="0"/>
          </a:p>
        </p:txBody>
      </p:sp>
      <p:sp>
        <p:nvSpPr>
          <p:cNvPr id="29" name="Shape 27"/>
          <p:cNvSpPr/>
          <p:nvPr/>
        </p:nvSpPr>
        <p:spPr>
          <a:xfrm>
            <a:off x="9160002" y="1417320"/>
            <a:ext cx="457200" cy="457200"/>
          </a:xfrm>
          <a:prstGeom prst="roundRect">
            <a:avLst>
              <a:gd name="adj" fmla="val 12000"/>
            </a:avLst>
          </a:prstGeom>
          <a:solidFill>
            <a:srgbClr val="1A8FBF"/>
          </a:solidFill>
          <a:ln w="12700">
            <a:solidFill>
              <a:srgbClr val="1A8FBF"/>
            </a:solidFill>
            <a:prstDash val="solid"/>
          </a:ln>
        </p:spPr>
      </p:sp>
      <p:sp>
        <p:nvSpPr>
          <p:cNvPr id="30" name="Text 28"/>
          <p:cNvSpPr/>
          <p:nvPr/>
        </p:nvSpPr>
        <p:spPr>
          <a:xfrm>
            <a:off x="9160002" y="1453896"/>
            <a:ext cx="45720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04</a:t>
            </a:r>
            <a:endParaRPr lang="en-US" sz="1200" dirty="0"/>
          </a:p>
        </p:txBody>
      </p:sp>
      <p:sp>
        <p:nvSpPr>
          <p:cNvPr id="31" name="Text 29"/>
          <p:cNvSpPr/>
          <p:nvPr/>
        </p:nvSpPr>
        <p:spPr>
          <a:xfrm>
            <a:off x="9132570" y="1956816"/>
            <a:ext cx="2434590" cy="274320"/>
          </a:xfrm>
          <a:prstGeom prst="rect">
            <a:avLst/>
          </a:prstGeom>
          <a:noFill/>
          <a:ln/>
        </p:spPr>
        <p:txBody>
          <a:bodyPr wrap="square" lIns="0" tIns="0" rIns="0" bIns="0" rtlCol="0" anchor="ctr"/>
          <a:lstStyle/>
          <a:p>
            <a:pPr marL="0" indent="0">
              <a:buNone/>
            </a:pPr>
            <a:r>
              <a:rPr lang="en-US" sz="850" i="1" dirty="0">
                <a:solidFill>
                  <a:srgbClr val="5F7A8A"/>
                </a:solidFill>
                <a:latin typeface="Calibri" pitchFamily="34" charset="0"/>
                <a:ea typeface="Calibri" pitchFamily="34" charset="-122"/>
                <a:cs typeface="Calibri" pitchFamily="34" charset="-120"/>
              </a:rPr>
              <a:t>Countries specific strategies</a:t>
            </a:r>
            <a:endParaRPr lang="en-US" sz="850" dirty="0"/>
          </a:p>
        </p:txBody>
      </p:sp>
      <p:sp>
        <p:nvSpPr>
          <p:cNvPr id="32" name="Text 30"/>
          <p:cNvSpPr/>
          <p:nvPr/>
        </p:nvSpPr>
        <p:spPr>
          <a:xfrm>
            <a:off x="9132570" y="2249424"/>
            <a:ext cx="2434590" cy="822960"/>
          </a:xfrm>
          <a:prstGeom prst="rect">
            <a:avLst/>
          </a:prstGeom>
          <a:noFill/>
          <a:ln/>
        </p:spPr>
        <p:txBody>
          <a:bodyPr wrap="square" rtlCol="0" anchor="ctr"/>
          <a:lstStyle/>
          <a:p>
            <a:r>
              <a:rPr lang="en-US" sz="1200" b="1" dirty="0"/>
              <a:t>Develop country-specific strategies</a:t>
            </a:r>
          </a:p>
        </p:txBody>
      </p:sp>
      <p:sp>
        <p:nvSpPr>
          <p:cNvPr id="33" name="Text 31"/>
          <p:cNvSpPr/>
          <p:nvPr/>
        </p:nvSpPr>
        <p:spPr>
          <a:xfrm>
            <a:off x="9132570" y="3154680"/>
            <a:ext cx="2434590" cy="2304288"/>
          </a:xfrm>
          <a:prstGeom prst="rect">
            <a:avLst/>
          </a:prstGeom>
          <a:noFill/>
          <a:ln/>
        </p:spPr>
        <p:txBody>
          <a:bodyPr wrap="square" lIns="0" tIns="0" rIns="0" bIns="0" rtlCol="0" anchor="ctr"/>
          <a:lstStyle/>
          <a:p>
            <a:r>
              <a:rPr lang="en-US" sz="1100" dirty="0"/>
              <a:t>The large variation between countries means that a single unemployment intervention may not work equally well across Africa.</a:t>
            </a:r>
          </a:p>
          <a:p>
            <a:pPr marL="0" indent="0">
              <a:buNone/>
            </a:pPr>
            <a:r>
              <a:rPr lang="en-US" sz="1100" dirty="0">
                <a:solidFill>
                  <a:srgbClr val="162537"/>
                </a:solidFill>
                <a:ea typeface="Calibri" pitchFamily="34" charset="-122"/>
                <a:cs typeface="Calibri" pitchFamily="34" charset="-120"/>
              </a:rPr>
              <a:t>.</a:t>
            </a:r>
            <a:endParaRPr lang="en-US" sz="1100" dirty="0"/>
          </a:p>
        </p:txBody>
      </p:sp>
      <p:sp>
        <p:nvSpPr>
          <p:cNvPr id="38" name="Text 29">
            <a:extLst>
              <a:ext uri="{FF2B5EF4-FFF2-40B4-BE49-F238E27FC236}">
                <a16:creationId xmlns:a16="http://schemas.microsoft.com/office/drawing/2014/main" id="{BE5A618B-5F0A-4B53-BE4E-E859A4314DFC}"/>
              </a:ext>
            </a:extLst>
          </p:cNvPr>
          <p:cNvSpPr/>
          <p:nvPr/>
        </p:nvSpPr>
        <p:spPr>
          <a:xfrm>
            <a:off x="3467862" y="1972056"/>
            <a:ext cx="2434590" cy="274320"/>
          </a:xfrm>
          <a:prstGeom prst="rect">
            <a:avLst/>
          </a:prstGeom>
          <a:noFill/>
          <a:ln/>
        </p:spPr>
        <p:txBody>
          <a:bodyPr wrap="square" lIns="0" tIns="0" rIns="0" bIns="0" rtlCol="0" anchor="ctr"/>
          <a:lstStyle/>
          <a:p>
            <a:pPr marL="0" indent="0">
              <a:buNone/>
            </a:pPr>
            <a:r>
              <a:rPr lang="en-US" sz="850" i="1" dirty="0">
                <a:solidFill>
                  <a:srgbClr val="5F7A8A"/>
                </a:solidFill>
                <a:latin typeface="Calibri" pitchFamily="34" charset="0"/>
                <a:ea typeface="Calibri" pitchFamily="34" charset="-122"/>
                <a:cs typeface="Calibri" pitchFamily="34" charset="-120"/>
              </a:rPr>
              <a:t>Ministries of Education</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chemeClr val="bg1">
            <a:lumMod val="95000"/>
          </a:schemeClr>
        </a:solidFill>
        <a:effectLst/>
      </p:bgPr>
    </p:bg>
    <p:spTree>
      <p:nvGrpSpPr>
        <p:cNvPr id="1" name=""/>
        <p:cNvGrpSpPr/>
        <p:nvPr/>
      </p:nvGrpSpPr>
      <p:grpSpPr>
        <a:xfrm>
          <a:off x="0" y="0"/>
          <a:ext cx="0" cy="0"/>
          <a:chOff x="0" y="0"/>
          <a:chExt cx="0" cy="0"/>
        </a:xfrm>
      </p:grpSpPr>
      <p:sp>
        <p:nvSpPr>
          <p:cNvPr id="2" name="Text 0"/>
          <p:cNvSpPr/>
          <p:nvPr/>
        </p:nvSpPr>
        <p:spPr>
          <a:xfrm>
            <a:off x="472440" y="434586"/>
            <a:ext cx="11247120" cy="594360"/>
          </a:xfrm>
          <a:prstGeom prst="rect">
            <a:avLst/>
          </a:prstGeom>
          <a:noFill/>
          <a:ln/>
        </p:spPr>
        <p:txBody>
          <a:bodyPr wrap="square" rtlCol="0" anchor="ctr"/>
          <a:lstStyle/>
          <a:p>
            <a:pPr marL="0" indent="0">
              <a:buNone/>
            </a:pPr>
            <a:r>
              <a:rPr lang="en-US" sz="2000" b="1" dirty="0">
                <a:latin typeface="Cambria" pitchFamily="34" charset="0"/>
                <a:ea typeface="Cambria" pitchFamily="34" charset="-122"/>
                <a:cs typeface="Cambria" pitchFamily="34" charset="-120"/>
              </a:rPr>
              <a:t>Limitations &amp; Conclusion</a:t>
            </a:r>
            <a:endParaRPr lang="en-US" sz="2000" dirty="0"/>
          </a:p>
        </p:txBody>
      </p:sp>
      <p:sp>
        <p:nvSpPr>
          <p:cNvPr id="4" name="Text 2"/>
          <p:cNvSpPr/>
          <p:nvPr/>
        </p:nvSpPr>
        <p:spPr>
          <a:xfrm>
            <a:off x="457200" y="1024128"/>
            <a:ext cx="5577840" cy="320040"/>
          </a:xfrm>
          <a:prstGeom prst="rect">
            <a:avLst/>
          </a:prstGeom>
          <a:noFill/>
          <a:ln/>
        </p:spPr>
        <p:txBody>
          <a:bodyPr wrap="square" rtlCol="0" anchor="ctr"/>
          <a:lstStyle/>
          <a:p>
            <a:pPr marL="0" indent="0">
              <a:buNone/>
            </a:pPr>
            <a:r>
              <a:rPr lang="en-US" sz="1500" b="1" dirty="0">
                <a:latin typeface="Cambria" pitchFamily="34" charset="0"/>
                <a:ea typeface="Cambria" pitchFamily="34" charset="-122"/>
                <a:cs typeface="Cambria" pitchFamily="34" charset="-120"/>
              </a:rPr>
              <a:t>Dataset Limitations</a:t>
            </a:r>
            <a:endParaRPr lang="en-US" sz="1500" dirty="0"/>
          </a:p>
        </p:txBody>
      </p:sp>
      <p:sp>
        <p:nvSpPr>
          <p:cNvPr id="5" name="Shape 3"/>
          <p:cNvSpPr/>
          <p:nvPr/>
        </p:nvSpPr>
        <p:spPr>
          <a:xfrm>
            <a:off x="457200" y="1426464"/>
            <a:ext cx="5577840" cy="786384"/>
          </a:xfrm>
          <a:prstGeom prst="roundRect">
            <a:avLst>
              <a:gd name="adj" fmla="val 8140"/>
            </a:avLst>
          </a:prstGeom>
          <a:solidFill>
            <a:schemeClr val="bg1">
              <a:lumMod val="85000"/>
            </a:schemeClr>
          </a:solidFill>
          <a:ln w="9525">
            <a:solidFill>
              <a:srgbClr val="1D4A70"/>
            </a:solidFill>
            <a:prstDash val="solid"/>
          </a:ln>
        </p:spPr>
      </p:sp>
      <p:sp>
        <p:nvSpPr>
          <p:cNvPr id="6" name="Text 4"/>
          <p:cNvSpPr/>
          <p:nvPr/>
        </p:nvSpPr>
        <p:spPr>
          <a:xfrm>
            <a:off x="594360" y="1499616"/>
            <a:ext cx="5303520" cy="256032"/>
          </a:xfrm>
          <a:prstGeom prst="rect">
            <a:avLst/>
          </a:prstGeom>
          <a:noFill/>
          <a:ln/>
        </p:spPr>
        <p:txBody>
          <a:bodyPr wrap="square" lIns="0" tIns="0" rIns="0" bIns="0" rtlCol="0" anchor="ctr"/>
          <a:lstStyle/>
          <a:p>
            <a:pPr marL="0" indent="0">
              <a:buNone/>
            </a:pPr>
            <a:r>
              <a:rPr lang="en-US" sz="1050" b="1" dirty="0">
                <a:solidFill>
                  <a:srgbClr val="D4782A"/>
                </a:solidFill>
                <a:latin typeface="Calibri" pitchFamily="34" charset="0"/>
                <a:ea typeface="Calibri" pitchFamily="34" charset="-122"/>
                <a:cs typeface="Calibri" pitchFamily="34" charset="-120"/>
              </a:rPr>
              <a:t>Single-year unemployment snapshot</a:t>
            </a:r>
            <a:endParaRPr lang="en-US" sz="1050" dirty="0"/>
          </a:p>
        </p:txBody>
      </p:sp>
      <p:sp>
        <p:nvSpPr>
          <p:cNvPr id="7" name="Text 5"/>
          <p:cNvSpPr/>
          <p:nvPr/>
        </p:nvSpPr>
        <p:spPr>
          <a:xfrm>
            <a:off x="594360" y="1792224"/>
            <a:ext cx="5303520" cy="347472"/>
          </a:xfrm>
          <a:prstGeom prst="rect">
            <a:avLst/>
          </a:prstGeom>
          <a:noFill/>
          <a:ln/>
        </p:spPr>
        <p:txBody>
          <a:bodyPr wrap="square" lIns="0" tIns="0" rIns="0" bIns="0" rtlCol="0" anchor="ctr"/>
          <a:lstStyle/>
          <a:p>
            <a:pPr marL="0" indent="0">
              <a:buNone/>
            </a:pPr>
            <a:r>
              <a:rPr lang="en-US" sz="1100" dirty="0">
                <a:solidFill>
                  <a:schemeClr val="tx1">
                    <a:lumMod val="95000"/>
                    <a:lumOff val="5000"/>
                  </a:schemeClr>
                </a:solidFill>
                <a:latin typeface="Calibri" pitchFamily="34" charset="0"/>
                <a:ea typeface="Calibri" pitchFamily="34" charset="-122"/>
                <a:cs typeface="Calibri" pitchFamily="34" charset="-120"/>
              </a:rPr>
              <a:t>Dataset 1 covers 2015 only,  no trend analysis possible. </a:t>
            </a:r>
            <a:endParaRPr lang="en-US" sz="1100" dirty="0">
              <a:solidFill>
                <a:schemeClr val="tx1">
                  <a:lumMod val="95000"/>
                  <a:lumOff val="5000"/>
                </a:schemeClr>
              </a:solidFill>
            </a:endParaRPr>
          </a:p>
        </p:txBody>
      </p:sp>
      <p:sp>
        <p:nvSpPr>
          <p:cNvPr id="8" name="Shape 6"/>
          <p:cNvSpPr/>
          <p:nvPr/>
        </p:nvSpPr>
        <p:spPr>
          <a:xfrm>
            <a:off x="457200" y="2304288"/>
            <a:ext cx="5577840" cy="786384"/>
          </a:xfrm>
          <a:prstGeom prst="roundRect">
            <a:avLst>
              <a:gd name="adj" fmla="val 8140"/>
            </a:avLst>
          </a:prstGeom>
          <a:solidFill>
            <a:schemeClr val="bg1">
              <a:lumMod val="85000"/>
            </a:schemeClr>
          </a:solidFill>
          <a:ln w="9525">
            <a:solidFill>
              <a:srgbClr val="1D4A70"/>
            </a:solidFill>
            <a:prstDash val="solid"/>
          </a:ln>
        </p:spPr>
      </p:sp>
      <p:sp>
        <p:nvSpPr>
          <p:cNvPr id="9" name="Text 7"/>
          <p:cNvSpPr/>
          <p:nvPr/>
        </p:nvSpPr>
        <p:spPr>
          <a:xfrm>
            <a:off x="594360" y="2377440"/>
            <a:ext cx="5303520" cy="256032"/>
          </a:xfrm>
          <a:prstGeom prst="rect">
            <a:avLst/>
          </a:prstGeom>
          <a:noFill/>
          <a:ln/>
        </p:spPr>
        <p:txBody>
          <a:bodyPr wrap="square" lIns="0" tIns="0" rIns="0" bIns="0" rtlCol="0" anchor="ctr"/>
          <a:lstStyle/>
          <a:p>
            <a:pPr marL="0" indent="0">
              <a:buNone/>
            </a:pPr>
            <a:r>
              <a:rPr lang="en-US" sz="1050" b="1" dirty="0">
                <a:solidFill>
                  <a:srgbClr val="D4782A"/>
                </a:solidFill>
                <a:latin typeface="Calibri" pitchFamily="34" charset="0"/>
                <a:ea typeface="Calibri" pitchFamily="34" charset="-122"/>
                <a:cs typeface="Calibri" pitchFamily="34" charset="-120"/>
              </a:rPr>
              <a:t>Missing and absent countries</a:t>
            </a:r>
            <a:endParaRPr lang="en-US" sz="1050" dirty="0"/>
          </a:p>
        </p:txBody>
      </p:sp>
      <p:sp>
        <p:nvSpPr>
          <p:cNvPr id="10" name="Text 8"/>
          <p:cNvSpPr/>
          <p:nvPr/>
        </p:nvSpPr>
        <p:spPr>
          <a:xfrm>
            <a:off x="594360" y="2670048"/>
            <a:ext cx="5303520" cy="347472"/>
          </a:xfrm>
          <a:prstGeom prst="rect">
            <a:avLst/>
          </a:prstGeom>
          <a:noFill/>
          <a:ln/>
        </p:spPr>
        <p:txBody>
          <a:bodyPr wrap="square" lIns="0" tIns="0" rIns="0" bIns="0" rtlCol="0" anchor="ctr"/>
          <a:lstStyle/>
          <a:p>
            <a:pPr marL="0" indent="0">
              <a:buNone/>
            </a:pPr>
            <a:r>
              <a:rPr lang="en-US" sz="1100" dirty="0">
                <a:solidFill>
                  <a:schemeClr val="tx1">
                    <a:lumMod val="95000"/>
                    <a:lumOff val="5000"/>
                  </a:schemeClr>
                </a:solidFill>
                <a:latin typeface="Calibri" pitchFamily="34" charset="0"/>
                <a:ea typeface="Calibri" pitchFamily="34" charset="-122"/>
                <a:cs typeface="Calibri" pitchFamily="34" charset="-120"/>
              </a:rPr>
              <a:t>8 countries missing from unemployment dataset which was my base dataset.</a:t>
            </a:r>
            <a:endParaRPr lang="en-US" sz="1100" dirty="0">
              <a:solidFill>
                <a:schemeClr val="tx1">
                  <a:lumMod val="95000"/>
                  <a:lumOff val="5000"/>
                </a:schemeClr>
              </a:solidFill>
            </a:endParaRPr>
          </a:p>
        </p:txBody>
      </p:sp>
      <p:sp>
        <p:nvSpPr>
          <p:cNvPr id="11" name="Shape 9"/>
          <p:cNvSpPr/>
          <p:nvPr/>
        </p:nvSpPr>
        <p:spPr>
          <a:xfrm>
            <a:off x="457200" y="3182112"/>
            <a:ext cx="5577840" cy="786384"/>
          </a:xfrm>
          <a:prstGeom prst="roundRect">
            <a:avLst>
              <a:gd name="adj" fmla="val 8140"/>
            </a:avLst>
          </a:prstGeom>
          <a:solidFill>
            <a:schemeClr val="bg1">
              <a:lumMod val="85000"/>
            </a:schemeClr>
          </a:solidFill>
          <a:ln w="9525">
            <a:solidFill>
              <a:srgbClr val="1D4A70"/>
            </a:solidFill>
            <a:prstDash val="solid"/>
          </a:ln>
        </p:spPr>
      </p:sp>
      <p:sp>
        <p:nvSpPr>
          <p:cNvPr id="12" name="Text 10"/>
          <p:cNvSpPr/>
          <p:nvPr/>
        </p:nvSpPr>
        <p:spPr>
          <a:xfrm>
            <a:off x="594360" y="3255264"/>
            <a:ext cx="5303520" cy="256032"/>
          </a:xfrm>
          <a:prstGeom prst="rect">
            <a:avLst/>
          </a:prstGeom>
          <a:noFill/>
          <a:ln/>
        </p:spPr>
        <p:txBody>
          <a:bodyPr wrap="square" lIns="0" tIns="0" rIns="0" bIns="0" rtlCol="0" anchor="ctr"/>
          <a:lstStyle/>
          <a:p>
            <a:pPr marL="0" indent="0">
              <a:buNone/>
            </a:pPr>
            <a:r>
              <a:rPr lang="en-US" sz="1050" b="1" dirty="0">
                <a:solidFill>
                  <a:srgbClr val="D4782A"/>
                </a:solidFill>
                <a:latin typeface="Calibri" pitchFamily="34" charset="0"/>
                <a:ea typeface="Calibri" pitchFamily="34" charset="-122"/>
                <a:cs typeface="Calibri" pitchFamily="34" charset="-120"/>
              </a:rPr>
              <a:t>Year mismatches across datasets</a:t>
            </a:r>
            <a:endParaRPr lang="en-US" sz="1050" dirty="0"/>
          </a:p>
        </p:txBody>
      </p:sp>
      <p:sp>
        <p:nvSpPr>
          <p:cNvPr id="13" name="Text 11"/>
          <p:cNvSpPr/>
          <p:nvPr/>
        </p:nvSpPr>
        <p:spPr>
          <a:xfrm>
            <a:off x="594360" y="3547872"/>
            <a:ext cx="5303520" cy="347472"/>
          </a:xfrm>
          <a:prstGeom prst="rect">
            <a:avLst/>
          </a:prstGeom>
          <a:noFill/>
          <a:ln/>
        </p:spPr>
        <p:txBody>
          <a:bodyPr wrap="square" lIns="0" tIns="0" rIns="0" bIns="0" rtlCol="0" anchor="ctr"/>
          <a:lstStyle/>
          <a:p>
            <a:pPr marL="0" indent="0">
              <a:buNone/>
            </a:pPr>
            <a:r>
              <a:rPr lang="en-US" sz="1100" dirty="0">
                <a:solidFill>
                  <a:schemeClr val="tx1">
                    <a:lumMod val="95000"/>
                    <a:lumOff val="5000"/>
                  </a:schemeClr>
                </a:solidFill>
                <a:latin typeface="Calibri" pitchFamily="34" charset="0"/>
                <a:ea typeface="Calibri" pitchFamily="34" charset="-122"/>
                <a:cs typeface="Calibri" pitchFamily="34" charset="-120"/>
              </a:rPr>
              <a:t>Unemployment = 2015; Strategy = 2019–2022; Electricity = 1990–2020. Cross-dataset comparisons are approximate, not simultaneous.</a:t>
            </a:r>
            <a:endParaRPr lang="en-US" sz="1100" dirty="0">
              <a:solidFill>
                <a:schemeClr val="tx1">
                  <a:lumMod val="95000"/>
                  <a:lumOff val="5000"/>
                </a:schemeClr>
              </a:solidFill>
            </a:endParaRPr>
          </a:p>
        </p:txBody>
      </p:sp>
      <p:sp>
        <p:nvSpPr>
          <p:cNvPr id="14" name="Shape 12"/>
          <p:cNvSpPr/>
          <p:nvPr/>
        </p:nvSpPr>
        <p:spPr>
          <a:xfrm>
            <a:off x="457200" y="4059936"/>
            <a:ext cx="5577840" cy="786384"/>
          </a:xfrm>
          <a:prstGeom prst="roundRect">
            <a:avLst>
              <a:gd name="adj" fmla="val 8140"/>
            </a:avLst>
          </a:prstGeom>
          <a:solidFill>
            <a:schemeClr val="bg1">
              <a:lumMod val="85000"/>
            </a:schemeClr>
          </a:solidFill>
          <a:ln w="9525">
            <a:solidFill>
              <a:srgbClr val="1D4A70"/>
            </a:solidFill>
            <a:prstDash val="solid"/>
          </a:ln>
        </p:spPr>
      </p:sp>
      <p:sp>
        <p:nvSpPr>
          <p:cNvPr id="15" name="Text 13"/>
          <p:cNvSpPr/>
          <p:nvPr/>
        </p:nvSpPr>
        <p:spPr>
          <a:xfrm>
            <a:off x="594360" y="4133088"/>
            <a:ext cx="5303520" cy="256032"/>
          </a:xfrm>
          <a:prstGeom prst="rect">
            <a:avLst/>
          </a:prstGeom>
          <a:solidFill>
            <a:schemeClr val="bg1">
              <a:lumMod val="85000"/>
            </a:schemeClr>
          </a:solidFill>
          <a:ln w="9525">
            <a:noFill/>
            <a:prstDash val="solid"/>
          </a:ln>
        </p:spPr>
        <p:txBody>
          <a:bodyPr wrap="square" lIns="0" tIns="0" rIns="0" bIns="0" rtlCol="0" anchor="ctr"/>
          <a:lstStyle/>
          <a:p>
            <a:pPr marL="0" indent="0">
              <a:buNone/>
            </a:pPr>
            <a:r>
              <a:rPr lang="en-US" sz="1050" b="1" dirty="0">
                <a:solidFill>
                  <a:srgbClr val="D4782A"/>
                </a:solidFill>
                <a:latin typeface="Calibri" pitchFamily="34" charset="0"/>
                <a:ea typeface="Calibri" pitchFamily="34" charset="-122"/>
                <a:cs typeface="Calibri" pitchFamily="34" charset="-120"/>
              </a:rPr>
              <a:t>Informal economy bias</a:t>
            </a:r>
            <a:endParaRPr lang="en-US" sz="1050" dirty="0"/>
          </a:p>
        </p:txBody>
      </p:sp>
      <p:sp>
        <p:nvSpPr>
          <p:cNvPr id="16" name="Text 14"/>
          <p:cNvSpPr/>
          <p:nvPr/>
        </p:nvSpPr>
        <p:spPr>
          <a:xfrm>
            <a:off x="594360" y="4425696"/>
            <a:ext cx="5303520" cy="347472"/>
          </a:xfrm>
          <a:prstGeom prst="rect">
            <a:avLst/>
          </a:prstGeom>
          <a:noFill/>
          <a:ln/>
        </p:spPr>
        <p:txBody>
          <a:bodyPr wrap="square" lIns="0" tIns="0" rIns="0" bIns="0" rtlCol="0" anchor="ctr"/>
          <a:lstStyle/>
          <a:p>
            <a:pPr marL="0" indent="0">
              <a:buNone/>
            </a:pPr>
            <a:r>
              <a:rPr lang="en-US" sz="1100" dirty="0">
                <a:solidFill>
                  <a:schemeClr val="tx1">
                    <a:lumMod val="95000"/>
                    <a:lumOff val="5000"/>
                  </a:schemeClr>
                </a:solidFill>
                <a:latin typeface="Calibri" pitchFamily="34" charset="0"/>
                <a:ea typeface="Calibri" pitchFamily="34" charset="-122"/>
                <a:cs typeface="Calibri" pitchFamily="34" charset="-120"/>
              </a:rPr>
              <a:t>ILO estimates capture only formal job seekers. Niger (0.5%) and Chad (1.0%) low rates reflect informality, not employment success.</a:t>
            </a:r>
            <a:endParaRPr lang="en-US" sz="1100" dirty="0">
              <a:solidFill>
                <a:schemeClr val="tx1">
                  <a:lumMod val="95000"/>
                  <a:lumOff val="5000"/>
                </a:schemeClr>
              </a:solidFill>
            </a:endParaRPr>
          </a:p>
        </p:txBody>
      </p:sp>
      <p:sp>
        <p:nvSpPr>
          <p:cNvPr id="17" name="Shape 15"/>
          <p:cNvSpPr/>
          <p:nvPr/>
        </p:nvSpPr>
        <p:spPr>
          <a:xfrm>
            <a:off x="457200" y="4937760"/>
            <a:ext cx="5577840" cy="786384"/>
          </a:xfrm>
          <a:prstGeom prst="roundRect">
            <a:avLst>
              <a:gd name="adj" fmla="val 8140"/>
            </a:avLst>
          </a:prstGeom>
          <a:solidFill>
            <a:schemeClr val="bg1">
              <a:lumMod val="85000"/>
            </a:schemeClr>
          </a:solidFill>
          <a:ln w="9525">
            <a:solidFill>
              <a:srgbClr val="1D4A70"/>
            </a:solidFill>
            <a:prstDash val="solid"/>
          </a:ln>
        </p:spPr>
      </p:sp>
      <p:sp>
        <p:nvSpPr>
          <p:cNvPr id="18" name="Text 16"/>
          <p:cNvSpPr/>
          <p:nvPr/>
        </p:nvSpPr>
        <p:spPr>
          <a:xfrm>
            <a:off x="594360" y="5010912"/>
            <a:ext cx="5303520" cy="256032"/>
          </a:xfrm>
          <a:prstGeom prst="rect">
            <a:avLst/>
          </a:prstGeom>
          <a:noFill/>
          <a:ln/>
        </p:spPr>
        <p:txBody>
          <a:bodyPr wrap="square" lIns="0" tIns="0" rIns="0" bIns="0" rtlCol="0" anchor="ctr"/>
          <a:lstStyle/>
          <a:p>
            <a:pPr marL="0" indent="0">
              <a:buNone/>
            </a:pPr>
            <a:r>
              <a:rPr lang="en-US" sz="1050" b="1" dirty="0">
                <a:solidFill>
                  <a:srgbClr val="D4782A"/>
                </a:solidFill>
                <a:latin typeface="Calibri" pitchFamily="34" charset="0"/>
                <a:ea typeface="Calibri" pitchFamily="34" charset="-122"/>
                <a:cs typeface="Calibri" pitchFamily="34" charset="-120"/>
              </a:rPr>
              <a:t>Correlation does not equal causation</a:t>
            </a:r>
            <a:endParaRPr lang="en-US" sz="1050" dirty="0"/>
          </a:p>
        </p:txBody>
      </p:sp>
      <p:sp>
        <p:nvSpPr>
          <p:cNvPr id="19" name="Text 17"/>
          <p:cNvSpPr/>
          <p:nvPr/>
        </p:nvSpPr>
        <p:spPr>
          <a:xfrm>
            <a:off x="594360" y="5303520"/>
            <a:ext cx="5303520" cy="347472"/>
          </a:xfrm>
          <a:prstGeom prst="rect">
            <a:avLst/>
          </a:prstGeom>
          <a:noFill/>
          <a:ln/>
        </p:spPr>
        <p:txBody>
          <a:bodyPr wrap="square" lIns="0" tIns="0" rIns="0" bIns="0" rtlCol="0" anchor="ctr"/>
          <a:lstStyle/>
          <a:p>
            <a:pPr marL="0" indent="0">
              <a:buNone/>
            </a:pPr>
            <a:r>
              <a:rPr lang="en-US" sz="1100" dirty="0">
                <a:solidFill>
                  <a:schemeClr val="tx1">
                    <a:lumMod val="95000"/>
                    <a:lumOff val="5000"/>
                  </a:schemeClr>
                </a:solidFill>
                <a:latin typeface="Calibri" pitchFamily="34" charset="0"/>
                <a:ea typeface="Calibri" pitchFamily="34" charset="-122"/>
                <a:cs typeface="Calibri" pitchFamily="34" charset="-120"/>
              </a:rPr>
              <a:t>r = +0.52 and r = −0.24 describe relationships only.</a:t>
            </a:r>
            <a:endParaRPr lang="en-US" sz="1100" dirty="0">
              <a:solidFill>
                <a:schemeClr val="tx1">
                  <a:lumMod val="95000"/>
                  <a:lumOff val="5000"/>
                </a:schemeClr>
              </a:solidFill>
            </a:endParaRPr>
          </a:p>
        </p:txBody>
      </p:sp>
      <p:sp>
        <p:nvSpPr>
          <p:cNvPr id="20" name="Shape 18"/>
          <p:cNvSpPr/>
          <p:nvPr/>
        </p:nvSpPr>
        <p:spPr>
          <a:xfrm>
            <a:off x="457200" y="5815584"/>
            <a:ext cx="5577840" cy="786384"/>
          </a:xfrm>
          <a:prstGeom prst="roundRect">
            <a:avLst>
              <a:gd name="adj" fmla="val 8140"/>
            </a:avLst>
          </a:prstGeom>
          <a:solidFill>
            <a:schemeClr val="bg1">
              <a:lumMod val="85000"/>
            </a:schemeClr>
          </a:solidFill>
          <a:ln w="9525">
            <a:solidFill>
              <a:srgbClr val="1D4A70"/>
            </a:solidFill>
            <a:prstDash val="solid"/>
          </a:ln>
        </p:spPr>
      </p:sp>
      <p:sp>
        <p:nvSpPr>
          <p:cNvPr id="21" name="Text 19"/>
          <p:cNvSpPr/>
          <p:nvPr/>
        </p:nvSpPr>
        <p:spPr>
          <a:xfrm>
            <a:off x="594360" y="5888736"/>
            <a:ext cx="5303520" cy="256032"/>
          </a:xfrm>
          <a:prstGeom prst="rect">
            <a:avLst/>
          </a:prstGeom>
          <a:noFill/>
          <a:ln/>
        </p:spPr>
        <p:txBody>
          <a:bodyPr wrap="square" lIns="0" tIns="0" rIns="0" bIns="0" rtlCol="0" anchor="ctr"/>
          <a:lstStyle/>
          <a:p>
            <a:pPr marL="0" indent="0">
              <a:buNone/>
            </a:pPr>
            <a:r>
              <a:rPr lang="en-US" sz="1050" b="1" dirty="0">
                <a:solidFill>
                  <a:srgbClr val="D4782A"/>
                </a:solidFill>
                <a:latin typeface="Calibri" pitchFamily="34" charset="0"/>
                <a:ea typeface="Calibri" pitchFamily="34" charset="-122"/>
                <a:cs typeface="Calibri" pitchFamily="34" charset="-120"/>
              </a:rPr>
              <a:t>LLC data - formal sector only</a:t>
            </a:r>
            <a:endParaRPr lang="en-US" sz="1050" dirty="0"/>
          </a:p>
        </p:txBody>
      </p:sp>
      <p:sp>
        <p:nvSpPr>
          <p:cNvPr id="22" name="Text 20"/>
          <p:cNvSpPr/>
          <p:nvPr/>
        </p:nvSpPr>
        <p:spPr>
          <a:xfrm>
            <a:off x="594360" y="6181344"/>
            <a:ext cx="5303520" cy="347472"/>
          </a:xfrm>
          <a:prstGeom prst="rect">
            <a:avLst/>
          </a:prstGeom>
          <a:noFill/>
          <a:ln/>
        </p:spPr>
        <p:txBody>
          <a:bodyPr wrap="square" lIns="0" tIns="0" rIns="0" bIns="0" rtlCol="0" anchor="ctr"/>
          <a:lstStyle/>
          <a:p>
            <a:pPr marL="0" indent="0">
              <a:buNone/>
            </a:pPr>
            <a:r>
              <a:rPr lang="en-US" sz="1100" dirty="0">
                <a:solidFill>
                  <a:schemeClr val="tx1">
                    <a:lumMod val="95000"/>
                    <a:lumOff val="5000"/>
                  </a:schemeClr>
                </a:solidFill>
                <a:latin typeface="Calibri" pitchFamily="34" charset="0"/>
                <a:ea typeface="Calibri" pitchFamily="34" charset="-122"/>
                <a:cs typeface="Calibri" pitchFamily="34" charset="-120"/>
              </a:rPr>
              <a:t>Firms dataset counts only registered LLCs. Significantly understates entrepreneurial activity in high-informality economies.</a:t>
            </a:r>
            <a:endParaRPr lang="en-US" sz="1100" dirty="0">
              <a:solidFill>
                <a:schemeClr val="tx1">
                  <a:lumMod val="95000"/>
                  <a:lumOff val="5000"/>
                </a:schemeClr>
              </a:solidFill>
            </a:endParaRPr>
          </a:p>
        </p:txBody>
      </p:sp>
      <p:sp>
        <p:nvSpPr>
          <p:cNvPr id="23" name="Text 21"/>
          <p:cNvSpPr/>
          <p:nvPr/>
        </p:nvSpPr>
        <p:spPr>
          <a:xfrm>
            <a:off x="6172200" y="1024128"/>
            <a:ext cx="5532120" cy="320040"/>
          </a:xfrm>
          <a:prstGeom prst="rect">
            <a:avLst/>
          </a:prstGeom>
          <a:noFill/>
          <a:ln/>
        </p:spPr>
        <p:txBody>
          <a:bodyPr wrap="square" rtlCol="0" anchor="ctr"/>
          <a:lstStyle/>
          <a:p>
            <a:pPr marL="0" indent="0">
              <a:buNone/>
            </a:pPr>
            <a:r>
              <a:rPr lang="en-US" sz="1500" b="1" dirty="0">
                <a:latin typeface="Cambria" pitchFamily="34" charset="0"/>
                <a:ea typeface="Cambria" pitchFamily="34" charset="-122"/>
                <a:cs typeface="Cambria" pitchFamily="34" charset="-120"/>
              </a:rPr>
              <a:t>Conclusion</a:t>
            </a:r>
            <a:endParaRPr lang="en-US" sz="1500" dirty="0"/>
          </a:p>
        </p:txBody>
      </p:sp>
      <p:sp>
        <p:nvSpPr>
          <p:cNvPr id="24" name="Shape 22"/>
          <p:cNvSpPr/>
          <p:nvPr/>
        </p:nvSpPr>
        <p:spPr>
          <a:xfrm>
            <a:off x="6172200" y="1426464"/>
            <a:ext cx="5532120" cy="4389120"/>
          </a:xfrm>
          <a:prstGeom prst="roundRect">
            <a:avLst>
              <a:gd name="adj" fmla="val 2370"/>
            </a:avLst>
          </a:prstGeom>
          <a:solidFill>
            <a:schemeClr val="bg1">
              <a:lumMod val="85000"/>
            </a:schemeClr>
          </a:solidFill>
          <a:ln w="9525">
            <a:solidFill>
              <a:srgbClr val="1D4A70"/>
            </a:solidFill>
            <a:prstDash val="solid"/>
          </a:ln>
        </p:spPr>
      </p:sp>
      <p:sp>
        <p:nvSpPr>
          <p:cNvPr id="25" name="Text 23"/>
          <p:cNvSpPr/>
          <p:nvPr/>
        </p:nvSpPr>
        <p:spPr>
          <a:xfrm>
            <a:off x="6373368" y="1572768"/>
            <a:ext cx="5166360" cy="4078224"/>
          </a:xfrm>
          <a:prstGeom prst="rect">
            <a:avLst/>
          </a:prstGeom>
          <a:noFill/>
          <a:ln/>
        </p:spPr>
        <p:txBody>
          <a:bodyPr wrap="square" lIns="0" tIns="0" rIns="0" bIns="0" rtlCol="0" anchor="ctr"/>
          <a:lstStyle/>
          <a:p>
            <a:pPr marL="0" indent="0">
              <a:spcAft>
                <a:spcPts val="500"/>
              </a:spcAft>
              <a:buNone/>
            </a:pPr>
            <a:r>
              <a:rPr lang="en-US" sz="1400" dirty="0">
                <a:solidFill>
                  <a:schemeClr val="tx1">
                    <a:lumMod val="95000"/>
                    <a:lumOff val="5000"/>
                  </a:schemeClr>
                </a:solidFill>
                <a:ea typeface="Calibri" pitchFamily="34" charset="-122"/>
                <a:cs typeface="Calibri" pitchFamily="34" charset="-120"/>
              </a:rPr>
              <a:t>This analysis of six datasets across 53 African countries confirms that </a:t>
            </a:r>
            <a:r>
              <a:rPr lang="en-US" sz="1400" dirty="0">
                <a:solidFill>
                  <a:schemeClr val="tx1">
                    <a:lumMod val="95000"/>
                    <a:lumOff val="5000"/>
                  </a:schemeClr>
                </a:solidFill>
              </a:rPr>
              <a:t>Africa's unemployment challenge is heterogeneous. </a:t>
            </a:r>
          </a:p>
          <a:p>
            <a:pPr marL="0" indent="0">
              <a:spcAft>
                <a:spcPts val="500"/>
              </a:spcAft>
              <a:buNone/>
            </a:pPr>
            <a:r>
              <a:rPr lang="en-US" sz="1400" dirty="0">
                <a:solidFill>
                  <a:schemeClr val="tx1">
                    <a:lumMod val="95000"/>
                    <a:lumOff val="5000"/>
                  </a:schemeClr>
                </a:solidFill>
              </a:rPr>
              <a:t>Gender disparities are substantial, while socioeconomic factors such as education spending and electricity access show different and relatively limited explanatory relationships with unemployment. </a:t>
            </a:r>
          </a:p>
          <a:p>
            <a:pPr marL="0" indent="0">
              <a:spcAft>
                <a:spcPts val="500"/>
              </a:spcAft>
              <a:buNone/>
            </a:pPr>
            <a:r>
              <a:rPr lang="en-US" sz="1400" dirty="0">
                <a:solidFill>
                  <a:schemeClr val="tx1">
                    <a:lumMod val="95000"/>
                    <a:lumOff val="5000"/>
                  </a:schemeClr>
                </a:solidFill>
              </a:rPr>
              <a:t>This suggests that unemployment policy needs to consider country-specific labor markets, gender barriers, economic structure and the transition from investment to actual job creation.</a:t>
            </a:r>
          </a:p>
        </p:txBody>
      </p:sp>
      <p:sp>
        <p:nvSpPr>
          <p:cNvPr id="26" name="Shape 24"/>
          <p:cNvSpPr/>
          <p:nvPr/>
        </p:nvSpPr>
        <p:spPr>
          <a:xfrm>
            <a:off x="6172200" y="5907024"/>
            <a:ext cx="5532120" cy="786384"/>
          </a:xfrm>
          <a:prstGeom prst="roundRect">
            <a:avLst>
              <a:gd name="adj" fmla="val 7042"/>
            </a:avLst>
          </a:prstGeom>
          <a:solidFill>
            <a:srgbClr val="1A8FBF"/>
          </a:solidFill>
          <a:ln w="12700">
            <a:solidFill>
              <a:srgbClr val="1A8FBF"/>
            </a:solidFill>
            <a:prstDash val="solid"/>
          </a:ln>
        </p:spPr>
      </p:sp>
      <p:sp>
        <p:nvSpPr>
          <p:cNvPr id="29" name="Text 27"/>
          <p:cNvSpPr/>
          <p:nvPr/>
        </p:nvSpPr>
        <p:spPr>
          <a:xfrm>
            <a:off x="6355080" y="6126480"/>
            <a:ext cx="5166360" cy="475488"/>
          </a:xfrm>
          <a:prstGeom prst="rect">
            <a:avLst/>
          </a:prstGeom>
          <a:noFill/>
          <a:ln/>
        </p:spPr>
        <p:txBody>
          <a:bodyPr wrap="square" lIns="0" tIns="0" rIns="0" bIns="0" rtlCol="0" anchor="ctr"/>
          <a:lstStyle/>
          <a:p>
            <a:pPr marL="0" indent="0">
              <a:buNone/>
            </a:pPr>
            <a:r>
              <a:rPr lang="en-US" sz="1400" b="1" i="1" dirty="0">
                <a:solidFill>
                  <a:srgbClr val="CCE8F5"/>
                </a:solidFill>
                <a:latin typeface="Calibri" pitchFamily="34" charset="0"/>
                <a:ea typeface="Calibri" pitchFamily="34" charset="-122"/>
                <a:cs typeface="Calibri" pitchFamily="34" charset="-120"/>
              </a:rPr>
              <a:t>Thank you — ready to discuss findings, methodology and any panel questions.</a:t>
            </a:r>
            <a:endParaRPr lang="en-US" sz="1400" b="1" dirty="0"/>
          </a:p>
        </p:txBody>
      </p:sp>
      <p:sp>
        <p:nvSpPr>
          <p:cNvPr id="30" name="Text 28"/>
          <p:cNvSpPr/>
          <p:nvPr/>
        </p:nvSpPr>
        <p:spPr>
          <a:xfrm>
            <a:off x="11109960" y="6556248"/>
            <a:ext cx="594360" cy="201168"/>
          </a:xfrm>
          <a:prstGeom prst="rect">
            <a:avLst/>
          </a:prstGeom>
          <a:noFill/>
          <a:ln/>
        </p:spPr>
        <p:txBody>
          <a:bodyPr wrap="square" rtlCol="0" anchor="ctr"/>
          <a:lstStyle/>
          <a:p>
            <a:pPr marL="0" indent="0" algn="r">
              <a:buNone/>
            </a:pPr>
            <a:r>
              <a:rPr lang="en-US" sz="800" dirty="0">
                <a:solidFill>
                  <a:srgbClr val="5F7A8A"/>
                </a:solidFill>
                <a:latin typeface="Calibri" pitchFamily="34" charset="0"/>
                <a:ea typeface="Calibri" pitchFamily="34" charset="-122"/>
                <a:cs typeface="Calibri" pitchFamily="34" charset="-120"/>
              </a:rPr>
              <a:t>10 / 10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12882</TotalTime>
  <Words>1818</Words>
  <Application>Microsoft Office PowerPoint</Application>
  <PresentationFormat>Widescreen</PresentationFormat>
  <Paragraphs>324</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Blessing Chiagorom</cp:lastModifiedBy>
  <cp:revision>67</cp:revision>
  <dcterms:created xsi:type="dcterms:W3CDTF">2026-08-21T01:55:59Z</dcterms:created>
  <dcterms:modified xsi:type="dcterms:W3CDTF">2026-08-30T06:33:03Z</dcterms:modified>
</cp:coreProperties>
</file>